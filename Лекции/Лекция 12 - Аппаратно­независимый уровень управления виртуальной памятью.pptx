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8" r:id="rId2"/>
    <p:sldId id="271" r:id="rId3"/>
    <p:sldId id="259"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295" r:id="rId19"/>
  </p:sldIdLst>
  <p:sldSz cx="9144000" cy="5143500" type="screen16x9"/>
  <p:notesSz cx="6858000" cy="9144000"/>
  <p:embeddedFontLst>
    <p:embeddedFont>
      <p:font typeface="Comfortaa Medium"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C47D"/>
    <a:srgbClr val="B6D7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83"/>
    <p:restoredTop sz="94660"/>
  </p:normalViewPr>
  <p:slideViewPr>
    <p:cSldViewPr snapToGrid="0">
      <p:cViewPr varScale="1">
        <p:scale>
          <a:sx n="141" d="100"/>
          <a:sy n="141" d="100"/>
        </p:scale>
        <p:origin x="966"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934f50e132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934f50e132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push dir="u"/>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subTitle" idx="4294967295"/>
          </p:nvPr>
        </p:nvSpPr>
        <p:spPr>
          <a:xfrm>
            <a:off x="4062173" y="2044550"/>
            <a:ext cx="1085560" cy="773157"/>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1200"/>
              </a:spcAft>
              <a:buNone/>
            </a:pPr>
            <a:r>
              <a:rPr lang="ru" sz="2300" dirty="0">
                <a:latin typeface="Comfortaa Medium"/>
                <a:ea typeface="Comfortaa Medium"/>
                <a:cs typeface="Comfortaa Medium"/>
                <a:sym typeface="Comfortaa Medium"/>
              </a:rPr>
              <a:t>Тема </a:t>
            </a:r>
            <a:r>
              <a:rPr lang="en-US" sz="2300" dirty="0">
                <a:latin typeface="Comfortaa Medium"/>
                <a:ea typeface="Comfortaa Medium"/>
                <a:cs typeface="Comfortaa Medium"/>
                <a:sym typeface="Comfortaa Medium"/>
              </a:rPr>
              <a:t>1</a:t>
            </a:r>
            <a:r>
              <a:rPr lang="ru-RU" sz="2300" dirty="0">
                <a:latin typeface="Comfortaa Medium"/>
                <a:ea typeface="Comfortaa Medium"/>
                <a:cs typeface="Comfortaa Medium"/>
                <a:sym typeface="Comfortaa Medium"/>
              </a:rPr>
              <a:t>2</a:t>
            </a:r>
            <a:endParaRPr sz="2300" dirty="0">
              <a:latin typeface="Comfortaa Medium"/>
              <a:ea typeface="Comfortaa Medium"/>
              <a:cs typeface="Comfortaa Medium"/>
              <a:sym typeface="Comfortaa Medium"/>
            </a:endParaRPr>
          </a:p>
        </p:txBody>
      </p:sp>
      <p:sp>
        <p:nvSpPr>
          <p:cNvPr id="112" name="Google Shape;112;p15"/>
          <p:cNvSpPr txBox="1">
            <a:spLocks noGrp="1"/>
          </p:cNvSpPr>
          <p:nvPr>
            <p:ph type="title"/>
          </p:nvPr>
        </p:nvSpPr>
        <p:spPr>
          <a:xfrm>
            <a:off x="973746" y="1413932"/>
            <a:ext cx="7193280" cy="1107439"/>
          </a:xfrm>
          <a:prstGeom prst="rect">
            <a:avLst/>
          </a:prstGeom>
        </p:spPr>
        <p:txBody>
          <a:bodyPr spcFirstLastPara="1" wrap="square" lIns="91425" tIns="91425" rIns="91425" bIns="91425" anchor="t" anchorCtr="0">
            <a:noAutofit/>
          </a:bodyPr>
          <a:lstStyle/>
          <a:p>
            <a:pPr algn="ctr"/>
            <a:r>
              <a:rPr lang="ru-RU" sz="1800" b="1" dirty="0" err="1"/>
              <a:t>Аппаратно­независимый</a:t>
            </a:r>
            <a:r>
              <a:rPr lang="ru-RU" sz="1800" b="1" dirty="0"/>
              <a:t> уровень управления виртуальной памятью</a:t>
            </a:r>
          </a:p>
        </p:txBody>
      </p:sp>
      <p:sp>
        <p:nvSpPr>
          <p:cNvPr id="9" name="Google Shape;55;p13">
            <a:extLst>
              <a:ext uri="{FF2B5EF4-FFF2-40B4-BE49-F238E27FC236}">
                <a16:creationId xmlns:a16="http://schemas.microsoft.com/office/drawing/2014/main" id="{B9E0222C-93BA-6446-AB4F-A93CE3CB7494}"/>
              </a:ext>
            </a:extLst>
          </p:cNvPr>
          <p:cNvSpPr/>
          <p:nvPr/>
        </p:nvSpPr>
        <p:spPr>
          <a:xfrm>
            <a:off x="460375" y="2044575"/>
            <a:ext cx="1033200" cy="3098925"/>
          </a:xfrm>
          <a:prstGeom prst="rect">
            <a:avLst/>
          </a:prstGeom>
          <a:solidFill>
            <a:srgbClr val="93C47D">
              <a:alpha val="58039"/>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54;p13">
            <a:extLst>
              <a:ext uri="{FF2B5EF4-FFF2-40B4-BE49-F238E27FC236}">
                <a16:creationId xmlns:a16="http://schemas.microsoft.com/office/drawing/2014/main" id="{1009C77D-1156-8947-9FEF-DCE7A9010FE0}"/>
              </a:ext>
            </a:extLst>
          </p:cNvPr>
          <p:cNvSpPr/>
          <p:nvPr/>
        </p:nvSpPr>
        <p:spPr>
          <a:xfrm>
            <a:off x="0" y="1676400"/>
            <a:ext cx="920750" cy="3467075"/>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1" name="Google Shape;55;p13">
            <a:extLst>
              <a:ext uri="{FF2B5EF4-FFF2-40B4-BE49-F238E27FC236}">
                <a16:creationId xmlns:a16="http://schemas.microsoft.com/office/drawing/2014/main" id="{73CC8A6D-3B3C-7B47-9A21-9A4280CB9124}"/>
              </a:ext>
            </a:extLst>
          </p:cNvPr>
          <p:cNvSpPr/>
          <p:nvPr/>
        </p:nvSpPr>
        <p:spPr>
          <a:xfrm flipH="1" flipV="1">
            <a:off x="7650426" y="2044550"/>
            <a:ext cx="1033200" cy="3098924"/>
          </a:xfrm>
          <a:prstGeom prst="rect">
            <a:avLst/>
          </a:prstGeom>
          <a:solidFill>
            <a:srgbClr val="93C47D">
              <a:alpha val="58039"/>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 name="Google Shape;54;p13">
            <a:extLst>
              <a:ext uri="{FF2B5EF4-FFF2-40B4-BE49-F238E27FC236}">
                <a16:creationId xmlns:a16="http://schemas.microsoft.com/office/drawing/2014/main" id="{24FD86A3-3FD5-BD4F-A7AC-E0472CBDA64B}"/>
              </a:ext>
            </a:extLst>
          </p:cNvPr>
          <p:cNvSpPr/>
          <p:nvPr/>
        </p:nvSpPr>
        <p:spPr>
          <a:xfrm flipH="1" flipV="1">
            <a:off x="8227850" y="1676399"/>
            <a:ext cx="920750" cy="3467075"/>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3607-1631-82D8-7457-05E5C0FD8007}"/>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771F027-B27D-C065-FCF6-F234572F096E}"/>
              </a:ext>
            </a:extLst>
          </p:cNvPr>
          <p:cNvSpPr/>
          <p:nvPr/>
        </p:nvSpPr>
        <p:spPr>
          <a:xfrm>
            <a:off x="0" y="347705"/>
            <a:ext cx="9144000" cy="805341"/>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AutoShape 2">
            <a:extLst>
              <a:ext uri="{FF2B5EF4-FFF2-40B4-BE49-F238E27FC236}">
                <a16:creationId xmlns:a16="http://schemas.microsoft.com/office/drawing/2014/main" id="{A65677A4-6169-0E64-0FB8-6DD395CB640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8" name="Рисунок 17">
            <a:extLst>
              <a:ext uri="{FF2B5EF4-FFF2-40B4-BE49-F238E27FC236}">
                <a16:creationId xmlns:a16="http://schemas.microsoft.com/office/drawing/2014/main" id="{51B45124-FCC0-6C58-34A9-CB732EDD508F}"/>
              </a:ext>
            </a:extLst>
          </p:cNvPr>
          <p:cNvPicPr>
            <a:picLocks noChangeAspect="1"/>
          </p:cNvPicPr>
          <p:nvPr/>
        </p:nvPicPr>
        <p:blipFill>
          <a:blip r:embed="rId2"/>
          <a:stretch>
            <a:fillRect/>
          </a:stretch>
        </p:blipFill>
        <p:spPr>
          <a:xfrm>
            <a:off x="2435225" y="3252441"/>
            <a:ext cx="82792" cy="109883"/>
          </a:xfrm>
          <a:prstGeom prst="rect">
            <a:avLst/>
          </a:prstGeom>
        </p:spPr>
      </p:pic>
      <p:sp>
        <p:nvSpPr>
          <p:cNvPr id="4" name="TextBox 3">
            <a:extLst>
              <a:ext uri="{FF2B5EF4-FFF2-40B4-BE49-F238E27FC236}">
                <a16:creationId xmlns:a16="http://schemas.microsoft.com/office/drawing/2014/main" id="{FC52B522-AA3C-E5B6-D8F7-DA39C1A1729C}"/>
              </a:ext>
            </a:extLst>
          </p:cNvPr>
          <p:cNvSpPr txBox="1"/>
          <p:nvPr/>
        </p:nvSpPr>
        <p:spPr>
          <a:xfrm>
            <a:off x="616373" y="1503710"/>
            <a:ext cx="5542252" cy="2893100"/>
          </a:xfrm>
          <a:prstGeom prst="rect">
            <a:avLst/>
          </a:prstGeom>
          <a:noFill/>
        </p:spPr>
        <p:txBody>
          <a:bodyPr wrap="square">
            <a:spAutoFit/>
          </a:bodyPr>
          <a:lstStyle/>
          <a:p>
            <a:r>
              <a:rPr lang="ru-RU" b="1" dirty="0"/>
              <a:t>Содержание:</a:t>
            </a:r>
          </a:p>
          <a:p>
            <a:endParaRPr lang="ru-RU" b="1" dirty="0"/>
          </a:p>
          <a:p>
            <a:pPr marL="285750" indent="-285750">
              <a:buFont typeface="Arial" panose="020B0604020202020204" pitchFamily="34" charset="0"/>
              <a:buChar char="•"/>
            </a:pPr>
            <a:r>
              <a:rPr lang="ru-RU" dirty="0"/>
              <a:t>Исключительные ситуации при работе с памятью</a:t>
            </a:r>
          </a:p>
          <a:p>
            <a:pPr marL="285750" indent="-285750">
              <a:buFont typeface="Arial" panose="020B0604020202020204" pitchFamily="34" charset="0"/>
              <a:buChar char="•"/>
            </a:pPr>
            <a:r>
              <a:rPr lang="ru-RU" dirty="0"/>
              <a:t>Стратегии управления страничной памятью</a:t>
            </a:r>
          </a:p>
          <a:p>
            <a:pPr marL="285750" indent="-285750">
              <a:buFont typeface="Arial" panose="020B0604020202020204" pitchFamily="34" charset="0"/>
              <a:buChar char="•"/>
            </a:pPr>
            <a:r>
              <a:rPr lang="ru-RU" dirty="0"/>
              <a:t>Алгоритмы замещения страниц</a:t>
            </a:r>
          </a:p>
          <a:p>
            <a:pPr marL="285750" indent="-285750">
              <a:buFont typeface="Arial" panose="020B0604020202020204" pitchFamily="34" charset="0"/>
              <a:buChar char="•"/>
            </a:pPr>
            <a:r>
              <a:rPr lang="ru-RU" dirty="0"/>
              <a:t>Управление количеством страниц, выделенным процессу. Модель рабочего множества</a:t>
            </a:r>
          </a:p>
          <a:p>
            <a:pPr marL="285750" indent="-285750">
              <a:buFont typeface="Arial" panose="020B0604020202020204" pitchFamily="34" charset="0"/>
              <a:buChar char="•"/>
            </a:pPr>
            <a:r>
              <a:rPr lang="ru-RU" dirty="0"/>
              <a:t>Страничные демоны</a:t>
            </a:r>
          </a:p>
          <a:p>
            <a:pPr marL="285750" indent="-285750">
              <a:buFont typeface="Arial" panose="020B0604020202020204" pitchFamily="34" charset="0"/>
              <a:buChar char="•"/>
            </a:pPr>
            <a:r>
              <a:rPr lang="ru-RU" dirty="0"/>
              <a:t>Программная поддержка сегментной модели памяти процесса</a:t>
            </a:r>
          </a:p>
          <a:p>
            <a:pPr marL="285750" indent="-285750">
              <a:buFont typeface="Arial" panose="020B0604020202020204" pitchFamily="34" charset="0"/>
              <a:buChar char="•"/>
            </a:pPr>
            <a:r>
              <a:rPr lang="ru-RU" dirty="0"/>
              <a:t>Отдельные аспекты функционирования менеджера памяти</a:t>
            </a:r>
          </a:p>
          <a:p>
            <a:pPr marL="285750" indent="-285750">
              <a:buFont typeface="Arial" panose="020B0604020202020204" pitchFamily="34" charset="0"/>
              <a:buChar char="•"/>
            </a:pPr>
            <a:r>
              <a:rPr lang="ru-RU" dirty="0"/>
              <a:t>Заключение</a:t>
            </a:r>
          </a:p>
          <a:p>
            <a:pPr marL="285750" indent="-285750">
              <a:buFont typeface="Arial" panose="020B0604020202020204" pitchFamily="34" charset="0"/>
              <a:buChar char="•"/>
            </a:pPr>
            <a:endParaRPr lang="ru-RU" dirty="0"/>
          </a:p>
        </p:txBody>
      </p:sp>
    </p:spTree>
    <p:extLst>
      <p:ext uri="{BB962C8B-B14F-4D97-AF65-F5344CB8AC3E}">
        <p14:creationId xmlns:p14="http://schemas.microsoft.com/office/powerpoint/2010/main" val="61341854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4;p13">
            <a:extLst>
              <a:ext uri="{FF2B5EF4-FFF2-40B4-BE49-F238E27FC236}">
                <a16:creationId xmlns:a16="http://schemas.microsoft.com/office/drawing/2014/main" id="{C31F715F-EBDD-0A4D-AE11-8C32CE4B05E5}"/>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0B84F3BE-F384-9139-F6EA-CC973B530D38}"/>
              </a:ext>
            </a:extLst>
          </p:cNvPr>
          <p:cNvSpPr txBox="1"/>
          <p:nvPr/>
        </p:nvSpPr>
        <p:spPr>
          <a:xfrm>
            <a:off x="392852" y="1387777"/>
            <a:ext cx="6353388" cy="3416320"/>
          </a:xfrm>
          <a:prstGeom prst="rect">
            <a:avLst/>
          </a:prstGeom>
          <a:noFill/>
        </p:spPr>
        <p:txBody>
          <a:bodyPr wrap="square">
            <a:spAutoFit/>
          </a:bodyPr>
          <a:lstStyle/>
          <a:p>
            <a:pPr>
              <a:buNone/>
            </a:pPr>
            <a:r>
              <a:rPr lang="ru-RU" sz="1200" b="1" dirty="0"/>
              <a:t>Исключительные ситуации при работе с памятью</a:t>
            </a:r>
          </a:p>
          <a:p>
            <a:pPr>
              <a:buNone/>
            </a:pPr>
            <a:endParaRPr lang="en-US" sz="1200" b="1" dirty="0"/>
          </a:p>
          <a:p>
            <a:pPr>
              <a:buNone/>
            </a:pPr>
            <a:r>
              <a:rPr lang="ru-RU" sz="1200" dirty="0"/>
              <a:t>Из материала предыдущей лекции следует, что отображение виртуального адреса в физический осуществляется при помощи таблицы страниц. Для каждой виртуальной страницы запись в таблице страниц содержит номер соответствующего страничного кадра в оперативной памяти, а также атрибуты страницы для контроля обращений к памяти. </a:t>
            </a:r>
          </a:p>
          <a:p>
            <a:pPr>
              <a:buNone/>
            </a:pPr>
            <a:endParaRPr lang="ru-RU" sz="1200" dirty="0"/>
          </a:p>
          <a:p>
            <a:pPr>
              <a:buNone/>
            </a:pPr>
            <a:r>
              <a:rPr lang="ru-RU" sz="1200" dirty="0"/>
              <a:t>Повышение производительности вычислительной системы может быть достигнуто за счет уменьшения частоты страничных нарушений, а также за счет увеличения скорости их обработки. Время эффективного доступа к отсутствующей в оперативной памяти странице складывается из: </a:t>
            </a:r>
          </a:p>
          <a:p>
            <a:pPr>
              <a:buNone/>
            </a:pPr>
            <a:endParaRPr lang="ru-RU" sz="1200" dirty="0"/>
          </a:p>
          <a:p>
            <a:pPr marL="171450" indent="-171450">
              <a:buFont typeface="Arial" panose="020B0604020202020204" pitchFamily="34" charset="0"/>
              <a:buChar char="•"/>
            </a:pPr>
            <a:r>
              <a:rPr lang="ru-RU" sz="1200" dirty="0"/>
              <a:t>обслуживания исключительной ситуации (</a:t>
            </a:r>
            <a:r>
              <a:rPr lang="ru-RU" sz="1200" dirty="0" err="1"/>
              <a:t>page</a:t>
            </a:r>
            <a:r>
              <a:rPr lang="ru-RU" sz="1200" dirty="0"/>
              <a:t> </a:t>
            </a:r>
            <a:r>
              <a:rPr lang="ru-RU" sz="1200" dirty="0" err="1"/>
              <a:t>fault</a:t>
            </a:r>
            <a:r>
              <a:rPr lang="ru-RU" sz="1200" dirty="0"/>
              <a:t>); </a:t>
            </a:r>
          </a:p>
          <a:p>
            <a:pPr marL="171450" indent="-171450">
              <a:buFont typeface="Arial" panose="020B0604020202020204" pitchFamily="34" charset="0"/>
              <a:buChar char="•"/>
            </a:pPr>
            <a:r>
              <a:rPr lang="ru-RU" sz="1200" dirty="0"/>
              <a:t>чтения (подкачки) страницы из вторичной памяти (иногда, при недостатке места в основной памяти, необходимо вытолкнуть одну из страниц из основной памяти во вторичную, то есть осуществить замещение страницы); </a:t>
            </a:r>
          </a:p>
          <a:p>
            <a:pPr marL="171450" indent="-171450">
              <a:buFont typeface="Arial" panose="020B0604020202020204" pitchFamily="34" charset="0"/>
              <a:buChar char="•"/>
            </a:pPr>
            <a:r>
              <a:rPr lang="ru-RU" sz="1200" dirty="0"/>
              <a:t>возобновления выполнения процесса, вызвавшего данный </a:t>
            </a:r>
            <a:r>
              <a:rPr lang="ru-RU" sz="1200" dirty="0" err="1"/>
              <a:t>page</a:t>
            </a:r>
            <a:r>
              <a:rPr lang="ru-RU" sz="1200" dirty="0"/>
              <a:t> </a:t>
            </a:r>
            <a:r>
              <a:rPr lang="ru-RU" sz="1200" dirty="0" err="1"/>
              <a:t>fault</a:t>
            </a:r>
            <a:r>
              <a:rPr lang="ru-RU" sz="1200" dirty="0"/>
              <a:t>. </a:t>
            </a:r>
          </a:p>
        </p:txBody>
      </p:sp>
    </p:spTree>
    <p:extLst>
      <p:ext uri="{BB962C8B-B14F-4D97-AF65-F5344CB8AC3E}">
        <p14:creationId xmlns:p14="http://schemas.microsoft.com/office/powerpoint/2010/main" val="408625501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3214-4AE0-7123-B6E1-7F9B7BAC6586}"/>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D4985B1-530D-B05C-3706-D3F1564055D9}"/>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9B789C93-0CDD-4D23-14C2-1F8B7F0FCA34}"/>
              </a:ext>
            </a:extLst>
          </p:cNvPr>
          <p:cNvSpPr txBox="1"/>
          <p:nvPr/>
        </p:nvSpPr>
        <p:spPr>
          <a:xfrm>
            <a:off x="392852" y="1387777"/>
            <a:ext cx="6353388" cy="3231654"/>
          </a:xfrm>
          <a:prstGeom prst="rect">
            <a:avLst/>
          </a:prstGeom>
          <a:noFill/>
        </p:spPr>
        <p:txBody>
          <a:bodyPr wrap="square">
            <a:spAutoFit/>
          </a:bodyPr>
          <a:lstStyle/>
          <a:p>
            <a:pPr>
              <a:buNone/>
            </a:pPr>
            <a:r>
              <a:rPr lang="ru-RU" sz="1200" b="1" dirty="0"/>
              <a:t>Стратегии управления страничной памятью </a:t>
            </a:r>
          </a:p>
          <a:p>
            <a:pPr>
              <a:buNone/>
            </a:pPr>
            <a:endParaRPr lang="en-US" sz="1200" b="1" dirty="0"/>
          </a:p>
          <a:p>
            <a:pPr>
              <a:buNone/>
            </a:pPr>
            <a:r>
              <a:rPr lang="ru-RU" sz="1200" dirty="0"/>
              <a:t>Стратегия выборки (</a:t>
            </a:r>
            <a:r>
              <a:rPr lang="ru-RU" sz="1200" dirty="0" err="1"/>
              <a:t>fetch</a:t>
            </a:r>
            <a:r>
              <a:rPr lang="ru-RU" sz="1200" dirty="0"/>
              <a:t> </a:t>
            </a:r>
            <a:r>
              <a:rPr lang="ru-RU" sz="1200" dirty="0" err="1"/>
              <a:t>policy</a:t>
            </a:r>
            <a:r>
              <a:rPr lang="ru-RU" sz="1200" dirty="0"/>
              <a:t>) - в какой момент следует переписать страницу из вторичной памяти в первичную. Существует два основных варианта выборки - по запросу и с упреждением. Алгоритм выборки по запросу вступает в действие в тот момент, когда процесс обращается к отсутствующей странице, содержимое которой находится на диске. Его реализация заключается в загрузке страницы с диска в свободную физическую страницу и коррекции соответствующей записи таблицы страниц. </a:t>
            </a:r>
          </a:p>
          <a:p>
            <a:pPr>
              <a:buNone/>
            </a:pPr>
            <a:endParaRPr lang="ru-RU" sz="1200" dirty="0"/>
          </a:p>
          <a:p>
            <a:pPr>
              <a:buNone/>
            </a:pPr>
            <a:r>
              <a:rPr lang="ru-RU" sz="1200" dirty="0"/>
              <a:t>Алгоритм выборки с упреждением осуществляет опережающее чтение, то есть кроме страницы, вызвавшей исключительную ситуацию, в память также загружается несколько страниц, окружающих ее (обычно соседние страницы располагаются во внешней памяти последовательно и могут быть считаны за одно обращение к диску). Такой алгоритм призван уменьшить накладные расходы, связанные с большим количеством исключительных ситуаций, возникающих при работе со значительными объемами данных или кода; кроме того, оптимизируется работа с диском. </a:t>
            </a:r>
          </a:p>
        </p:txBody>
      </p:sp>
    </p:spTree>
    <p:extLst>
      <p:ext uri="{BB962C8B-B14F-4D97-AF65-F5344CB8AC3E}">
        <p14:creationId xmlns:p14="http://schemas.microsoft.com/office/powerpoint/2010/main" val="384566743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81FE-1F6C-6CEE-9001-CACA4D5E5BDA}"/>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90C57B56-9412-8D6F-1AA0-597DB0E92B60}"/>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97499694-C8B2-3A9E-C563-2264C5AD1307}"/>
              </a:ext>
            </a:extLst>
          </p:cNvPr>
          <p:cNvSpPr txBox="1"/>
          <p:nvPr/>
        </p:nvSpPr>
        <p:spPr>
          <a:xfrm>
            <a:off x="392852" y="1387777"/>
            <a:ext cx="6353388" cy="3046988"/>
          </a:xfrm>
          <a:prstGeom prst="rect">
            <a:avLst/>
          </a:prstGeom>
          <a:noFill/>
        </p:spPr>
        <p:txBody>
          <a:bodyPr wrap="square">
            <a:spAutoFit/>
          </a:bodyPr>
          <a:lstStyle/>
          <a:p>
            <a:pPr>
              <a:buNone/>
            </a:pPr>
            <a:r>
              <a:rPr lang="ru-RU" sz="1200" b="1" dirty="0"/>
              <a:t>Стратегии управления страничной памятью </a:t>
            </a:r>
          </a:p>
          <a:p>
            <a:pPr>
              <a:buNone/>
            </a:pPr>
            <a:endParaRPr lang="en-US" sz="1200" b="1" dirty="0"/>
          </a:p>
          <a:p>
            <a:pPr>
              <a:buNone/>
            </a:pPr>
            <a:r>
              <a:rPr lang="ru-RU" sz="1200" dirty="0"/>
              <a:t>Стратегия размещения (</a:t>
            </a:r>
            <a:r>
              <a:rPr lang="ru-RU" sz="1200" dirty="0" err="1"/>
              <a:t>placement</a:t>
            </a:r>
            <a:r>
              <a:rPr lang="ru-RU" sz="1200" dirty="0"/>
              <a:t> </a:t>
            </a:r>
            <a:r>
              <a:rPr lang="ru-RU" sz="1200" dirty="0" err="1"/>
              <a:t>policy</a:t>
            </a:r>
            <a:r>
              <a:rPr lang="ru-RU" sz="1200" dirty="0"/>
              <a:t>) - в какой участок первичной памяти поместить поступающую страницу. В системах со страничной организацией все просто - в любой свободный страничный кадр. В случае систем с сегментной организацией необходима стратегия, аналогичная стратегии с динамическим распределением. </a:t>
            </a:r>
          </a:p>
          <a:p>
            <a:pPr>
              <a:buNone/>
            </a:pPr>
            <a:endParaRPr lang="ru-RU" sz="1200" dirty="0"/>
          </a:p>
          <a:p>
            <a:pPr>
              <a:buNone/>
            </a:pPr>
            <a:r>
              <a:rPr lang="ru-RU" sz="1200" dirty="0"/>
              <a:t>Стратегия замещения (</a:t>
            </a:r>
            <a:r>
              <a:rPr lang="ru-RU" sz="1200" dirty="0" err="1"/>
              <a:t>replacement</a:t>
            </a:r>
            <a:r>
              <a:rPr lang="ru-RU" sz="1200" dirty="0"/>
              <a:t> </a:t>
            </a:r>
            <a:r>
              <a:rPr lang="ru-RU" sz="1200" dirty="0" err="1"/>
              <a:t>policy</a:t>
            </a:r>
            <a:r>
              <a:rPr lang="ru-RU" sz="1200" dirty="0"/>
              <a:t>) - какую страницу нужно вытолкнуть во внешнюю память, чтобы освободить место в оперативной памяти. Разумная стратегия замещения, реализованная в соответствующем алгоритме замещения страниц, позволяет хранить в памяти самую необходимую информацию и тем самым снизить частоту страничных нарушений. Замещение должно происходить с учетом выделенного каждому процессу количества кадров. Кроме того, нужно решить, должна ли замещаемая страница принадлежать процессу, который инициировал замещение, или она должна быть выбрана среди всех кадров основной памяти. </a:t>
            </a:r>
          </a:p>
        </p:txBody>
      </p:sp>
    </p:spTree>
    <p:extLst>
      <p:ext uri="{BB962C8B-B14F-4D97-AF65-F5344CB8AC3E}">
        <p14:creationId xmlns:p14="http://schemas.microsoft.com/office/powerpoint/2010/main" val="48058619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AC30-12CE-EFA4-B926-53D4395974D7}"/>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E99A2935-F2EA-7E78-EFEB-6CE0CF208D1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0E24E0AA-F06E-ED9D-8A17-1B261C4ACBA9}"/>
              </a:ext>
            </a:extLst>
          </p:cNvPr>
          <p:cNvSpPr txBox="1"/>
          <p:nvPr/>
        </p:nvSpPr>
        <p:spPr>
          <a:xfrm>
            <a:off x="392852" y="1387777"/>
            <a:ext cx="6353388" cy="3416320"/>
          </a:xfrm>
          <a:prstGeom prst="rect">
            <a:avLst/>
          </a:prstGeom>
          <a:noFill/>
        </p:spPr>
        <p:txBody>
          <a:bodyPr wrap="square">
            <a:spAutoFit/>
          </a:bodyPr>
          <a:lstStyle/>
          <a:p>
            <a:pPr>
              <a:buNone/>
            </a:pPr>
            <a:r>
              <a:rPr lang="ru-RU" sz="1200" b="1" dirty="0"/>
              <a:t>Алгоритмы замещения страниц</a:t>
            </a:r>
          </a:p>
          <a:p>
            <a:pPr>
              <a:buNone/>
            </a:pPr>
            <a:endParaRPr lang="en-US" sz="1200" b="1" dirty="0"/>
          </a:p>
          <a:p>
            <a:pPr>
              <a:buNone/>
            </a:pPr>
            <a:r>
              <a:rPr lang="ru-RU" sz="1200" dirty="0"/>
              <a:t>Наиболее ответственным действием менеджера памяти является выделение кадра оперативной памяти для размещения в ней виртуальной страницы, находящейся во внешней памяти. Напомним, что мы рассматриваем ситуацию, когда размер виртуальной памяти для каждого процесса может существенно превосходить размер основной памяти. Это означает, что при выделении страницы основной памяти с большой вероятностью не удастся найти свободный страничный кадр. В этом случае операционная система в соответствии с заложенными в нее критериями должна: </a:t>
            </a:r>
          </a:p>
          <a:p>
            <a:pPr>
              <a:buNone/>
            </a:pPr>
            <a:endParaRPr lang="ru-RU" sz="1200" dirty="0"/>
          </a:p>
          <a:p>
            <a:pPr marL="171450" indent="-171450">
              <a:buFont typeface="Arial" panose="020B0604020202020204" pitchFamily="34" charset="0"/>
              <a:buChar char="•"/>
            </a:pPr>
            <a:r>
              <a:rPr lang="ru-RU" sz="1200" dirty="0"/>
              <a:t>найти некоторую занятую страницу основной памяти; </a:t>
            </a:r>
          </a:p>
          <a:p>
            <a:pPr marL="171450" indent="-171450">
              <a:buFont typeface="Arial" panose="020B0604020202020204" pitchFamily="34" charset="0"/>
              <a:buChar char="•"/>
            </a:pPr>
            <a:r>
              <a:rPr lang="ru-RU" sz="1200" dirty="0"/>
              <a:t>переместить в случае надобности ее содержимое во внешнюю память; </a:t>
            </a:r>
          </a:p>
          <a:p>
            <a:pPr marL="171450" indent="-171450">
              <a:buFont typeface="Arial" panose="020B0604020202020204" pitchFamily="34" charset="0"/>
              <a:buChar char="•"/>
            </a:pPr>
            <a:r>
              <a:rPr lang="ru-RU" sz="1200" dirty="0"/>
              <a:t>переписать в этот страничный кадр содержимое нужной виртуальной страницы из внешней памяти; </a:t>
            </a:r>
          </a:p>
          <a:p>
            <a:pPr marL="171450" indent="-171450">
              <a:buFont typeface="Arial" panose="020B0604020202020204" pitchFamily="34" charset="0"/>
              <a:buChar char="•"/>
            </a:pPr>
            <a:r>
              <a:rPr lang="ru-RU" sz="1200" dirty="0"/>
              <a:t>должным образом модифицировать необходимый элемент соответствующей таблицы страниц;</a:t>
            </a:r>
          </a:p>
          <a:p>
            <a:pPr marL="171450" indent="-171450">
              <a:buFont typeface="Arial" panose="020B0604020202020204" pitchFamily="34" charset="0"/>
              <a:buChar char="•"/>
            </a:pPr>
            <a:r>
              <a:rPr lang="ru-RU" sz="1200" dirty="0"/>
              <a:t>продолжить выполнение процесса, которому эта виртуальная страница понадобилась. </a:t>
            </a:r>
          </a:p>
        </p:txBody>
      </p:sp>
    </p:spTree>
    <p:extLst>
      <p:ext uri="{BB962C8B-B14F-4D97-AF65-F5344CB8AC3E}">
        <p14:creationId xmlns:p14="http://schemas.microsoft.com/office/powerpoint/2010/main" val="306074690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CF4C-5CB5-2B51-C411-89BF197B15BA}"/>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50BD7AF9-7EB2-2BFA-93E7-6938DE245676}"/>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40129931-0FA6-898D-4CF7-849E86EDD0D6}"/>
              </a:ext>
            </a:extLst>
          </p:cNvPr>
          <p:cNvSpPr txBox="1"/>
          <p:nvPr/>
        </p:nvSpPr>
        <p:spPr>
          <a:xfrm>
            <a:off x="392852" y="1387777"/>
            <a:ext cx="6353388" cy="1938992"/>
          </a:xfrm>
          <a:prstGeom prst="rect">
            <a:avLst/>
          </a:prstGeom>
          <a:noFill/>
        </p:spPr>
        <p:txBody>
          <a:bodyPr wrap="square">
            <a:spAutoFit/>
          </a:bodyPr>
          <a:lstStyle/>
          <a:p>
            <a:pPr>
              <a:buNone/>
            </a:pPr>
            <a:r>
              <a:rPr lang="ru-RU" sz="1200" b="1" dirty="0"/>
              <a:t>Алгоритм FIFO. Выталкивание первой пришедшей страницы</a:t>
            </a:r>
          </a:p>
          <a:p>
            <a:pPr>
              <a:buNone/>
            </a:pPr>
            <a:endParaRPr lang="en-US" sz="1200" b="1" dirty="0"/>
          </a:p>
          <a:p>
            <a:pPr>
              <a:buNone/>
            </a:pPr>
            <a:r>
              <a:rPr lang="ru-RU" sz="1200" dirty="0"/>
              <a:t>Каждой странице присваивается временная метка. Реализуется это просто созданием очереди страниц, в конец которой страницы попадают, когда загружаются в физическую память, а из начала берутся, когда требуется освободить память. Для замещения выбирается старейшая страница. К сожалению, эта стратегия с достаточной вероятностью будет приводить к замещению активно используемых страниц, например страниц кода текстового процессора при редактировании файла. Заметим, что при замещении активных страниц все работает корректно, но </a:t>
            </a:r>
            <a:r>
              <a:rPr lang="ru-RU" sz="1200" dirty="0" err="1"/>
              <a:t>page</a:t>
            </a:r>
            <a:r>
              <a:rPr lang="ru-RU" sz="1200" dirty="0"/>
              <a:t> </a:t>
            </a:r>
            <a:r>
              <a:rPr lang="ru-RU" sz="1200" dirty="0" err="1"/>
              <a:t>fault</a:t>
            </a:r>
            <a:r>
              <a:rPr lang="ru-RU" sz="1200" dirty="0"/>
              <a:t> происходит немедленно. </a:t>
            </a:r>
          </a:p>
        </p:txBody>
      </p:sp>
    </p:spTree>
    <p:extLst>
      <p:ext uri="{BB962C8B-B14F-4D97-AF65-F5344CB8AC3E}">
        <p14:creationId xmlns:p14="http://schemas.microsoft.com/office/powerpoint/2010/main" val="347755206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872CF-D0A9-A408-D7FF-ED0412A41A6B}"/>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58FA11C0-52AF-8FBA-13FE-D3091B020D4F}"/>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1FAB2F5B-B499-3D82-D697-A8689A56A17F}"/>
              </a:ext>
            </a:extLst>
          </p:cNvPr>
          <p:cNvSpPr txBox="1"/>
          <p:nvPr/>
        </p:nvSpPr>
        <p:spPr>
          <a:xfrm>
            <a:off x="392852" y="1387777"/>
            <a:ext cx="3705015" cy="3231654"/>
          </a:xfrm>
          <a:prstGeom prst="rect">
            <a:avLst/>
          </a:prstGeom>
          <a:noFill/>
        </p:spPr>
        <p:txBody>
          <a:bodyPr wrap="square">
            <a:spAutoFit/>
          </a:bodyPr>
          <a:lstStyle/>
          <a:p>
            <a:pPr>
              <a:buNone/>
            </a:pPr>
            <a:r>
              <a:rPr lang="ru-RU" sz="1200" b="1" dirty="0"/>
              <a:t>Аномалия </a:t>
            </a:r>
            <a:r>
              <a:rPr lang="ru-RU" sz="1200" b="1" dirty="0" err="1"/>
              <a:t>Билэди</a:t>
            </a:r>
            <a:r>
              <a:rPr lang="ru-RU" sz="1200" b="1" dirty="0"/>
              <a:t> (</a:t>
            </a:r>
            <a:r>
              <a:rPr lang="en-US" sz="1200" b="1" dirty="0" err="1"/>
              <a:t>Belady</a:t>
            </a:r>
            <a:r>
              <a:rPr lang="en-US" sz="1200" b="1" dirty="0"/>
              <a:t>)</a:t>
            </a:r>
            <a:endParaRPr lang="ru-RU" sz="1200" b="1" dirty="0"/>
          </a:p>
          <a:p>
            <a:pPr>
              <a:buNone/>
            </a:pPr>
            <a:endParaRPr lang="ru-RU" sz="1200" b="1" dirty="0"/>
          </a:p>
          <a:p>
            <a:pPr>
              <a:buNone/>
            </a:pPr>
            <a:r>
              <a:rPr lang="ru-RU" sz="1200" dirty="0"/>
              <a:t>На первый взгляд кажется очевидным, что чем больше в памяти страничных кадров, тем реже будут иметь место </a:t>
            </a:r>
            <a:r>
              <a:rPr lang="ru-RU" sz="1200" dirty="0" err="1"/>
              <a:t>page</a:t>
            </a:r>
            <a:r>
              <a:rPr lang="ru-RU" sz="1200" dirty="0"/>
              <a:t> </a:t>
            </a:r>
            <a:r>
              <a:rPr lang="ru-RU" sz="1200" dirty="0" err="1"/>
              <a:t>faults</a:t>
            </a:r>
            <a:r>
              <a:rPr lang="ru-RU" sz="1200" dirty="0"/>
              <a:t>. Удивительно, но это не всегда так. Как установил </a:t>
            </a:r>
            <a:r>
              <a:rPr lang="ru-RU" sz="1200" dirty="0" err="1"/>
              <a:t>Билэди</a:t>
            </a:r>
            <a:r>
              <a:rPr lang="ru-RU" sz="1200" dirty="0"/>
              <a:t> с коллегами, определенные последовательности обращений к страницам в действительности приводят к увеличению числа страничных нарушений при увеличении кадров, выделенных процессу. Это явление носит название "аномалии </a:t>
            </a:r>
            <a:r>
              <a:rPr lang="ru-RU" sz="1200" dirty="0" err="1"/>
              <a:t>Билэди</a:t>
            </a:r>
            <a:r>
              <a:rPr lang="ru-RU" sz="1200" dirty="0"/>
              <a:t>" или "аномалии FIFO". </a:t>
            </a:r>
          </a:p>
          <a:p>
            <a:pPr>
              <a:buNone/>
            </a:pPr>
            <a:r>
              <a:rPr lang="ru-RU" sz="1200" dirty="0"/>
              <a:t>Система с тремя кадрами (9 </a:t>
            </a:r>
            <a:r>
              <a:rPr lang="ru-RU" sz="1200" dirty="0" err="1"/>
              <a:t>faults</a:t>
            </a:r>
            <a:r>
              <a:rPr lang="ru-RU" sz="1200" dirty="0"/>
              <a:t>) оказывается более производительной, чем с четырьмя кадрами (10 </a:t>
            </a:r>
            <a:r>
              <a:rPr lang="ru-RU" sz="1200" dirty="0" err="1"/>
              <a:t>faults</a:t>
            </a:r>
            <a:r>
              <a:rPr lang="ru-RU" sz="1200" dirty="0"/>
              <a:t>), для строки обращений к памяти 012301401234 при выборе стратегии FIFO. </a:t>
            </a:r>
          </a:p>
        </p:txBody>
      </p:sp>
      <p:pic>
        <p:nvPicPr>
          <p:cNvPr id="4" name="Рисунок 3">
            <a:extLst>
              <a:ext uri="{FF2B5EF4-FFF2-40B4-BE49-F238E27FC236}">
                <a16:creationId xmlns:a16="http://schemas.microsoft.com/office/drawing/2014/main" id="{3EBE392E-CC58-EE62-BAC2-C9E38D138084}"/>
              </a:ext>
            </a:extLst>
          </p:cNvPr>
          <p:cNvPicPr>
            <a:picLocks noChangeAspect="1"/>
          </p:cNvPicPr>
          <p:nvPr/>
        </p:nvPicPr>
        <p:blipFill>
          <a:blip r:embed="rId2"/>
          <a:stretch>
            <a:fillRect/>
          </a:stretch>
        </p:blipFill>
        <p:spPr>
          <a:xfrm>
            <a:off x="4742042" y="1671909"/>
            <a:ext cx="3803013" cy="2805265"/>
          </a:xfrm>
          <a:prstGeom prst="rect">
            <a:avLst/>
          </a:prstGeom>
        </p:spPr>
      </p:pic>
      <p:sp>
        <p:nvSpPr>
          <p:cNvPr id="7" name="TextBox 6">
            <a:extLst>
              <a:ext uri="{FF2B5EF4-FFF2-40B4-BE49-F238E27FC236}">
                <a16:creationId xmlns:a16="http://schemas.microsoft.com/office/drawing/2014/main" id="{3A4D627A-A5D0-AB4C-0B62-846DFB6F62E7}"/>
              </a:ext>
            </a:extLst>
          </p:cNvPr>
          <p:cNvSpPr txBox="1"/>
          <p:nvPr/>
        </p:nvSpPr>
        <p:spPr>
          <a:xfrm>
            <a:off x="4401959" y="4477174"/>
            <a:ext cx="4632960" cy="400110"/>
          </a:xfrm>
          <a:prstGeom prst="rect">
            <a:avLst/>
          </a:prstGeom>
          <a:noFill/>
        </p:spPr>
        <p:txBody>
          <a:bodyPr wrap="square">
            <a:spAutoFit/>
          </a:bodyPr>
          <a:lstStyle/>
          <a:p>
            <a:r>
              <a:rPr lang="ru-RU" sz="1000" b="1" dirty="0"/>
              <a:t>Рис. 10.1. </a:t>
            </a:r>
            <a:r>
              <a:rPr lang="ru-RU" sz="1000" dirty="0"/>
              <a:t>Аномалия </a:t>
            </a:r>
            <a:r>
              <a:rPr lang="ru-RU" sz="1000" dirty="0" err="1"/>
              <a:t>Билэди</a:t>
            </a:r>
            <a:r>
              <a:rPr lang="ru-RU" sz="1000" dirty="0"/>
              <a:t>: (a) - FIFO с тремя страничными кадрами; (b) - FIFO с четырьмя страничными кадрами </a:t>
            </a:r>
          </a:p>
        </p:txBody>
      </p:sp>
    </p:spTree>
    <p:extLst>
      <p:ext uri="{BB962C8B-B14F-4D97-AF65-F5344CB8AC3E}">
        <p14:creationId xmlns:p14="http://schemas.microsoft.com/office/powerpoint/2010/main" val="58294400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CFB4-5D49-D533-D9D3-FADD4E92C143}"/>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495D52BD-B686-3DCF-43B8-8F4698C50CF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FE300C09-6CC4-A7CC-23C0-DD59638EF940}"/>
              </a:ext>
            </a:extLst>
          </p:cNvPr>
          <p:cNvSpPr txBox="1"/>
          <p:nvPr/>
        </p:nvSpPr>
        <p:spPr>
          <a:xfrm>
            <a:off x="392852" y="1387777"/>
            <a:ext cx="3705015" cy="2862322"/>
          </a:xfrm>
          <a:prstGeom prst="rect">
            <a:avLst/>
          </a:prstGeom>
          <a:noFill/>
        </p:spPr>
        <p:txBody>
          <a:bodyPr wrap="square">
            <a:spAutoFit/>
          </a:bodyPr>
          <a:lstStyle/>
          <a:p>
            <a:pPr>
              <a:buNone/>
            </a:pPr>
            <a:r>
              <a:rPr lang="ru-RU" sz="1200" b="1" dirty="0"/>
              <a:t>Оптимальный алгоритм (</a:t>
            </a:r>
            <a:r>
              <a:rPr lang="en-US" sz="1200" b="1" dirty="0"/>
              <a:t>OPT) </a:t>
            </a:r>
            <a:endParaRPr lang="ru-RU" sz="1200" b="1" dirty="0"/>
          </a:p>
          <a:p>
            <a:pPr>
              <a:buNone/>
            </a:pPr>
            <a:endParaRPr lang="ru-RU" sz="1200" b="1" dirty="0"/>
          </a:p>
          <a:p>
            <a:pPr>
              <a:buNone/>
            </a:pPr>
            <a:r>
              <a:rPr lang="ru-RU" sz="1200" dirty="0"/>
              <a:t>Одним из последствий открытия аномалии </a:t>
            </a:r>
            <a:r>
              <a:rPr lang="ru-RU" sz="1200" dirty="0" err="1"/>
              <a:t>Билэди</a:t>
            </a:r>
            <a:r>
              <a:rPr lang="ru-RU" sz="1200" dirty="0"/>
              <a:t> стал поиск оптимального алгоритма, который при заданной строке обращений имел бы минимальную частоту </a:t>
            </a:r>
            <a:r>
              <a:rPr lang="ru-RU" sz="1200" dirty="0" err="1"/>
              <a:t>page</a:t>
            </a:r>
            <a:r>
              <a:rPr lang="ru-RU" sz="1200" dirty="0"/>
              <a:t> </a:t>
            </a:r>
            <a:r>
              <a:rPr lang="ru-RU" sz="1200" dirty="0" err="1"/>
              <a:t>faults</a:t>
            </a:r>
            <a:r>
              <a:rPr lang="ru-RU" sz="1200" dirty="0"/>
              <a:t> среди всех других алгоритмов. Такой алгоритм был найден. Он прост: замещай страницу, которая не будет использоваться в течение самого длительного периода времени. </a:t>
            </a:r>
          </a:p>
          <a:p>
            <a:pPr>
              <a:buNone/>
            </a:pPr>
            <a:r>
              <a:rPr lang="ru-RU" sz="1200" dirty="0"/>
              <a:t>Каждая страница должна быть помечена числом инструкций, которые будут выполнены, прежде чем на эту страницу будет сделана первая ссылка. Выталкиваться должна страница, для которой это число наибольшее.</a:t>
            </a:r>
          </a:p>
        </p:txBody>
      </p:sp>
    </p:spTree>
    <p:extLst>
      <p:ext uri="{BB962C8B-B14F-4D97-AF65-F5344CB8AC3E}">
        <p14:creationId xmlns:p14="http://schemas.microsoft.com/office/powerpoint/2010/main" val="229426878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FA96-4163-BC07-E013-4551AF6DCB46}"/>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6C8B6EFE-244A-86C3-6240-B1137197C311}"/>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5C3A85F6-A980-9300-F455-E6C83C72301E}"/>
              </a:ext>
            </a:extLst>
          </p:cNvPr>
          <p:cNvSpPr txBox="1"/>
          <p:nvPr/>
        </p:nvSpPr>
        <p:spPr>
          <a:xfrm>
            <a:off x="392852" y="1387777"/>
            <a:ext cx="4131735" cy="3600986"/>
          </a:xfrm>
          <a:prstGeom prst="rect">
            <a:avLst/>
          </a:prstGeom>
          <a:noFill/>
        </p:spPr>
        <p:txBody>
          <a:bodyPr wrap="square">
            <a:spAutoFit/>
          </a:bodyPr>
          <a:lstStyle/>
          <a:p>
            <a:pPr>
              <a:buNone/>
            </a:pPr>
            <a:r>
              <a:rPr lang="ru-RU" sz="1200" b="1" dirty="0"/>
              <a:t>Выталкивание дольше всего не использовавшейся страницы. Алгоритм LRU</a:t>
            </a:r>
          </a:p>
          <a:p>
            <a:pPr>
              <a:buNone/>
            </a:pPr>
            <a:endParaRPr lang="ru-RU" sz="1200" b="1" dirty="0"/>
          </a:p>
          <a:p>
            <a:pPr>
              <a:buNone/>
            </a:pPr>
            <a:r>
              <a:rPr lang="ru-RU" sz="1200" dirty="0"/>
              <a:t>Одним из приближений к алгоритму OPT является алгоритм, исходящий из эвристического правила, что недавнее прошлое - хороший ориентир для прогнозирования ближайшего будущего.</a:t>
            </a:r>
          </a:p>
          <a:p>
            <a:pPr>
              <a:buNone/>
            </a:pPr>
            <a:endParaRPr lang="ru-RU" sz="1200" dirty="0"/>
          </a:p>
          <a:p>
            <a:pPr>
              <a:buNone/>
            </a:pPr>
            <a:r>
              <a:rPr lang="ru-RU" sz="1200" dirty="0"/>
              <a:t>Ключевое отличие между FIFO и оптимальным алгоритмом заключается в том, что один смотрит назад, а другой вперед. Если использовать прошлое для аппроксимации будущего, имеет смысл замещать страницу, которая не использовалась в течение самого долгого времени. Такой подход называется </a:t>
            </a:r>
            <a:r>
              <a:rPr lang="ru-RU" sz="1200" dirty="0" err="1"/>
              <a:t>least</a:t>
            </a:r>
            <a:r>
              <a:rPr lang="ru-RU" sz="1200" dirty="0"/>
              <a:t> </a:t>
            </a:r>
            <a:r>
              <a:rPr lang="ru-RU" sz="1200" dirty="0" err="1"/>
              <a:t>recently</a:t>
            </a:r>
            <a:r>
              <a:rPr lang="ru-RU" sz="1200" dirty="0"/>
              <a:t> </a:t>
            </a:r>
            <a:r>
              <a:rPr lang="ru-RU" sz="1200" dirty="0" err="1"/>
              <a:t>used</a:t>
            </a:r>
            <a:r>
              <a:rPr lang="ru-RU" sz="1200" dirty="0"/>
              <a:t> алгоритм (LRU). Работа алгоритма проиллюстрирована на рис. рис. 10.2. Сравнивая рис. 10.1 b и 10.2, можно увидеть, что использование LRU алгоритма позволяет сократить количество страничных нарушений. </a:t>
            </a:r>
          </a:p>
        </p:txBody>
      </p:sp>
      <p:pic>
        <p:nvPicPr>
          <p:cNvPr id="4" name="Рисунок 3">
            <a:extLst>
              <a:ext uri="{FF2B5EF4-FFF2-40B4-BE49-F238E27FC236}">
                <a16:creationId xmlns:a16="http://schemas.microsoft.com/office/drawing/2014/main" id="{8A8BA7DC-DD27-52B9-D8A2-CD39132D9E34}"/>
              </a:ext>
            </a:extLst>
          </p:cNvPr>
          <p:cNvPicPr>
            <a:picLocks noChangeAspect="1"/>
          </p:cNvPicPr>
          <p:nvPr/>
        </p:nvPicPr>
        <p:blipFill>
          <a:blip r:embed="rId2"/>
          <a:stretch>
            <a:fillRect/>
          </a:stretch>
        </p:blipFill>
        <p:spPr>
          <a:xfrm>
            <a:off x="4966086" y="2282613"/>
            <a:ext cx="3601328" cy="1324316"/>
          </a:xfrm>
          <a:prstGeom prst="rect">
            <a:avLst/>
          </a:prstGeom>
        </p:spPr>
      </p:pic>
      <p:sp>
        <p:nvSpPr>
          <p:cNvPr id="7" name="TextBox 6">
            <a:extLst>
              <a:ext uri="{FF2B5EF4-FFF2-40B4-BE49-F238E27FC236}">
                <a16:creationId xmlns:a16="http://schemas.microsoft.com/office/drawing/2014/main" id="{18E8790A-74B5-32D1-47A4-A75FD4709CBD}"/>
              </a:ext>
            </a:extLst>
          </p:cNvPr>
          <p:cNvSpPr txBox="1"/>
          <p:nvPr/>
        </p:nvSpPr>
        <p:spPr>
          <a:xfrm>
            <a:off x="5256107" y="3606929"/>
            <a:ext cx="2824480" cy="246221"/>
          </a:xfrm>
          <a:prstGeom prst="rect">
            <a:avLst/>
          </a:prstGeom>
          <a:noFill/>
        </p:spPr>
        <p:txBody>
          <a:bodyPr wrap="square">
            <a:spAutoFit/>
          </a:bodyPr>
          <a:lstStyle/>
          <a:p>
            <a:r>
              <a:rPr lang="ru-RU" sz="1000" b="1" dirty="0"/>
              <a:t>Рис. 10.2.</a:t>
            </a:r>
            <a:r>
              <a:rPr lang="ru-RU" sz="1000" dirty="0"/>
              <a:t> Пример работы алгоритма LRU</a:t>
            </a:r>
          </a:p>
        </p:txBody>
      </p:sp>
    </p:spTree>
    <p:extLst>
      <p:ext uri="{BB962C8B-B14F-4D97-AF65-F5344CB8AC3E}">
        <p14:creationId xmlns:p14="http://schemas.microsoft.com/office/powerpoint/2010/main" val="64238270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5676-E663-A23D-FDE2-FFB8E41AFD1A}"/>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B9ACEB2B-C00E-5148-0435-5FE3B5781589}"/>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D27033DF-2033-B93A-5404-89AC87E7AE29}"/>
              </a:ext>
            </a:extLst>
          </p:cNvPr>
          <p:cNvSpPr txBox="1"/>
          <p:nvPr/>
        </p:nvSpPr>
        <p:spPr>
          <a:xfrm>
            <a:off x="392852" y="1387777"/>
            <a:ext cx="5310295" cy="3416320"/>
          </a:xfrm>
          <a:prstGeom prst="rect">
            <a:avLst/>
          </a:prstGeom>
          <a:noFill/>
        </p:spPr>
        <p:txBody>
          <a:bodyPr wrap="square">
            <a:spAutoFit/>
          </a:bodyPr>
          <a:lstStyle/>
          <a:p>
            <a:pPr>
              <a:buNone/>
            </a:pPr>
            <a:r>
              <a:rPr lang="ru-RU" sz="1200" b="1" dirty="0"/>
              <a:t>Выталкивание редко используемой страницы. Алгоритм NFU</a:t>
            </a:r>
          </a:p>
          <a:p>
            <a:pPr>
              <a:buNone/>
            </a:pPr>
            <a:endParaRPr lang="ru-RU" sz="1200" b="1" dirty="0"/>
          </a:p>
          <a:p>
            <a:pPr>
              <a:buNone/>
            </a:pPr>
            <a:r>
              <a:rPr lang="ru-RU" sz="1200" dirty="0"/>
              <a:t>Поскольку большинство современных процессоров не предоставляют соответствующей аппаратной поддержки для реализации алгоритма LRU, хотелось бы иметь алгоритм, достаточно близкий к LRU, но не требующий специальной поддержки. </a:t>
            </a:r>
          </a:p>
          <a:p>
            <a:pPr>
              <a:buNone/>
            </a:pPr>
            <a:endParaRPr lang="ru-RU" sz="1200" dirty="0"/>
          </a:p>
          <a:p>
            <a:pPr>
              <a:buNone/>
            </a:pPr>
            <a:r>
              <a:rPr lang="ru-RU" sz="1200" dirty="0"/>
              <a:t>Программная реализация алгоритма, близкого к LRU, - алгоритм NFU(</a:t>
            </a:r>
            <a:r>
              <a:rPr lang="ru-RU" sz="1200" dirty="0" err="1"/>
              <a:t>Not</a:t>
            </a:r>
            <a:r>
              <a:rPr lang="ru-RU" sz="1200" dirty="0"/>
              <a:t> </a:t>
            </a:r>
            <a:r>
              <a:rPr lang="ru-RU" sz="1200" dirty="0" err="1"/>
              <a:t>Frequently</a:t>
            </a:r>
            <a:r>
              <a:rPr lang="ru-RU" sz="1200" dirty="0"/>
              <a:t> </a:t>
            </a:r>
            <a:r>
              <a:rPr lang="ru-RU" sz="1200" dirty="0" err="1"/>
              <a:t>Used</a:t>
            </a:r>
            <a:r>
              <a:rPr lang="ru-RU" sz="1200" dirty="0"/>
              <a:t>). </a:t>
            </a:r>
          </a:p>
          <a:p>
            <a:pPr>
              <a:buNone/>
            </a:pPr>
            <a:endParaRPr lang="ru-RU" sz="1200" dirty="0"/>
          </a:p>
          <a:p>
            <a:pPr>
              <a:buNone/>
            </a:pPr>
            <a:r>
              <a:rPr lang="ru-RU" sz="1200" dirty="0"/>
              <a:t>Для него требуются программные счетчики, по одному на каждую страницу, которые сначала равны нулю. При каждом прерывании по времени (а не после каждой инструкции) операционная система сканирует все страницы в памяти и у каждой страницы с установленным флагом обращения увеличивает на единицу значение счетчика, а флаг обращения сбрасывает. </a:t>
            </a:r>
          </a:p>
          <a:p>
            <a:pPr>
              <a:buNone/>
            </a:pPr>
            <a:endParaRPr lang="ru-RU" sz="1200" dirty="0"/>
          </a:p>
          <a:p>
            <a:pPr>
              <a:buNone/>
            </a:pPr>
            <a:endParaRPr lang="ru-RU" sz="1200" dirty="0"/>
          </a:p>
        </p:txBody>
      </p:sp>
    </p:spTree>
    <p:extLst>
      <p:ext uri="{BB962C8B-B14F-4D97-AF65-F5344CB8AC3E}">
        <p14:creationId xmlns:p14="http://schemas.microsoft.com/office/powerpoint/2010/main" val="426937805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75758-B8A8-3DD8-2D5B-59B383AA005D}"/>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0750413E-8800-7A55-DBA0-C096806F4C9E}"/>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BBDA5D7F-63AC-1607-EA4D-6CAE0966D280}"/>
              </a:ext>
            </a:extLst>
          </p:cNvPr>
          <p:cNvSpPr txBox="1"/>
          <p:nvPr/>
        </p:nvSpPr>
        <p:spPr>
          <a:xfrm>
            <a:off x="209972" y="1245537"/>
            <a:ext cx="5310295" cy="3970318"/>
          </a:xfrm>
          <a:prstGeom prst="rect">
            <a:avLst/>
          </a:prstGeom>
          <a:noFill/>
        </p:spPr>
        <p:txBody>
          <a:bodyPr wrap="square">
            <a:spAutoFit/>
          </a:bodyPr>
          <a:lstStyle/>
          <a:p>
            <a:pPr>
              <a:buNone/>
            </a:pPr>
            <a:r>
              <a:rPr lang="ru-RU" sz="1200" b="1" dirty="0"/>
              <a:t>Управление количеством страниц, выделенным процессу. Модель рабочего множества</a:t>
            </a:r>
          </a:p>
          <a:p>
            <a:pPr>
              <a:buNone/>
            </a:pPr>
            <a:endParaRPr lang="ru-RU" sz="1200" b="1" dirty="0"/>
          </a:p>
          <a:p>
            <a:pPr>
              <a:buNone/>
            </a:pPr>
            <a:r>
              <a:rPr lang="ru-RU" sz="1200" dirty="0"/>
              <a:t>В стратегиях замещения, рассмотренных в предыдущем разделе, прослеживается предположение о том, что количество кадров, принадлежащих процессу, нельзя увеличить. Это приводит к необходимости выталкивания страницы. Рассмотрим более общий подход, базирующийся на концепции рабочего множества, сформулированной </a:t>
            </a:r>
            <a:r>
              <a:rPr lang="ru-RU" sz="1200" dirty="0" err="1"/>
              <a:t>Деннингом</a:t>
            </a:r>
            <a:endParaRPr lang="ru-RU" sz="1200" dirty="0"/>
          </a:p>
          <a:p>
            <a:pPr>
              <a:buNone/>
            </a:pPr>
            <a:endParaRPr lang="ru-RU" sz="1200" dirty="0"/>
          </a:p>
          <a:p>
            <a:pPr>
              <a:buNone/>
            </a:pPr>
            <a:r>
              <a:rPr lang="ru-RU" sz="1200" b="1" dirty="0" err="1"/>
              <a:t>Трешинг</a:t>
            </a:r>
            <a:r>
              <a:rPr lang="ru-RU" sz="1200" b="1" dirty="0"/>
              <a:t> (</a:t>
            </a:r>
            <a:r>
              <a:rPr lang="en-US" sz="1200" b="1" dirty="0"/>
              <a:t>Thrashing) </a:t>
            </a:r>
            <a:endParaRPr lang="ru-RU" sz="1200" b="1" dirty="0"/>
          </a:p>
          <a:p>
            <a:pPr>
              <a:buNone/>
            </a:pPr>
            <a:r>
              <a:rPr lang="ru-RU" sz="1200" dirty="0"/>
              <a:t>Хотя теоретически возможно уменьшить число кадров процесса до минимума, существует какое-то число активно используемых страниц, без которого процесс часто генерирует </a:t>
            </a:r>
            <a:r>
              <a:rPr lang="ru-RU" sz="1200" dirty="0" err="1"/>
              <a:t>page</a:t>
            </a:r>
            <a:r>
              <a:rPr lang="ru-RU" sz="1200" dirty="0"/>
              <a:t> </a:t>
            </a:r>
            <a:r>
              <a:rPr lang="ru-RU" sz="1200" dirty="0" err="1"/>
              <a:t>faults</a:t>
            </a:r>
            <a:r>
              <a:rPr lang="ru-RU" sz="1200" dirty="0"/>
              <a:t>. Высокая частота страничных нарушений называется </a:t>
            </a:r>
            <a:r>
              <a:rPr lang="ru-RU" sz="1200" dirty="0" err="1"/>
              <a:t>трешинг</a:t>
            </a:r>
            <a:r>
              <a:rPr lang="ru-RU" sz="1200" dirty="0"/>
              <a:t> (</a:t>
            </a:r>
            <a:r>
              <a:rPr lang="ru-RU" sz="1200" dirty="0" err="1"/>
              <a:t>thrashing</a:t>
            </a:r>
            <a:r>
              <a:rPr lang="ru-RU" sz="1200" dirty="0"/>
              <a:t>, иногда употребляется русский термин "пробуксовка", см. рис. 10.3). Процесс находится в состоянии </a:t>
            </a:r>
            <a:r>
              <a:rPr lang="ru-RU" sz="1200" dirty="0" err="1"/>
              <a:t>трешинга</a:t>
            </a:r>
            <a:r>
              <a:rPr lang="ru-RU" sz="1200" dirty="0"/>
              <a:t>, если при его работе больше времени уходит на подкачку страниц, нежели на выполнение команд. Такого рода критическая ситуация возникает вне зависимости от конкретных алгоритмов замещения. </a:t>
            </a:r>
            <a:endParaRPr lang="ru-RU" sz="1200" b="1" dirty="0"/>
          </a:p>
          <a:p>
            <a:pPr>
              <a:buNone/>
            </a:pPr>
            <a:endParaRPr lang="ru-RU" sz="1200" dirty="0"/>
          </a:p>
        </p:txBody>
      </p:sp>
      <p:pic>
        <p:nvPicPr>
          <p:cNvPr id="4" name="Рисунок 3">
            <a:extLst>
              <a:ext uri="{FF2B5EF4-FFF2-40B4-BE49-F238E27FC236}">
                <a16:creationId xmlns:a16="http://schemas.microsoft.com/office/drawing/2014/main" id="{1FCDDDBF-4FEF-4D88-0A7D-E197B2FB9E17}"/>
              </a:ext>
            </a:extLst>
          </p:cNvPr>
          <p:cNvPicPr>
            <a:picLocks noChangeAspect="1"/>
          </p:cNvPicPr>
          <p:nvPr/>
        </p:nvPicPr>
        <p:blipFill>
          <a:blip r:embed="rId2"/>
          <a:stretch>
            <a:fillRect/>
          </a:stretch>
        </p:blipFill>
        <p:spPr>
          <a:xfrm>
            <a:off x="5520267" y="2571750"/>
            <a:ext cx="3529386" cy="1477262"/>
          </a:xfrm>
          <a:prstGeom prst="rect">
            <a:avLst/>
          </a:prstGeom>
        </p:spPr>
      </p:pic>
      <p:sp>
        <p:nvSpPr>
          <p:cNvPr id="7" name="TextBox 6">
            <a:extLst>
              <a:ext uri="{FF2B5EF4-FFF2-40B4-BE49-F238E27FC236}">
                <a16:creationId xmlns:a16="http://schemas.microsoft.com/office/drawing/2014/main" id="{77E9E419-7D7F-2E2B-EE3A-DE42655CB4CE}"/>
              </a:ext>
            </a:extLst>
          </p:cNvPr>
          <p:cNvSpPr txBox="1"/>
          <p:nvPr/>
        </p:nvSpPr>
        <p:spPr>
          <a:xfrm>
            <a:off x="5767733" y="4049012"/>
            <a:ext cx="3034453" cy="400110"/>
          </a:xfrm>
          <a:prstGeom prst="rect">
            <a:avLst/>
          </a:prstGeom>
          <a:noFill/>
        </p:spPr>
        <p:txBody>
          <a:bodyPr wrap="square">
            <a:spAutoFit/>
          </a:bodyPr>
          <a:lstStyle/>
          <a:p>
            <a:r>
              <a:rPr lang="ru-RU" sz="1000" b="1" dirty="0"/>
              <a:t>Рис. 10.3. </a:t>
            </a:r>
            <a:r>
              <a:rPr lang="ru-RU" sz="1000" dirty="0"/>
              <a:t>Частота </a:t>
            </a:r>
            <a:r>
              <a:rPr lang="ru-RU" sz="1000" dirty="0" err="1"/>
              <a:t>page</a:t>
            </a:r>
            <a:r>
              <a:rPr lang="ru-RU" sz="1000" dirty="0"/>
              <a:t> </a:t>
            </a:r>
            <a:r>
              <a:rPr lang="ru-RU" sz="1000" dirty="0" err="1"/>
              <a:t>faults</a:t>
            </a:r>
            <a:r>
              <a:rPr lang="ru-RU" sz="1000" dirty="0"/>
              <a:t> в зависимости от количества кадров, выделенных процессу</a:t>
            </a:r>
          </a:p>
        </p:txBody>
      </p:sp>
    </p:spTree>
    <p:extLst>
      <p:ext uri="{BB962C8B-B14F-4D97-AF65-F5344CB8AC3E}">
        <p14:creationId xmlns:p14="http://schemas.microsoft.com/office/powerpoint/2010/main" val="427962812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1797A-C77B-2867-FA65-696ED7ECEC8F}"/>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10A8C7A4-78E1-F15E-5CFE-9E7CFC4D267A}"/>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720D593D-DA93-93F9-9101-DAD04E3468D4}"/>
              </a:ext>
            </a:extLst>
          </p:cNvPr>
          <p:cNvSpPr txBox="1"/>
          <p:nvPr/>
        </p:nvSpPr>
        <p:spPr>
          <a:xfrm>
            <a:off x="209972" y="1245537"/>
            <a:ext cx="7782561" cy="2492990"/>
          </a:xfrm>
          <a:prstGeom prst="rect">
            <a:avLst/>
          </a:prstGeom>
          <a:noFill/>
        </p:spPr>
        <p:txBody>
          <a:bodyPr wrap="square">
            <a:spAutoFit/>
          </a:bodyPr>
          <a:lstStyle/>
          <a:p>
            <a:pPr>
              <a:buNone/>
            </a:pPr>
            <a:r>
              <a:rPr lang="ru-RU" sz="1200" b="1" dirty="0"/>
              <a:t>Модель рабочего множества</a:t>
            </a:r>
          </a:p>
          <a:p>
            <a:pPr>
              <a:buNone/>
            </a:pPr>
            <a:endParaRPr lang="ru-RU" sz="1200" b="1" dirty="0"/>
          </a:p>
          <a:p>
            <a:pPr>
              <a:buNone/>
            </a:pPr>
            <a:r>
              <a:rPr lang="ru-RU" sz="1200" dirty="0"/>
              <a:t>Процессы начинают работать, не имея в памяти необходимых страниц. В результате при выполнении первой же машинной инструкции возникает </a:t>
            </a:r>
            <a:r>
              <a:rPr lang="ru-RU" sz="1200" dirty="0" err="1"/>
              <a:t>page</a:t>
            </a:r>
            <a:r>
              <a:rPr lang="ru-RU" sz="1200" dirty="0"/>
              <a:t> </a:t>
            </a:r>
            <a:r>
              <a:rPr lang="ru-RU" sz="1200" dirty="0" err="1"/>
              <a:t>fault</a:t>
            </a:r>
            <a:r>
              <a:rPr lang="ru-RU" sz="1200" dirty="0"/>
              <a:t>, требующий подкачки порции кода. Следующий </a:t>
            </a:r>
            <a:r>
              <a:rPr lang="ru-RU" sz="1200" dirty="0" err="1"/>
              <a:t>page</a:t>
            </a:r>
            <a:r>
              <a:rPr lang="ru-RU" sz="1200" dirty="0"/>
              <a:t> </a:t>
            </a:r>
            <a:r>
              <a:rPr lang="ru-RU" sz="1200" dirty="0" err="1"/>
              <a:t>fault</a:t>
            </a:r>
            <a:r>
              <a:rPr lang="ru-RU" sz="1200" dirty="0"/>
              <a:t> происходит при локализации глобальных переменных и еще один - при выделении памяти для стека. После того как процесс собрал большую часть необходимых ему страниц, </a:t>
            </a:r>
            <a:r>
              <a:rPr lang="ru-RU" sz="1200" dirty="0" err="1"/>
              <a:t>page</a:t>
            </a:r>
            <a:r>
              <a:rPr lang="ru-RU" sz="1200" dirty="0"/>
              <a:t> </a:t>
            </a:r>
            <a:r>
              <a:rPr lang="ru-RU" sz="1200" dirty="0" err="1"/>
              <a:t>faults</a:t>
            </a:r>
            <a:r>
              <a:rPr lang="ru-RU" sz="1200" dirty="0"/>
              <a:t> возникают редко. </a:t>
            </a:r>
          </a:p>
          <a:p>
            <a:pPr>
              <a:buNone/>
            </a:pPr>
            <a:r>
              <a:rPr lang="ru-RU" sz="1200" dirty="0"/>
              <a:t>Таким образом, существует набор страниц (P1, P2, ... </a:t>
            </a:r>
            <a:r>
              <a:rPr lang="ru-RU" sz="1200" dirty="0" err="1"/>
              <a:t>Pn</a:t>
            </a:r>
            <a:r>
              <a:rPr lang="ru-RU" sz="1200" dirty="0"/>
              <a:t>), активно использующихся вместе, который позволяет процессу в момент времени t в течение некоторого периода T производительно работать, избегая большого количества </a:t>
            </a:r>
            <a:r>
              <a:rPr lang="ru-RU" sz="1200" dirty="0" err="1"/>
              <a:t>page</a:t>
            </a:r>
            <a:r>
              <a:rPr lang="ru-RU" sz="1200" dirty="0"/>
              <a:t> </a:t>
            </a:r>
            <a:r>
              <a:rPr lang="ru-RU" sz="1200" dirty="0" err="1"/>
              <a:t>faults</a:t>
            </a:r>
            <a:r>
              <a:rPr lang="ru-RU" sz="1200" dirty="0"/>
              <a:t>. Этот набор страниц называется рабочим множеством W(</a:t>
            </a:r>
            <a:r>
              <a:rPr lang="ru-RU" sz="1200" dirty="0" err="1"/>
              <a:t>t,T</a:t>
            </a:r>
            <a:r>
              <a:rPr lang="ru-RU" sz="1200" dirty="0"/>
              <a:t>) (</a:t>
            </a:r>
            <a:r>
              <a:rPr lang="ru-RU" sz="1200" dirty="0" err="1"/>
              <a:t>working</a:t>
            </a:r>
            <a:r>
              <a:rPr lang="ru-RU" sz="1200" dirty="0"/>
              <a:t> </a:t>
            </a:r>
            <a:r>
              <a:rPr lang="ru-RU" sz="1200" dirty="0" err="1"/>
              <a:t>set</a:t>
            </a:r>
            <a:r>
              <a:rPr lang="ru-RU" sz="1200" dirty="0"/>
              <a:t>) процесса. Число страниц в рабочем множестве определяется параметром Т, является неубывающей функцией T и относительно невелико. Иногда T называют размером окна рабочего множества, через которое ведется наблюдение за процессом (см. рис. 10.4). </a:t>
            </a:r>
          </a:p>
        </p:txBody>
      </p:sp>
      <p:sp>
        <p:nvSpPr>
          <p:cNvPr id="7" name="TextBox 6">
            <a:extLst>
              <a:ext uri="{FF2B5EF4-FFF2-40B4-BE49-F238E27FC236}">
                <a16:creationId xmlns:a16="http://schemas.microsoft.com/office/drawing/2014/main" id="{AA953AB3-C4B6-6217-0866-A0648F015674}"/>
              </a:ext>
            </a:extLst>
          </p:cNvPr>
          <p:cNvSpPr txBox="1"/>
          <p:nvPr/>
        </p:nvSpPr>
        <p:spPr>
          <a:xfrm>
            <a:off x="476172" y="4407999"/>
            <a:ext cx="3113400" cy="246221"/>
          </a:xfrm>
          <a:prstGeom prst="rect">
            <a:avLst/>
          </a:prstGeom>
          <a:noFill/>
        </p:spPr>
        <p:txBody>
          <a:bodyPr wrap="square">
            <a:spAutoFit/>
          </a:bodyPr>
          <a:lstStyle/>
          <a:p>
            <a:r>
              <a:rPr lang="ru-RU" sz="1000" b="1" dirty="0"/>
              <a:t>Рис. 10.4. </a:t>
            </a:r>
            <a:r>
              <a:rPr lang="ru-RU" sz="1000" dirty="0"/>
              <a:t>Пример рабочего множества процесса</a:t>
            </a:r>
          </a:p>
        </p:txBody>
      </p:sp>
      <p:pic>
        <p:nvPicPr>
          <p:cNvPr id="9" name="Рисунок 8">
            <a:extLst>
              <a:ext uri="{FF2B5EF4-FFF2-40B4-BE49-F238E27FC236}">
                <a16:creationId xmlns:a16="http://schemas.microsoft.com/office/drawing/2014/main" id="{1D5270AA-B1DF-E3CD-4475-9E20EF3F94CA}"/>
              </a:ext>
            </a:extLst>
          </p:cNvPr>
          <p:cNvPicPr>
            <a:picLocks noChangeAspect="1"/>
          </p:cNvPicPr>
          <p:nvPr/>
        </p:nvPicPr>
        <p:blipFill>
          <a:blip r:embed="rId2"/>
          <a:stretch>
            <a:fillRect/>
          </a:stretch>
        </p:blipFill>
        <p:spPr>
          <a:xfrm>
            <a:off x="431386" y="3814632"/>
            <a:ext cx="3202972" cy="593367"/>
          </a:xfrm>
          <a:prstGeom prst="rect">
            <a:avLst/>
          </a:prstGeom>
        </p:spPr>
      </p:pic>
    </p:spTree>
    <p:extLst>
      <p:ext uri="{BB962C8B-B14F-4D97-AF65-F5344CB8AC3E}">
        <p14:creationId xmlns:p14="http://schemas.microsoft.com/office/powerpoint/2010/main" val="91582930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570E4-0EB0-5C0C-DAF1-66B4092870FF}"/>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4860B227-8675-20EB-2CDA-325C2C63ED3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25718646-73BF-1BD9-485F-26611D3BF9AA}"/>
              </a:ext>
            </a:extLst>
          </p:cNvPr>
          <p:cNvSpPr txBox="1"/>
          <p:nvPr/>
        </p:nvSpPr>
        <p:spPr>
          <a:xfrm>
            <a:off x="209972" y="1245537"/>
            <a:ext cx="6468535" cy="3231654"/>
          </a:xfrm>
          <a:prstGeom prst="rect">
            <a:avLst/>
          </a:prstGeom>
          <a:noFill/>
        </p:spPr>
        <p:txBody>
          <a:bodyPr wrap="square">
            <a:spAutoFit/>
          </a:bodyPr>
          <a:lstStyle/>
          <a:p>
            <a:pPr>
              <a:buNone/>
            </a:pPr>
            <a:r>
              <a:rPr lang="ru-RU" sz="1200" b="1" dirty="0"/>
              <a:t>Страничные демоны</a:t>
            </a:r>
          </a:p>
          <a:p>
            <a:pPr>
              <a:buNone/>
            </a:pPr>
            <a:endParaRPr lang="ru-RU" sz="1200" b="1" dirty="0"/>
          </a:p>
          <a:p>
            <a:pPr>
              <a:buNone/>
            </a:pPr>
            <a:r>
              <a:rPr lang="ru-RU" sz="1200" dirty="0"/>
              <a:t>Подсистема виртуальной памяти работает производительно при наличии резерва свободных страничных кадров. Алгоритмы, обеспечивающие поддержку системы в состоянии отсутствия </a:t>
            </a:r>
            <a:r>
              <a:rPr lang="ru-RU" sz="1200" dirty="0" err="1"/>
              <a:t>трешинга</a:t>
            </a:r>
            <a:r>
              <a:rPr lang="ru-RU" sz="1200" dirty="0"/>
              <a:t>, реализованы в составе фоновых процессов (их часто называют демонами или сервисами), которые периодически "просыпаются" и инспектируют состояние памяти. Если свободных кадров оказывается мало, они могут сменить стратегию замещения. Их задача - поддерживать систему в состоянии наилучшей производительности. </a:t>
            </a:r>
          </a:p>
          <a:p>
            <a:pPr>
              <a:buNone/>
            </a:pPr>
            <a:endParaRPr lang="ru-RU" sz="1200" dirty="0"/>
          </a:p>
          <a:p>
            <a:pPr>
              <a:buNone/>
            </a:pPr>
            <a:r>
              <a:rPr lang="ru-RU" sz="1200" dirty="0"/>
              <a:t>Примером такого рода процесса может быть фоновый процесс - сборщик страниц, реализующий облегченный вариант алгоритма откачки, основанный на использовании рабочего набора и применяемый во многих клонах ОС. Данный демон производит откачку страниц, не входящих в рабочие наборы процессов. Он начинает активно работать, когда количество страниц в списке свободных страниц достигает установленного нижнего порога, и пытается выталкивать страницы в соответствии с собственной стратегией. </a:t>
            </a:r>
          </a:p>
        </p:txBody>
      </p:sp>
    </p:spTree>
    <p:extLst>
      <p:ext uri="{BB962C8B-B14F-4D97-AF65-F5344CB8AC3E}">
        <p14:creationId xmlns:p14="http://schemas.microsoft.com/office/powerpoint/2010/main" val="305348845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5CF90-D3F2-8BEB-3A73-EBFD77CEA6DD}"/>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A38038F5-F590-484A-0795-DDF2DAFEEA04}"/>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39153E5E-882D-314F-7FF6-9C2485AA37D7}"/>
              </a:ext>
            </a:extLst>
          </p:cNvPr>
          <p:cNvSpPr txBox="1"/>
          <p:nvPr/>
        </p:nvSpPr>
        <p:spPr>
          <a:xfrm>
            <a:off x="209972" y="1245537"/>
            <a:ext cx="3989495" cy="3600986"/>
          </a:xfrm>
          <a:prstGeom prst="rect">
            <a:avLst/>
          </a:prstGeom>
          <a:noFill/>
        </p:spPr>
        <p:txBody>
          <a:bodyPr wrap="square">
            <a:spAutoFit/>
          </a:bodyPr>
          <a:lstStyle/>
          <a:p>
            <a:pPr>
              <a:buNone/>
            </a:pPr>
            <a:r>
              <a:rPr lang="ru-RU" sz="1200" b="1" dirty="0"/>
              <a:t>Программная поддержка сегментной модели памяти процесса</a:t>
            </a:r>
          </a:p>
          <a:p>
            <a:pPr>
              <a:buNone/>
            </a:pPr>
            <a:endParaRPr lang="ru-RU" sz="1200" b="1" dirty="0"/>
          </a:p>
          <a:p>
            <a:pPr>
              <a:buNone/>
            </a:pPr>
            <a:r>
              <a:rPr lang="ru-RU" sz="1200" dirty="0"/>
              <a:t>Реализация функций операционной системы, связанных с поддержкой памяти, - ведение таблиц страниц, трансляция адреса, обработка страничных ошибок, управление ассоциативной памятью и др. - тесно связана со структурами данных, обеспечивающими удобное представление адресного пространства процесса. Формат этих структур сильно зависит от аппаратуры и особенностей конкретной ОС. </a:t>
            </a:r>
          </a:p>
          <a:p>
            <a:pPr>
              <a:buNone/>
            </a:pPr>
            <a:endParaRPr lang="ru-RU" sz="1200" dirty="0"/>
          </a:p>
          <a:p>
            <a:pPr>
              <a:buNone/>
            </a:pPr>
            <a:r>
              <a:rPr lang="ru-RU" sz="1200" dirty="0"/>
              <a:t>Чаще всего виртуальная память процесса ОС разбивается на сегменты пяти типов: кода программы, данных, стека, разделяемый и сегмент файлов, отображаемых в память (см. рис. 10.5). </a:t>
            </a:r>
          </a:p>
          <a:p>
            <a:pPr>
              <a:buNone/>
            </a:pPr>
            <a:endParaRPr lang="ru-RU" sz="1200" dirty="0"/>
          </a:p>
          <a:p>
            <a:pPr>
              <a:buNone/>
            </a:pPr>
            <a:endParaRPr lang="ru-RU" sz="1200" dirty="0"/>
          </a:p>
        </p:txBody>
      </p:sp>
      <p:pic>
        <p:nvPicPr>
          <p:cNvPr id="4" name="Рисунок 3">
            <a:extLst>
              <a:ext uri="{FF2B5EF4-FFF2-40B4-BE49-F238E27FC236}">
                <a16:creationId xmlns:a16="http://schemas.microsoft.com/office/drawing/2014/main" id="{11D8FEDE-8F2F-936A-6AC6-435141509A7D}"/>
              </a:ext>
            </a:extLst>
          </p:cNvPr>
          <p:cNvPicPr>
            <a:picLocks noChangeAspect="1"/>
          </p:cNvPicPr>
          <p:nvPr/>
        </p:nvPicPr>
        <p:blipFill>
          <a:blip r:embed="rId2"/>
          <a:stretch>
            <a:fillRect/>
          </a:stretch>
        </p:blipFill>
        <p:spPr>
          <a:xfrm>
            <a:off x="4524586" y="1435947"/>
            <a:ext cx="3924547" cy="2638538"/>
          </a:xfrm>
          <a:prstGeom prst="rect">
            <a:avLst/>
          </a:prstGeom>
        </p:spPr>
      </p:pic>
      <p:sp>
        <p:nvSpPr>
          <p:cNvPr id="7" name="TextBox 6">
            <a:extLst>
              <a:ext uri="{FF2B5EF4-FFF2-40B4-BE49-F238E27FC236}">
                <a16:creationId xmlns:a16="http://schemas.microsoft.com/office/drawing/2014/main" id="{674B6283-39BB-7A61-B4F6-19A4B3C63C89}"/>
              </a:ext>
            </a:extLst>
          </p:cNvPr>
          <p:cNvSpPr txBox="1"/>
          <p:nvPr/>
        </p:nvSpPr>
        <p:spPr>
          <a:xfrm>
            <a:off x="5235787" y="4074485"/>
            <a:ext cx="2363893" cy="246221"/>
          </a:xfrm>
          <a:prstGeom prst="rect">
            <a:avLst/>
          </a:prstGeom>
          <a:noFill/>
        </p:spPr>
        <p:txBody>
          <a:bodyPr wrap="square">
            <a:spAutoFit/>
          </a:bodyPr>
          <a:lstStyle/>
          <a:p>
            <a:r>
              <a:rPr lang="ru-RU" sz="1000" b="1" dirty="0"/>
              <a:t>Рис. 10.5.</a:t>
            </a:r>
            <a:r>
              <a:rPr lang="ru-RU" sz="1000" dirty="0"/>
              <a:t> Образ процесса в памяти</a:t>
            </a:r>
          </a:p>
        </p:txBody>
      </p:sp>
    </p:spTree>
    <p:extLst>
      <p:ext uri="{BB962C8B-B14F-4D97-AF65-F5344CB8AC3E}">
        <p14:creationId xmlns:p14="http://schemas.microsoft.com/office/powerpoint/2010/main" val="91118279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6E60-F734-7222-1843-9C98A0645ADC}"/>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8A7A3038-57E0-6400-2C7D-1616772AE15B}"/>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C659A27D-5D64-F5AE-DF11-E137484C59F5}"/>
              </a:ext>
            </a:extLst>
          </p:cNvPr>
          <p:cNvSpPr txBox="1"/>
          <p:nvPr/>
        </p:nvSpPr>
        <p:spPr>
          <a:xfrm>
            <a:off x="209972" y="1245537"/>
            <a:ext cx="3989495" cy="3600986"/>
          </a:xfrm>
          <a:prstGeom prst="rect">
            <a:avLst/>
          </a:prstGeom>
          <a:noFill/>
        </p:spPr>
        <p:txBody>
          <a:bodyPr wrap="square">
            <a:spAutoFit/>
          </a:bodyPr>
          <a:lstStyle/>
          <a:p>
            <a:pPr>
              <a:buNone/>
            </a:pPr>
            <a:r>
              <a:rPr lang="ru-RU" sz="1200" b="1" dirty="0"/>
              <a:t>Программная поддержка сегментной модели памяти процесса</a:t>
            </a:r>
          </a:p>
          <a:p>
            <a:pPr>
              <a:buNone/>
            </a:pPr>
            <a:endParaRPr lang="ru-RU" sz="1200" b="1" dirty="0"/>
          </a:p>
          <a:p>
            <a:pPr>
              <a:buNone/>
            </a:pPr>
            <a:r>
              <a:rPr lang="ru-RU" sz="1200" b="1" dirty="0"/>
              <a:t>Сегмент программного кода </a:t>
            </a:r>
            <a:r>
              <a:rPr lang="ru-RU" sz="1200" dirty="0"/>
              <a:t>содержит только команды. Сегмент программного кода не модифицируется в ходе выполнения процесса, обычно страницы данного сегмента имеют атрибут </a:t>
            </a:r>
            <a:r>
              <a:rPr lang="ru-RU" sz="1200" dirty="0" err="1"/>
              <a:t>read-only</a:t>
            </a:r>
            <a:r>
              <a:rPr lang="ru-RU" sz="1200" dirty="0"/>
              <a:t>. Следствием этого является возможность использования одного экземпляра кода для разных процессов. </a:t>
            </a:r>
          </a:p>
          <a:p>
            <a:pPr>
              <a:buNone/>
            </a:pPr>
            <a:endParaRPr lang="ru-RU" sz="1200" dirty="0"/>
          </a:p>
          <a:p>
            <a:pPr>
              <a:buNone/>
            </a:pPr>
            <a:r>
              <a:rPr lang="ru-RU" sz="1200" b="1" dirty="0"/>
              <a:t>Сегмент данных</a:t>
            </a:r>
            <a:r>
              <a:rPr lang="ru-RU" sz="1200" dirty="0"/>
              <a:t>, содержащий переменные программы и сегмент стека, содержащий автоматические переменные, могут динамически менять свой размер (обычно данные в сторону увеличения адресов, а стек - в сторону уменьшения) и содержимое, должны быть доступны по чтению и записи и являются приватными сегментами процесса. </a:t>
            </a:r>
          </a:p>
        </p:txBody>
      </p:sp>
      <p:pic>
        <p:nvPicPr>
          <p:cNvPr id="4" name="Рисунок 3">
            <a:extLst>
              <a:ext uri="{FF2B5EF4-FFF2-40B4-BE49-F238E27FC236}">
                <a16:creationId xmlns:a16="http://schemas.microsoft.com/office/drawing/2014/main" id="{76FD8D58-77D7-18D4-D248-2D4B3AB7D010}"/>
              </a:ext>
            </a:extLst>
          </p:cNvPr>
          <p:cNvPicPr>
            <a:picLocks noChangeAspect="1"/>
          </p:cNvPicPr>
          <p:nvPr/>
        </p:nvPicPr>
        <p:blipFill>
          <a:blip r:embed="rId2"/>
          <a:stretch>
            <a:fillRect/>
          </a:stretch>
        </p:blipFill>
        <p:spPr>
          <a:xfrm>
            <a:off x="4524586" y="1435947"/>
            <a:ext cx="3924547" cy="2638538"/>
          </a:xfrm>
          <a:prstGeom prst="rect">
            <a:avLst/>
          </a:prstGeom>
        </p:spPr>
      </p:pic>
      <p:sp>
        <p:nvSpPr>
          <p:cNvPr id="7" name="TextBox 6">
            <a:extLst>
              <a:ext uri="{FF2B5EF4-FFF2-40B4-BE49-F238E27FC236}">
                <a16:creationId xmlns:a16="http://schemas.microsoft.com/office/drawing/2014/main" id="{595E8F01-4562-6A68-2AB3-C2AF8116363B}"/>
              </a:ext>
            </a:extLst>
          </p:cNvPr>
          <p:cNvSpPr txBox="1"/>
          <p:nvPr/>
        </p:nvSpPr>
        <p:spPr>
          <a:xfrm>
            <a:off x="5235787" y="4074485"/>
            <a:ext cx="2363893" cy="246221"/>
          </a:xfrm>
          <a:prstGeom prst="rect">
            <a:avLst/>
          </a:prstGeom>
          <a:noFill/>
        </p:spPr>
        <p:txBody>
          <a:bodyPr wrap="square">
            <a:spAutoFit/>
          </a:bodyPr>
          <a:lstStyle/>
          <a:p>
            <a:r>
              <a:rPr lang="ru-RU" sz="1000" b="1" dirty="0"/>
              <a:t>Рис. 10.5.</a:t>
            </a:r>
            <a:r>
              <a:rPr lang="ru-RU" sz="1000" dirty="0"/>
              <a:t> Образ процесса в памяти</a:t>
            </a:r>
          </a:p>
        </p:txBody>
      </p:sp>
    </p:spTree>
    <p:extLst>
      <p:ext uri="{BB962C8B-B14F-4D97-AF65-F5344CB8AC3E}">
        <p14:creationId xmlns:p14="http://schemas.microsoft.com/office/powerpoint/2010/main" val="246822709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AAE1-518E-06DE-3F59-E2D5A0783EBD}"/>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916E3E15-44F3-2081-DB97-81ABC2CBF787}"/>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dirty="0"/>
              <a:t>Аппаратно­-независимый уровень управления виртуальной памятью</a:t>
            </a:r>
          </a:p>
        </p:txBody>
      </p:sp>
      <p:sp>
        <p:nvSpPr>
          <p:cNvPr id="3" name="TextBox 2">
            <a:extLst>
              <a:ext uri="{FF2B5EF4-FFF2-40B4-BE49-F238E27FC236}">
                <a16:creationId xmlns:a16="http://schemas.microsoft.com/office/drawing/2014/main" id="{3A4E555A-2488-33A1-3AC0-A0741724EFE9}"/>
              </a:ext>
            </a:extLst>
          </p:cNvPr>
          <p:cNvSpPr txBox="1"/>
          <p:nvPr/>
        </p:nvSpPr>
        <p:spPr>
          <a:xfrm>
            <a:off x="209972" y="1245537"/>
            <a:ext cx="5215468" cy="2123658"/>
          </a:xfrm>
          <a:prstGeom prst="rect">
            <a:avLst/>
          </a:prstGeom>
          <a:noFill/>
        </p:spPr>
        <p:txBody>
          <a:bodyPr wrap="square">
            <a:spAutoFit/>
          </a:bodyPr>
          <a:lstStyle/>
          <a:p>
            <a:pPr>
              <a:buNone/>
            </a:pPr>
            <a:r>
              <a:rPr lang="ru-RU" sz="1200" b="1" dirty="0"/>
              <a:t>Отдельные аспекты функционирования менеджера памяти </a:t>
            </a:r>
          </a:p>
          <a:p>
            <a:pPr>
              <a:buNone/>
            </a:pPr>
            <a:endParaRPr lang="ru-RU" sz="1200" b="1" dirty="0"/>
          </a:p>
          <a:p>
            <a:pPr>
              <a:buNone/>
            </a:pPr>
            <a:r>
              <a:rPr lang="ru-RU" sz="1200" dirty="0"/>
              <a:t>Корректная работа менеджера памяти помимо принципиальных вопросов, связанных с выбором абстрактной модели виртуальной памяти и ее аппаратной поддержкой, обеспечивается также множеством нюансов и мелких деталей. В качестве примера такого рода компонента рассмотрим более подробно </a:t>
            </a:r>
            <a:r>
              <a:rPr lang="ru-RU" sz="1200" b="1" dirty="0"/>
              <a:t>локализацию страниц в памяти</a:t>
            </a:r>
            <a:r>
              <a:rPr lang="ru-RU" sz="1200" dirty="0"/>
              <a:t>, которая применяется в тех случаях, когда поддержка страничной системы приводит к необходимости разрешить определенным страницам, хранящим буферы ввода-вывода, другие важные данные и код, быть блокированными в памяти. </a:t>
            </a:r>
          </a:p>
        </p:txBody>
      </p:sp>
      <p:pic>
        <p:nvPicPr>
          <p:cNvPr id="1026" name="Picture 2" descr="Менеджмент памяти или как реже стрелять себе в ногу / Хабр">
            <a:extLst>
              <a:ext uri="{FF2B5EF4-FFF2-40B4-BE49-F238E27FC236}">
                <a16:creationId xmlns:a16="http://schemas.microsoft.com/office/drawing/2014/main" id="{33F47698-2459-EEE4-09CF-23F570FC44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9356" y="2045547"/>
            <a:ext cx="3766938" cy="279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81839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5AEA7-9C6C-DBCE-6D64-3C387DB36AF5}"/>
            </a:ext>
          </a:extLst>
        </p:cNvPr>
        <p:cNvGrpSpPr/>
        <p:nvPr/>
      </p:nvGrpSpPr>
      <p:grpSpPr>
        <a:xfrm>
          <a:off x="0" y="0"/>
          <a:ext cx="0" cy="0"/>
          <a:chOff x="0" y="0"/>
          <a:chExt cx="0" cy="0"/>
        </a:xfrm>
      </p:grpSpPr>
      <p:sp>
        <p:nvSpPr>
          <p:cNvPr id="5" name="Google Shape;54;p13">
            <a:extLst>
              <a:ext uri="{FF2B5EF4-FFF2-40B4-BE49-F238E27FC236}">
                <a16:creationId xmlns:a16="http://schemas.microsoft.com/office/drawing/2014/main" id="{8CD086CD-B1A1-2A38-A51F-E2E4D9402BCF}"/>
              </a:ext>
            </a:extLst>
          </p:cNvPr>
          <p:cNvSpPr/>
          <p:nvPr/>
        </p:nvSpPr>
        <p:spPr>
          <a:xfrm>
            <a:off x="0" y="170019"/>
            <a:ext cx="9144000" cy="934034"/>
          </a:xfrm>
          <a:prstGeom prst="rect">
            <a:avLst/>
          </a:prstGeom>
          <a:solidFill>
            <a:srgbClr val="B6D7A8">
              <a:alpha val="61961"/>
            </a:srgbClr>
          </a:solidFill>
          <a:ln>
            <a:noFill/>
          </a:ln>
          <a:effectLst>
            <a:outerShdw blurRad="57150" dist="19050" dir="5400000" algn="bl" rotWithShape="0">
              <a:srgbClr val="000000">
                <a:alpha val="50000"/>
              </a:srgbClr>
            </a:outerShdw>
            <a:reflection endPos="30000" dist="38100" dir="5400000" fadeDir="5400012" sy="-100000" algn="bl" rotWithShape="0"/>
          </a:effectLst>
        </p:spPr>
        <p:txBody>
          <a:bodyPr spcFirstLastPara="1" wrap="square" lIns="91425" tIns="91425" rIns="91425" bIns="91425" anchor="ctr" anchorCtr="0">
            <a:noAutofit/>
          </a:bodyPr>
          <a:lstStyle/>
          <a:p>
            <a:pPr lvl="0" algn="ctr"/>
            <a:r>
              <a:rPr lang="ru-RU" sz="1800" b="1"/>
              <a:t>Итоги лекции</a:t>
            </a:r>
            <a:endParaRPr lang="ru-RU" sz="1800" b="1" dirty="0"/>
          </a:p>
        </p:txBody>
      </p:sp>
      <p:sp>
        <p:nvSpPr>
          <p:cNvPr id="4" name="TextBox 3">
            <a:extLst>
              <a:ext uri="{FF2B5EF4-FFF2-40B4-BE49-F238E27FC236}">
                <a16:creationId xmlns:a16="http://schemas.microsoft.com/office/drawing/2014/main" id="{CE27CCA0-C0D7-B917-F82F-C863354CABD4}"/>
              </a:ext>
            </a:extLst>
          </p:cNvPr>
          <p:cNvSpPr txBox="1"/>
          <p:nvPr/>
        </p:nvSpPr>
        <p:spPr>
          <a:xfrm>
            <a:off x="508000" y="1480397"/>
            <a:ext cx="5845387" cy="2893100"/>
          </a:xfrm>
          <a:prstGeom prst="rect">
            <a:avLst/>
          </a:prstGeom>
          <a:noFill/>
        </p:spPr>
        <p:txBody>
          <a:bodyPr wrap="square">
            <a:spAutoFit/>
          </a:bodyPr>
          <a:lstStyle/>
          <a:p>
            <a:r>
              <a:rPr lang="ru-RU" dirty="0"/>
              <a:t>Описанная система управления памятью является совокупностью программно-технических средств, обеспечивающих производительное функционирование современных компьютеров. Успех реализации той части ОС, которая относится к управлению виртуальной памятью, определяется близостью архитектуры аппаратных средств, поддерживающих виртуальную память, к абстрактной модели виртуальной памяти ОС. Справедливости ради заметим, что в подавляющем большинстве современных компьютеров аппаратура выполняет функции, существенно превышающие потребности модели ОС, так что создание аппаратно-зависимой части подсистемы управления виртуальной памятью ОС в большинстве случаев не является чрезмерно сложной задачей. </a:t>
            </a:r>
          </a:p>
        </p:txBody>
      </p:sp>
    </p:spTree>
    <p:extLst>
      <p:ext uri="{BB962C8B-B14F-4D97-AF65-F5344CB8AC3E}">
        <p14:creationId xmlns:p14="http://schemas.microsoft.com/office/powerpoint/2010/main" val="1303558514"/>
      </p:ext>
    </p:extLst>
  </p:cSld>
  <p:clrMapOvr>
    <a:masterClrMapping/>
  </p:clrMapOvr>
  <p:transition spd="slow">
    <p:push dir="u"/>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7662</TotalTime>
  <Words>2085</Words>
  <Application>Microsoft Office PowerPoint</Application>
  <PresentationFormat>Экран (16:9)</PresentationFormat>
  <Paragraphs>115</Paragraphs>
  <Slides>18</Slides>
  <Notes>1</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18</vt:i4>
      </vt:variant>
    </vt:vector>
  </HeadingPairs>
  <TitlesOfParts>
    <vt:vector size="21" baseType="lpstr">
      <vt:lpstr>Arial</vt:lpstr>
      <vt:lpstr>Comfortaa Medium</vt:lpstr>
      <vt:lpstr>Simple Light</vt:lpstr>
      <vt:lpstr>Аппаратно­независимый уровень управления виртуальной памятью</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Безопасность операционных систем, системное программирование</dc:title>
  <cp:lastModifiedBy>Pavel Shevelkov</cp:lastModifiedBy>
  <cp:revision>28</cp:revision>
  <dcterms:modified xsi:type="dcterms:W3CDTF">2026-03-22T17:26:36Z</dcterms:modified>
</cp:coreProperties>
</file>
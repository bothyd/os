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8" r:id="rId2"/>
    <p:sldId id="271" r:id="rId3"/>
    <p:sldId id="259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61" r:id="rId17"/>
  </p:sldIdLst>
  <p:sldSz cx="9144000" cy="5143500" type="screen16x9"/>
  <p:notesSz cx="6858000" cy="9144000"/>
  <p:embeddedFontLst>
    <p:embeddedFont>
      <p:font typeface="Comfortaa Medium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C47D"/>
    <a:srgbClr val="B6D7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83"/>
    <p:restoredTop sz="94660"/>
  </p:normalViewPr>
  <p:slideViewPr>
    <p:cSldViewPr snapToGrid="0">
      <p:cViewPr>
        <p:scale>
          <a:sx n="125" d="100"/>
          <a:sy n="125" d="100"/>
        </p:scale>
        <p:origin x="1416" y="-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34f50e132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34f50e132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slow">
    <p:push dir="u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subTitle" idx="4294967295"/>
          </p:nvPr>
        </p:nvSpPr>
        <p:spPr>
          <a:xfrm>
            <a:off x="4055399" y="1648250"/>
            <a:ext cx="10332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300" dirty="0">
                <a:latin typeface="Comfortaa Medium"/>
                <a:ea typeface="Comfortaa Medium"/>
                <a:cs typeface="Comfortaa Medium"/>
                <a:sym typeface="Comfortaa Medium"/>
              </a:rPr>
              <a:t>Тема </a:t>
            </a:r>
            <a:r>
              <a:rPr lang="en-US" sz="2300" dirty="0">
                <a:latin typeface="Comfortaa Medium"/>
                <a:ea typeface="Comfortaa Medium"/>
                <a:cs typeface="Comfortaa Medium"/>
                <a:sym typeface="Comfortaa Medium"/>
              </a:rPr>
              <a:t>5</a:t>
            </a:r>
            <a:endParaRPr sz="2300" dirty="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12" name="Google Shape;112;p15"/>
          <p:cNvSpPr txBox="1">
            <a:spLocks noGrp="1"/>
          </p:cNvSpPr>
          <p:nvPr>
            <p:ph type="title"/>
          </p:nvPr>
        </p:nvSpPr>
        <p:spPr>
          <a:xfrm>
            <a:off x="2073677" y="1103699"/>
            <a:ext cx="499664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1" dirty="0"/>
              <a:t>Планирование процессов</a:t>
            </a:r>
            <a:endParaRPr lang="ru-RU" dirty="0"/>
          </a:p>
        </p:txBody>
      </p:sp>
      <p:sp>
        <p:nvSpPr>
          <p:cNvPr id="9" name="Google Shape;55;p13">
            <a:extLst>
              <a:ext uri="{FF2B5EF4-FFF2-40B4-BE49-F238E27FC236}">
                <a16:creationId xmlns:a16="http://schemas.microsoft.com/office/drawing/2014/main" id="{B9E0222C-93BA-6446-AB4F-A93CE3CB7494}"/>
              </a:ext>
            </a:extLst>
          </p:cNvPr>
          <p:cNvSpPr/>
          <p:nvPr/>
        </p:nvSpPr>
        <p:spPr>
          <a:xfrm>
            <a:off x="460375" y="2044575"/>
            <a:ext cx="1033200" cy="3098925"/>
          </a:xfrm>
          <a:prstGeom prst="rect">
            <a:avLst/>
          </a:prstGeom>
          <a:solidFill>
            <a:srgbClr val="93C47D">
              <a:alpha val="58039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54;p13">
            <a:extLst>
              <a:ext uri="{FF2B5EF4-FFF2-40B4-BE49-F238E27FC236}">
                <a16:creationId xmlns:a16="http://schemas.microsoft.com/office/drawing/2014/main" id="{1009C77D-1156-8947-9FEF-DCE7A9010FE0}"/>
              </a:ext>
            </a:extLst>
          </p:cNvPr>
          <p:cNvSpPr/>
          <p:nvPr/>
        </p:nvSpPr>
        <p:spPr>
          <a:xfrm>
            <a:off x="0" y="1676400"/>
            <a:ext cx="920750" cy="3467075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55;p13">
            <a:extLst>
              <a:ext uri="{FF2B5EF4-FFF2-40B4-BE49-F238E27FC236}">
                <a16:creationId xmlns:a16="http://schemas.microsoft.com/office/drawing/2014/main" id="{73CC8A6D-3B3C-7B47-9A21-9A4280CB9124}"/>
              </a:ext>
            </a:extLst>
          </p:cNvPr>
          <p:cNvSpPr/>
          <p:nvPr/>
        </p:nvSpPr>
        <p:spPr>
          <a:xfrm flipH="1" flipV="1">
            <a:off x="7650426" y="2044550"/>
            <a:ext cx="1033200" cy="3098924"/>
          </a:xfrm>
          <a:prstGeom prst="rect">
            <a:avLst/>
          </a:prstGeom>
          <a:solidFill>
            <a:srgbClr val="93C47D">
              <a:alpha val="58039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54;p13">
            <a:extLst>
              <a:ext uri="{FF2B5EF4-FFF2-40B4-BE49-F238E27FC236}">
                <a16:creationId xmlns:a16="http://schemas.microsoft.com/office/drawing/2014/main" id="{24FD86A3-3FD5-BD4F-A7AC-E0472CBDA64B}"/>
              </a:ext>
            </a:extLst>
          </p:cNvPr>
          <p:cNvSpPr/>
          <p:nvPr/>
        </p:nvSpPr>
        <p:spPr>
          <a:xfrm flipH="1" flipV="1">
            <a:off x="8227850" y="1676399"/>
            <a:ext cx="920750" cy="3467075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D3607-1631-82D8-7457-05E5C0FD8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E771F027-B27D-C065-FCF6-F234572F096E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Уровни планирования 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A65677A4-6169-0E64-0FB8-6DD395CB64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F558E5-5CDA-C946-2FF3-7EAA089E837E}"/>
              </a:ext>
            </a:extLst>
          </p:cNvPr>
          <p:cNvSpPr txBox="1"/>
          <p:nvPr/>
        </p:nvSpPr>
        <p:spPr>
          <a:xfrm>
            <a:off x="256539" y="1229639"/>
            <a:ext cx="509439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/>
              <a:t>Долгосрочное планирование</a:t>
            </a:r>
            <a:r>
              <a:rPr lang="ru-RU" dirty="0"/>
              <a:t> — это уровень планирования, который решает, какие новые процессы запускать в системе. Оно определяет степень мультипрограммирования (сколько процессов одновременно находится в системе) и выполняется сравнительно редко.</a:t>
            </a:r>
          </a:p>
          <a:p>
            <a:pPr algn="just"/>
            <a:r>
              <a:rPr lang="ru-RU" b="1" dirty="0"/>
              <a:t>Среднесрочное планирование</a:t>
            </a:r>
            <a:r>
              <a:rPr lang="ru-RU" dirty="0"/>
              <a:t> — это уровень, который управляет временным </a:t>
            </a:r>
            <a:r>
              <a:rPr lang="ru-RU" dirty="0" err="1"/>
              <a:t>выгружением</a:t>
            </a:r>
            <a:r>
              <a:rPr lang="ru-RU" dirty="0"/>
              <a:t> процессов из оперативной памяти на диск (свопингом) и их возвратом обратно. Его задача — оптимизировать загрузку памяти и повысить производительность системы.</a:t>
            </a:r>
          </a:p>
          <a:p>
            <a:pPr algn="just"/>
            <a:r>
              <a:rPr lang="ru-RU" b="1" dirty="0"/>
              <a:t>Краткосрочное планирование</a:t>
            </a:r>
            <a:r>
              <a:rPr lang="ru-RU" dirty="0"/>
              <a:t> — это уровень, который выбирает из готовых процессов тот, который получит процессор и будет выполняться следующим. Оно выполняется очень часто — обычно каждые десятки или сотни миллисекунд.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2E9115D-E786-BCB2-0977-3FDD1E20CB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425"/>
          <a:stretch>
            <a:fillRect/>
          </a:stretch>
        </p:blipFill>
        <p:spPr>
          <a:xfrm>
            <a:off x="5475393" y="1256309"/>
            <a:ext cx="3429000" cy="388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41854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C31F715F-EBDD-0A4D-AE11-8C32CE4B05E5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Критерии планирования и требования к алгоритмам </a:t>
            </a:r>
          </a:p>
        </p:txBody>
      </p: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8C332681-2AFC-BC16-2092-5A6536ACA08C}"/>
              </a:ext>
            </a:extLst>
          </p:cNvPr>
          <p:cNvSpPr txBox="1"/>
          <p:nvPr/>
        </p:nvSpPr>
        <p:spPr>
          <a:xfrm>
            <a:off x="393474" y="1367268"/>
            <a:ext cx="8357052" cy="32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2" indent="-285750" algn="just">
              <a:buFont typeface="Arial" panose="020B0604020202020204" pitchFamily="34" charset="0"/>
              <a:buChar char="•"/>
            </a:pPr>
            <a:r>
              <a:rPr lang="ru-RU" b="1" dirty="0"/>
              <a:t>Справедливость</a:t>
            </a:r>
            <a:r>
              <a:rPr lang="ru-RU" dirty="0"/>
              <a:t> – гарантировать каждому заданию или процессу определенную часть времени использования процессора в компьютерной системе, стараясь не допустить возникновения ситуации, когда процесс одного пользователя постоянно занимает процессор, в то время как процесс другого пользователя фактически не начинал выполняться. </a:t>
            </a:r>
            <a:endParaRPr lang="en-US" dirty="0"/>
          </a:p>
          <a:p>
            <a:pPr marL="285750" lvl="2" indent="-285750" algn="just">
              <a:buFont typeface="Arial" panose="020B0604020202020204" pitchFamily="34" charset="0"/>
              <a:buChar char="•"/>
            </a:pPr>
            <a:r>
              <a:rPr lang="ru-RU" b="1" dirty="0"/>
              <a:t>Эффективность</a:t>
            </a:r>
            <a:r>
              <a:rPr lang="ru-RU" dirty="0"/>
              <a:t> – постараться занять процессор на все 100% рабочего времени, не позволяя ему простаивать в ожидании процессов, готовых к исполнению. В реальных вычислительных системах загрузка процессора колеблется от 40 до 90%. </a:t>
            </a:r>
            <a:endParaRPr lang="en-US" dirty="0"/>
          </a:p>
          <a:p>
            <a:pPr marL="285750" lvl="2" indent="-285750" algn="just">
              <a:buFont typeface="Arial" panose="020B0604020202020204" pitchFamily="34" charset="0"/>
              <a:buChar char="•"/>
            </a:pPr>
            <a:r>
              <a:rPr lang="ru-RU" b="1" dirty="0"/>
              <a:t>Сокращение полного времени выполнения </a:t>
            </a:r>
            <a:r>
              <a:rPr lang="ru-RU" dirty="0"/>
              <a:t>(</a:t>
            </a:r>
            <a:r>
              <a:rPr lang="ru-RU" dirty="0" err="1"/>
              <a:t>turnaround</a:t>
            </a:r>
            <a:r>
              <a:rPr lang="ru-RU" dirty="0"/>
              <a:t> </a:t>
            </a:r>
            <a:r>
              <a:rPr lang="ru-RU" dirty="0" err="1"/>
              <a:t>time</a:t>
            </a:r>
            <a:r>
              <a:rPr lang="ru-RU" dirty="0"/>
              <a:t>) – обеспечить минимальное время между стартом процесса или постановкой задания в очередь для загрузки и его завершением.</a:t>
            </a:r>
            <a:endParaRPr lang="en-US" dirty="0"/>
          </a:p>
          <a:p>
            <a:pPr marL="285750" lvl="2" indent="-285750" algn="just">
              <a:buFont typeface="Arial" panose="020B0604020202020204" pitchFamily="34" charset="0"/>
              <a:buChar char="•"/>
            </a:pPr>
            <a:r>
              <a:rPr lang="ru-RU" b="1" dirty="0"/>
              <a:t>Сокращение времени ожидания </a:t>
            </a:r>
            <a:r>
              <a:rPr lang="ru-RU" dirty="0"/>
              <a:t>(</a:t>
            </a:r>
            <a:r>
              <a:rPr lang="ru-RU" dirty="0" err="1"/>
              <a:t>waiting</a:t>
            </a:r>
            <a:r>
              <a:rPr lang="ru-RU" dirty="0"/>
              <a:t> </a:t>
            </a:r>
            <a:r>
              <a:rPr lang="ru-RU" dirty="0" err="1"/>
              <a:t>time</a:t>
            </a:r>
            <a:r>
              <a:rPr lang="ru-RU" dirty="0"/>
              <a:t>) – сократить время, которое проводят процессы в состоянии готовность и задания в очереди для загрузки. </a:t>
            </a:r>
            <a:endParaRPr lang="en-US" dirty="0"/>
          </a:p>
          <a:p>
            <a:pPr marL="285750" lvl="2" indent="-285750" algn="just">
              <a:buFont typeface="Arial" panose="020B0604020202020204" pitchFamily="34" charset="0"/>
              <a:buChar char="•"/>
            </a:pPr>
            <a:r>
              <a:rPr lang="ru-RU" b="1" dirty="0"/>
              <a:t>Сокращение времени отклика </a:t>
            </a:r>
            <a:r>
              <a:rPr lang="ru-RU" dirty="0"/>
              <a:t>(</a:t>
            </a:r>
            <a:r>
              <a:rPr lang="ru-RU" dirty="0" err="1"/>
              <a:t>response</a:t>
            </a:r>
            <a:r>
              <a:rPr lang="ru-RU" dirty="0"/>
              <a:t> </a:t>
            </a:r>
            <a:r>
              <a:rPr lang="ru-RU" dirty="0" err="1"/>
              <a:t>time</a:t>
            </a:r>
            <a:r>
              <a:rPr lang="ru-RU" dirty="0"/>
              <a:t>) – минимизировать время, которое требуется процессу в интерактивных системах для ответа на запрос пользователя. </a:t>
            </a:r>
            <a:endParaRPr lang="en" b="0" i="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625501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17872-E200-CF1C-0342-82789D57F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27B1480C-50D8-89FF-9EA3-FFAE47B3E455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Свойства алгоритмов планирования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0703E22E-B8A1-CE68-211C-BAC80446BD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188322-9FE8-69A5-1A0F-4781236AC7DC}"/>
              </a:ext>
            </a:extLst>
          </p:cNvPr>
          <p:cNvSpPr txBox="1"/>
          <p:nvPr/>
        </p:nvSpPr>
        <p:spPr>
          <a:xfrm>
            <a:off x="4572000" y="1793519"/>
            <a:ext cx="44983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/>
              <a:t>• Предсказуемость</a:t>
            </a:r>
          </a:p>
          <a:p>
            <a:pPr algn="just"/>
            <a:endParaRPr lang="ru-RU" sz="1600" dirty="0"/>
          </a:p>
          <a:p>
            <a:r>
              <a:rPr lang="ru-RU" sz="1600" dirty="0"/>
              <a:t>• Минимальные накладные расходы</a:t>
            </a:r>
          </a:p>
          <a:p>
            <a:pPr algn="just"/>
            <a:endParaRPr lang="ru-RU" sz="1600" dirty="0"/>
          </a:p>
          <a:p>
            <a:r>
              <a:rPr lang="ru-RU" sz="1600" dirty="0"/>
              <a:t>• Равномерная загрузка ресурсов вычислительной системы</a:t>
            </a:r>
          </a:p>
          <a:p>
            <a:endParaRPr lang="ru-RU" sz="1600" dirty="0"/>
          </a:p>
          <a:p>
            <a:r>
              <a:rPr lang="ru-RU" sz="1600" dirty="0"/>
              <a:t>• Масштабируемость</a:t>
            </a:r>
          </a:p>
          <a:p>
            <a:pPr algn="just"/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86622902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9B5B5-0332-98D8-2884-BC2602B1D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B43A971C-B2B2-F2D0-E74F-D2C8209AEB49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Параметры планирования 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FAC8297A-D493-8B22-415D-1670D64A6D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4C086C-BD01-9F69-0CE3-C3616DE2D7CA}"/>
              </a:ext>
            </a:extLst>
          </p:cNvPr>
          <p:cNvSpPr txBox="1"/>
          <p:nvPr/>
        </p:nvSpPr>
        <p:spPr>
          <a:xfrm>
            <a:off x="464820" y="1248311"/>
            <a:ext cx="44983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/>
              <a:t> </a:t>
            </a:r>
            <a:r>
              <a:rPr lang="ru-RU" sz="1600" b="1" dirty="0"/>
              <a:t>Статические параметры </a:t>
            </a:r>
            <a:r>
              <a:rPr lang="ru-RU" sz="1600" dirty="0"/>
              <a:t>не изменяются в ходе функционирования вычислительной системы.</a:t>
            </a:r>
          </a:p>
          <a:p>
            <a:pPr algn="just"/>
            <a:r>
              <a:rPr lang="ru-RU" sz="1600" b="1" dirty="0"/>
              <a:t>Динамические</a:t>
            </a:r>
            <a:r>
              <a:rPr lang="ru-RU" sz="1600" dirty="0"/>
              <a:t> же, напротив, подвержены постоянным изменениям.</a:t>
            </a:r>
          </a:p>
        </p:txBody>
      </p:sp>
    </p:spTree>
    <p:extLst>
      <p:ext uri="{BB962C8B-B14F-4D97-AF65-F5344CB8AC3E}">
        <p14:creationId xmlns:p14="http://schemas.microsoft.com/office/powerpoint/2010/main" val="139196107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55D43-8FAE-0D9C-9A29-C60E32DC1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99E6813A-62A4-6958-B7A5-60A1D094447B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Динамические параметры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40612761-8354-8727-8CAD-9B8462AECD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BD0776-4B8A-87F8-66CB-A9D665C98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295" y="1363980"/>
            <a:ext cx="2988314" cy="2659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871BF6-6B82-703D-DDF6-9583A6EC5E63}"/>
              </a:ext>
            </a:extLst>
          </p:cNvPr>
          <p:cNvSpPr txBox="1"/>
          <p:nvPr/>
        </p:nvSpPr>
        <p:spPr>
          <a:xfrm>
            <a:off x="5166360" y="4023360"/>
            <a:ext cx="34518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100" b="1" dirty="0"/>
              <a:t>Рис.1 </a:t>
            </a:r>
            <a:r>
              <a:rPr lang="ru-RU" sz="1100" dirty="0"/>
              <a:t>Фрагмент деятельности процесса с выделением промежутков непрерывного использования процессора и ожидания ввода-вывода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88344D-3290-0BA1-1723-3F619EC25CEA}"/>
              </a:ext>
            </a:extLst>
          </p:cNvPr>
          <p:cNvSpPr txBox="1"/>
          <p:nvPr/>
        </p:nvSpPr>
        <p:spPr>
          <a:xfrm>
            <a:off x="457199" y="1363980"/>
            <a:ext cx="418338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Деятельность любого процесса можно представить как последовательность циклов использования процессора и ожидания завершения операций ввода-вывода. Промежуток времени непрерывного использования процессора носит название CPU </a:t>
            </a:r>
            <a:r>
              <a:rPr lang="ru-RU" dirty="0" err="1"/>
              <a:t>burst</a:t>
            </a:r>
            <a:r>
              <a:rPr lang="ru-RU" dirty="0"/>
              <a:t>, а промежуток времени непрерывного ожидания ввода-вывода – I/O </a:t>
            </a:r>
            <a:r>
              <a:rPr lang="ru-RU" dirty="0" err="1"/>
              <a:t>burst</a:t>
            </a:r>
            <a:r>
              <a:rPr lang="ru-RU" dirty="0"/>
              <a:t>. На рисунке 1. показан фрагмент деятельности некоторого процесса на псевдоязыке программирования с выделением указанных промежутков.</a:t>
            </a:r>
          </a:p>
        </p:txBody>
      </p:sp>
    </p:spTree>
    <p:extLst>
      <p:ext uri="{BB962C8B-B14F-4D97-AF65-F5344CB8AC3E}">
        <p14:creationId xmlns:p14="http://schemas.microsoft.com/office/powerpoint/2010/main" val="161527488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5CD5E-2433-7D95-0120-4B995BBF2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04349F81-A32F-E674-9A9A-CE471BC5D1CF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Вытесняющее и </a:t>
            </a:r>
            <a:r>
              <a:rPr lang="ru-RU" sz="1800" b="1" dirty="0" err="1"/>
              <a:t>невытесняющее</a:t>
            </a:r>
            <a:r>
              <a:rPr lang="ru-RU" sz="1800" b="1" dirty="0"/>
              <a:t> планирование 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AA06BDDC-94A8-05C7-1206-003ECCAD55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1558AF-AA45-E477-A74E-56C96923754F}"/>
              </a:ext>
            </a:extLst>
          </p:cNvPr>
          <p:cNvSpPr txBox="1"/>
          <p:nvPr/>
        </p:nvSpPr>
        <p:spPr>
          <a:xfrm>
            <a:off x="457199" y="1363980"/>
            <a:ext cx="824484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Планировщик может принимать решения о выборе для исполнения нового процесса из числа находящихся в состоянии готовность в следующих четырех случаях:</a:t>
            </a:r>
          </a:p>
          <a:p>
            <a:endParaRPr lang="ru-RU" dirty="0"/>
          </a:p>
          <a:p>
            <a:pPr marL="342900" indent="-342900">
              <a:buAutoNum type="arabicPeriod"/>
            </a:pPr>
            <a:r>
              <a:rPr lang="ru-RU" dirty="0"/>
              <a:t>  Когда процесс переводится из состояния исполнение в состояние закончил исполнение. </a:t>
            </a:r>
          </a:p>
          <a:p>
            <a:pPr marL="342900" indent="-342900">
              <a:buAutoNum type="arabicPeriod"/>
            </a:pPr>
            <a:r>
              <a:rPr lang="ru-RU" dirty="0"/>
              <a:t>  Когда процесс переводится из состояния исполнение в состояние ожидание. </a:t>
            </a:r>
          </a:p>
          <a:p>
            <a:pPr marL="342900" indent="-342900">
              <a:buAutoNum type="arabicPeriod"/>
            </a:pPr>
            <a:r>
              <a:rPr lang="ru-RU" dirty="0"/>
              <a:t>  Когда процесс переводится из состояния исполнение в состояние готовность (например, после прерывания от таймера). </a:t>
            </a:r>
          </a:p>
          <a:p>
            <a:pPr marL="342900" indent="-342900">
              <a:buAutoNum type="arabicPeriod"/>
            </a:pPr>
            <a:r>
              <a:rPr lang="ru-RU" dirty="0"/>
              <a:t>  Когда процесс переводится из состояния ожидание в состояние готовность (завершилась операция ввода-вывода или произошло другое событие).</a:t>
            </a:r>
          </a:p>
        </p:txBody>
      </p:sp>
    </p:spTree>
    <p:extLst>
      <p:ext uri="{BB962C8B-B14F-4D97-AF65-F5344CB8AC3E}">
        <p14:creationId xmlns:p14="http://schemas.microsoft.com/office/powerpoint/2010/main" val="418975468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E4166-3F0B-9164-F8E5-A793F0333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7CECFB17-1584-07D7-741C-1EC5DE5B4B48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Алгоритмы планирования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D2967CDF-C979-0497-6BD2-8E921D12B9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A0FA4B-16C6-9867-7D9C-C6D18DDF1322}"/>
              </a:ext>
            </a:extLst>
          </p:cNvPr>
          <p:cNvSpPr txBox="1"/>
          <p:nvPr/>
        </p:nvSpPr>
        <p:spPr>
          <a:xfrm>
            <a:off x="457199" y="1363980"/>
            <a:ext cx="42672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First-Come, First-Served (FCFS) </a:t>
            </a:r>
            <a:r>
              <a:rPr lang="ru-RU" dirty="0"/>
              <a:t>- простейшим алгоритмом планирования является алгоритм, который принято обозначать аббревиатурой FCFS по первым буквам его английского названия – First-</a:t>
            </a:r>
            <a:r>
              <a:rPr lang="ru-RU" dirty="0" err="1"/>
              <a:t>Come</a:t>
            </a:r>
            <a:r>
              <a:rPr lang="ru-RU" dirty="0"/>
              <a:t>, First-</a:t>
            </a:r>
            <a:r>
              <a:rPr lang="ru-RU" dirty="0" err="1"/>
              <a:t>Served</a:t>
            </a:r>
            <a:r>
              <a:rPr lang="ru-RU" dirty="0"/>
              <a:t> (первым пришел, первым обслужен).</a:t>
            </a:r>
          </a:p>
        </p:txBody>
      </p:sp>
      <p:pic>
        <p:nvPicPr>
          <p:cNvPr id="4" name="Рисунок 3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6E0CEC0-3218-278B-14AB-439270D64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580" y="1555607"/>
            <a:ext cx="3647152" cy="738664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чек, линия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5D282DE-DDF1-EB6C-5114-B68D56B15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47" y="2874518"/>
            <a:ext cx="4143953" cy="1810003"/>
          </a:xfrm>
          <a:prstGeom prst="rect">
            <a:avLst/>
          </a:prstGeom>
        </p:spPr>
      </p:pic>
      <p:pic>
        <p:nvPicPr>
          <p:cNvPr id="10" name="Рисунок 9" descr="Изображение выглядит как чек, текст,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E3790F4-9722-CBB9-83EE-3616673DE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2660" y="2884045"/>
            <a:ext cx="4096322" cy="18004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FAF285-FE2A-EEFB-F53D-6F3D2F66E8CE}"/>
              </a:ext>
            </a:extLst>
          </p:cNvPr>
          <p:cNvSpPr txBox="1"/>
          <p:nvPr/>
        </p:nvSpPr>
        <p:spPr>
          <a:xfrm>
            <a:off x="428047" y="4762500"/>
            <a:ext cx="4052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/>
              <a:t>Рис.2 </a:t>
            </a:r>
            <a:r>
              <a:rPr lang="ru-RU" sz="1200" dirty="0"/>
              <a:t>Выполнение процессов при порядке p0,p1,p2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9815E1-3B06-53C6-3628-DBC51F8F2D37}"/>
              </a:ext>
            </a:extLst>
          </p:cNvPr>
          <p:cNvSpPr txBox="1"/>
          <p:nvPr/>
        </p:nvSpPr>
        <p:spPr>
          <a:xfrm>
            <a:off x="4796469" y="4748599"/>
            <a:ext cx="4052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/>
              <a:t>Рис.3 </a:t>
            </a:r>
            <a:r>
              <a:rPr lang="ru-RU" sz="1200" dirty="0"/>
              <a:t>Выполнение процессов при порядке p2, p1, p0 </a:t>
            </a:r>
          </a:p>
        </p:txBody>
      </p:sp>
    </p:spTree>
    <p:extLst>
      <p:ext uri="{BB962C8B-B14F-4D97-AF65-F5344CB8AC3E}">
        <p14:creationId xmlns:p14="http://schemas.microsoft.com/office/powerpoint/2010/main" val="161437048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8F56D-5567-3711-2F2D-A452788D8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D9FEA765-75E8-A445-FE2E-8000C04E95CF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Алгоритмы планирования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2EE6296C-FF91-C8A9-4453-60AD46C132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DADC5-6486-E5EE-1850-11038F624A75}"/>
              </a:ext>
            </a:extLst>
          </p:cNvPr>
          <p:cNvSpPr txBox="1"/>
          <p:nvPr/>
        </p:nvSpPr>
        <p:spPr>
          <a:xfrm>
            <a:off x="457199" y="1363980"/>
            <a:ext cx="426720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Round Robin</a:t>
            </a:r>
            <a:r>
              <a:rPr lang="ru-RU" sz="1200" b="1" dirty="0"/>
              <a:t> - </a:t>
            </a:r>
            <a:r>
              <a:rPr lang="ru-RU" sz="1200" dirty="0"/>
              <a:t>модификация алгоритма </a:t>
            </a:r>
            <a:r>
              <a:rPr lang="en-US" sz="1200" dirty="0"/>
              <a:t>FCFS</a:t>
            </a:r>
            <a:r>
              <a:rPr lang="ru-RU" sz="1200" dirty="0"/>
              <a:t>. По сути дела, это тот же самый алгоритм, только реализованный в режиме вытесняющего планирования. Можно представить себе все множество готовых процессов организованным циклически – процессы сидят на карусели. Карусель вращается так, что каждый процесс находится около процессора небольшой фиксированный квант времени, обычно 10 – 100 миллисекунд (см. рис. 4.). Пока процесс находится рядом с процессором, он получает процессор в свое распоряжение и может исполняться.</a:t>
            </a:r>
            <a:endParaRPr lang="ru-RU" sz="1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E5082F-2723-1CA4-ACC2-1BD64E3DBAF8}"/>
              </a:ext>
            </a:extLst>
          </p:cNvPr>
          <p:cNvSpPr txBox="1"/>
          <p:nvPr/>
        </p:nvSpPr>
        <p:spPr>
          <a:xfrm>
            <a:off x="5593561" y="3433940"/>
            <a:ext cx="2318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/>
              <a:t>Рис.4 </a:t>
            </a:r>
            <a:r>
              <a:rPr lang="ru-RU" sz="1200" dirty="0"/>
              <a:t>Процессы на карусели 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C697A78-EE9B-E40C-358D-4F2328180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023" y="1247000"/>
            <a:ext cx="3867777" cy="2186940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0F4A27D-2DD0-F949-EDDE-0C9EBC3EC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22" y="3710939"/>
            <a:ext cx="3867778" cy="1215588"/>
          </a:xfrm>
          <a:prstGeom prst="rect">
            <a:avLst/>
          </a:prstGeom>
        </p:spPr>
      </p:pic>
      <p:pic>
        <p:nvPicPr>
          <p:cNvPr id="17" name="Рисунок 16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9ECA865-33EA-27EA-50ED-9444A7391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3705580"/>
            <a:ext cx="3835712" cy="120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19303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700E4-650E-A925-F2A8-3E6F7A8E5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78155938-BA10-FF29-518D-E1A390FFAEC5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Алгоритмы планирования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8357F5B2-6B6E-22BE-A871-3485FEBCE8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B7AE1B-97B1-B5FE-0BFC-035BB749ABB3}"/>
              </a:ext>
            </a:extLst>
          </p:cNvPr>
          <p:cNvSpPr txBox="1"/>
          <p:nvPr/>
        </p:nvSpPr>
        <p:spPr>
          <a:xfrm>
            <a:off x="457199" y="1363980"/>
            <a:ext cx="39624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Shortest-Job-First (SJF) </a:t>
            </a:r>
            <a:r>
              <a:rPr lang="ru-RU" sz="1200" b="1" dirty="0"/>
              <a:t>- </a:t>
            </a:r>
            <a:r>
              <a:rPr lang="ru-RU" sz="1200" dirty="0"/>
              <a:t>алгоритм краткосрочного планирования может быть как вытесняющим, так и </a:t>
            </a:r>
            <a:r>
              <a:rPr lang="ru-RU" sz="1200" dirty="0" err="1"/>
              <a:t>невытесняющим</a:t>
            </a:r>
            <a:r>
              <a:rPr lang="ru-RU" sz="1200" dirty="0"/>
              <a:t>. </a:t>
            </a:r>
          </a:p>
          <a:p>
            <a:r>
              <a:rPr lang="ru-RU" sz="1200" dirty="0"/>
              <a:t>- При </a:t>
            </a:r>
            <a:r>
              <a:rPr lang="ru-RU" sz="1200" dirty="0" err="1"/>
              <a:t>невытесняющем</a:t>
            </a:r>
            <a:r>
              <a:rPr lang="ru-RU" sz="1200" dirty="0"/>
              <a:t> SJF-планировании процессор предоставляется избранному процессу на все необходимое ему время, независимо от событий, происходящих в вычислительной системе. </a:t>
            </a:r>
          </a:p>
          <a:p>
            <a:r>
              <a:rPr lang="ru-RU" sz="1200" dirty="0"/>
              <a:t>- При вытесняющем </a:t>
            </a:r>
            <a:r>
              <a:rPr lang="ru-RU" sz="1200" dirty="0" err="1"/>
              <a:t>SJFпланировании</a:t>
            </a:r>
            <a:r>
              <a:rPr lang="ru-RU" sz="1200" dirty="0"/>
              <a:t> учитывается появление новых процессов в очереди готовых к исполнению (из числа вновь родившихся или разблокированных) во время работы выбранного процесса. </a:t>
            </a:r>
          </a:p>
          <a:p>
            <a:r>
              <a:rPr lang="ru-RU" sz="1200" dirty="0"/>
              <a:t>- Если CPU </a:t>
            </a:r>
            <a:r>
              <a:rPr lang="ru-RU" sz="1200" dirty="0" err="1"/>
              <a:t>burst</a:t>
            </a:r>
            <a:r>
              <a:rPr lang="ru-RU" sz="1200" dirty="0"/>
              <a:t> нового процесса меньше, чем остаток CPU </a:t>
            </a:r>
            <a:r>
              <a:rPr lang="ru-RU" sz="1200" dirty="0" err="1"/>
              <a:t>burst</a:t>
            </a:r>
            <a:r>
              <a:rPr lang="ru-RU" sz="1200" dirty="0"/>
              <a:t> у исполняющегося, то исполняющийся процесс вытесняется новым</a:t>
            </a:r>
            <a:endParaRPr lang="ru-RU" sz="1200" b="1" dirty="0"/>
          </a:p>
        </p:txBody>
      </p:sp>
      <p:pic>
        <p:nvPicPr>
          <p:cNvPr id="4" name="Рисунок 3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5111EF5-B934-E824-CD68-A49EF4D06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607" y="1363371"/>
            <a:ext cx="4177705" cy="805341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2B321FD-3F3E-4342-EB59-8E98D37BD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52258"/>
            <a:ext cx="4114801" cy="158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01621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548E4-1639-37BA-4435-71A83FBD4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5FEF0B33-6C43-D071-5F93-1A6F9A52F72B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800" b="1" dirty="0"/>
              <a:t>Shortest-Job-First (SJF)</a:t>
            </a:r>
            <a:endParaRPr lang="ru-RU" sz="1800" b="1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3A251490-63F8-9D4E-5B78-D5AEFA5DC9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DCD987E-F9CF-D885-CB13-DAC2430E0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10" y="1238130"/>
            <a:ext cx="6994699" cy="1694251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533E42E-4141-D9D8-E1FE-707402946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10" y="3048000"/>
            <a:ext cx="5210902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0468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2BEDE-11A8-5019-2BCB-BE4F2C868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168C1898-ABFB-A876-F915-43AC07F0D230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Гарантированное планирование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F0032C52-FDDF-FBC9-AD34-28244ABB2F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D27730F-EFAA-F6F8-70A0-418AB3C13F2A}"/>
                  </a:ext>
                </a:extLst>
              </p:cNvPr>
              <p:cNvSpPr txBox="1"/>
              <p:nvPr/>
            </p:nvSpPr>
            <p:spPr>
              <a:xfrm>
                <a:off x="297180" y="1264920"/>
                <a:ext cx="8404860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Для каждого пользователя учитываются две величины:</a:t>
                </a:r>
              </a:p>
              <a:p>
                <a:pPr lvl="2"/>
                <a:r>
                  <a:rPr lang="en-US" b="1" dirty="0"/>
                  <a:t>  </a:t>
                </a:r>
                <a:r>
                  <a:rPr lang="ru-RU" b="1" dirty="0" err="1"/>
                  <a:t>Ti</a:t>
                </a:r>
                <a:r>
                  <a:rPr lang="ru-RU" dirty="0"/>
                  <a:t> — сколько времени он уже находится в системе (длительность его сеанса);</a:t>
                </a:r>
              </a:p>
              <a:p>
                <a:pPr lvl="2"/>
                <a:r>
                  <a:rPr lang="en-US" b="1" dirty="0"/>
                  <a:t>  </a:t>
                </a:r>
                <a:r>
                  <a:rPr lang="ru-RU" b="1" dirty="0" err="1"/>
                  <a:t>τi</a:t>
                </a:r>
                <a:r>
                  <a:rPr lang="ru-RU" dirty="0"/>
                  <a:t> — сколько процессорного времени система уже дала всем его процессам за этот сеанс.</a:t>
                </a:r>
              </a:p>
              <a:p>
                <a:endParaRPr lang="en-US" dirty="0"/>
              </a:p>
              <a:p>
                <a:r>
                  <a:rPr lang="ru-RU" dirty="0"/>
                  <a:t>Если бы всё было идеально справедливо, то пользователь за время </a:t>
                </a:r>
                <a:r>
                  <a:rPr lang="ru-RU" dirty="0" err="1"/>
                  <a:t>Ti</a:t>
                </a:r>
                <a:r>
                  <a:rPr lang="ru-RU" dirty="0"/>
                  <a:t> должен был бы получить примерно </a:t>
                </a:r>
                <a:r>
                  <a:rPr lang="ru-RU" b="1" dirty="0" err="1"/>
                  <a:t>Ti</a:t>
                </a:r>
                <a:r>
                  <a:rPr lang="ru-RU" b="1" dirty="0"/>
                  <a:t> / N</a:t>
                </a:r>
                <a:r>
                  <a:rPr lang="ru-RU" dirty="0"/>
                  <a:t> процессорного времени.</a:t>
                </a:r>
              </a:p>
              <a:p>
                <a:r>
                  <a:rPr lang="ru-RU" dirty="0"/>
                  <a:t>Дальше сравниваем:</a:t>
                </a:r>
              </a:p>
              <a:p>
                <a:pPr lvl="0"/>
                <a:r>
                  <a:rPr lang="ru-RU" dirty="0"/>
                  <a:t>Если </a:t>
                </a:r>
                <a:r>
                  <a:rPr lang="ru-RU" b="1" dirty="0" err="1"/>
                  <a:t>τi</a:t>
                </a:r>
                <a:r>
                  <a:rPr lang="ru-RU" b="1" dirty="0"/>
                  <a:t> намного меньше </a:t>
                </a:r>
                <a:r>
                  <a:rPr lang="ru-RU" b="1" dirty="0" err="1"/>
                  <a:t>Ti</a:t>
                </a:r>
                <a:r>
                  <a:rPr lang="ru-RU" b="1" dirty="0"/>
                  <a:t> / N</a:t>
                </a:r>
                <a:r>
                  <a:rPr lang="ru-RU" dirty="0"/>
                  <a:t>, значит пользователь получил меньше, чем «положено» — система его обделяет.</a:t>
                </a:r>
              </a:p>
              <a:p>
                <a:pPr lvl="0"/>
                <a:r>
                  <a:rPr lang="ru-RU" dirty="0"/>
                  <a:t>Если </a:t>
                </a:r>
                <a:r>
                  <a:rPr lang="ru-RU" b="1" dirty="0" err="1"/>
                  <a:t>τi</a:t>
                </a:r>
                <a:r>
                  <a:rPr lang="ru-RU" b="1" dirty="0"/>
                  <a:t> намного больше </a:t>
                </a:r>
                <a:r>
                  <a:rPr lang="ru-RU" b="1" dirty="0" err="1"/>
                  <a:t>Ti</a:t>
                </a:r>
                <a:r>
                  <a:rPr lang="ru-RU" b="1" dirty="0"/>
                  <a:t> / N</a:t>
                </a:r>
                <a:r>
                  <a:rPr lang="ru-RU" dirty="0"/>
                  <a:t>, значит он уже получил больше своей доли.</a:t>
                </a:r>
                <a:endParaRPr lang="en-US" dirty="0"/>
              </a:p>
              <a:p>
                <a:r>
                  <a:rPr lang="ru-RU" dirty="0"/>
                  <a:t>Чтобы автоматически поддерживать баланс, вводят коэффициент справедливости: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/>
                          </m:ctrlPr>
                        </m:sSubPr>
                        <m:e>
                          <m:r>
                            <a:rPr lang="ru-RU" i="1"/>
                            <m:t>𝜏</m:t>
                          </m:r>
                        </m:e>
                        <m:sub>
                          <m:r>
                            <a:rPr lang="ru-RU" i="1"/>
                            <m:t>𝑖</m:t>
                          </m:r>
                        </m:sub>
                      </m:sSub>
                      <m:r>
                        <a:rPr lang="ru-RU" i="1"/>
                        <m:t>𝑁</m:t>
                      </m:r>
                      <m:r>
                        <a:rPr lang="ru-RU"/>
                        <m:t>/</m:t>
                      </m:r>
                      <m:sSub>
                        <m:sSubPr>
                          <m:ctrlPr>
                            <a:rPr lang="ru-RU" i="1"/>
                          </m:ctrlPr>
                        </m:sSubPr>
                        <m:e>
                          <m:r>
                            <a:rPr lang="ru-RU" i="1"/>
                            <m:t>𝑇</m:t>
                          </m:r>
                        </m:e>
                        <m:sub>
                          <m:r>
                            <a:rPr lang="ru-RU" i="1"/>
                            <m:t>𝑖</m:t>
                          </m:r>
                        </m:sub>
                      </m:sSub>
                    </m:oMath>
                  </m:oMathPara>
                </a14:m>
                <a:br>
                  <a:rPr lang="ru-RU" dirty="0"/>
                </a:br>
                <a:endParaRPr lang="en-US" dirty="0"/>
              </a:p>
              <a:p>
                <a:r>
                  <a:rPr lang="ru-RU" dirty="0"/>
                  <a:t>Алгоритм работает так:</a:t>
                </a:r>
                <a:br>
                  <a:rPr lang="ru-RU" dirty="0"/>
                </a:br>
                <a:r>
                  <a:rPr lang="ru-RU" dirty="0"/>
                  <a:t>процессор получает тот готовый процесс, у которого этот коэффициент </a:t>
                </a:r>
                <a:r>
                  <a:rPr lang="ru-RU" b="1" dirty="0"/>
                  <a:t>минимальный</a:t>
                </a:r>
                <a:r>
                  <a:rPr lang="ru-RU" dirty="0"/>
                  <a:t>.</a:t>
                </a:r>
                <a:br>
                  <a:rPr lang="ru-RU" dirty="0"/>
                </a:br>
                <a:r>
                  <a:rPr lang="ru-RU" dirty="0"/>
                  <a:t>То есть система в первую очередь даёт время тому, кто получил меньше всего относительно своей доли.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D27730F-EFAA-F6F8-70A0-418AB3C13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" y="1264920"/>
                <a:ext cx="8404860" cy="3539430"/>
              </a:xfrm>
              <a:prstGeom prst="rect">
                <a:avLst/>
              </a:prstGeom>
              <a:blipFill>
                <a:blip r:embed="rId2"/>
                <a:stretch>
                  <a:fillRect l="-218" t="-345" b="-8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908036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8167A-C9FD-BDA3-AE7D-AAFFE9108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EADD3C15-ADA1-C067-B02C-C4FF1B57474E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Приоритетное планирование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00EB89E0-497F-B411-8DAE-8DC2EEDD52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652377-5A77-2470-86C8-F1E4A2EE4FD0}"/>
              </a:ext>
            </a:extLst>
          </p:cNvPr>
          <p:cNvSpPr txBox="1"/>
          <p:nvPr/>
        </p:nvSpPr>
        <p:spPr>
          <a:xfrm>
            <a:off x="281940" y="1178462"/>
            <a:ext cx="70789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Приоритетное планирование</a:t>
            </a:r>
            <a:r>
              <a:rPr lang="ru-RU" dirty="0"/>
              <a:t> — это универсальная дисциплина обслуживания, при которой выбор процесса из очереди на исполнение осуществляется на основе присвоенного ему числового значения (</a:t>
            </a:r>
            <a:r>
              <a:rPr lang="ru-RU" b="1" dirty="0"/>
              <a:t>приоритета</a:t>
            </a:r>
            <a:r>
              <a:rPr lang="ru-RU" dirty="0"/>
              <a:t>).</a:t>
            </a:r>
          </a:p>
        </p:txBody>
      </p:sp>
      <p:pic>
        <p:nvPicPr>
          <p:cNvPr id="9" name="Рисунок 8" descr="Изображение выглядит как текст, линия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89032BB-8464-68DA-E74D-A97BFDE86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" y="2030969"/>
            <a:ext cx="5474581" cy="1176356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A9D8B18-0015-8A93-7DB7-92A29866F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" y="3321169"/>
            <a:ext cx="3780447" cy="1250832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1B9F654-746C-76C6-C4B4-7F1F0CED9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2071" y="3321168"/>
            <a:ext cx="3780447" cy="125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98323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A4219-7F5B-273F-349A-E77C6ED6A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01D410C9-4F2A-73A2-D76E-D7EC2A451992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Многоуровневые очереди (</a:t>
            </a:r>
            <a:r>
              <a:rPr lang="en-US" sz="1800" b="1" dirty="0"/>
              <a:t>Multilevel Queue)</a:t>
            </a:r>
            <a:endParaRPr lang="ru-RU" sz="1800" b="1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70F1A1EF-31B8-DD61-47B2-A9E1D48804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4E4AFE-791B-ED5E-92FB-A7FAFD35E13B}"/>
              </a:ext>
            </a:extLst>
          </p:cNvPr>
          <p:cNvSpPr txBox="1"/>
          <p:nvPr/>
        </p:nvSpPr>
        <p:spPr>
          <a:xfrm>
            <a:off x="464820" y="1323242"/>
            <a:ext cx="40538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Для систем, в которых процессы могут быть легко рассортированы по разным группам, был разработан другой класс алгоритмов планирования. Для каждой группы процессов создается своя очередь процессов, находящихся в состоянии готовность (см. рис.5). Этим очередям приписываются фиксированные приоритеты.</a:t>
            </a:r>
          </a:p>
        </p:txBody>
      </p:sp>
      <p:pic>
        <p:nvPicPr>
          <p:cNvPr id="4" name="Рисунок 3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00EB90B-CA17-E4A0-D4E3-5BB3F9BD8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088" y="1256434"/>
            <a:ext cx="3467584" cy="28102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940E5C-E8F4-AF37-53F9-95339EF02FA7}"/>
              </a:ext>
            </a:extLst>
          </p:cNvPr>
          <p:cNvSpPr txBox="1"/>
          <p:nvPr/>
        </p:nvSpPr>
        <p:spPr>
          <a:xfrm>
            <a:off x="5127776" y="4066701"/>
            <a:ext cx="3467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/>
              <a:t>Рис.5 </a:t>
            </a:r>
            <a:r>
              <a:rPr lang="ru-RU" sz="1200" dirty="0"/>
              <a:t>Несколько очередей планирования </a:t>
            </a:r>
            <a:endParaRPr lang="ru-RU" sz="1200" b="1" dirty="0"/>
          </a:p>
        </p:txBody>
      </p:sp>
    </p:spTree>
    <p:extLst>
      <p:ext uri="{BB962C8B-B14F-4D97-AF65-F5344CB8AC3E}">
        <p14:creationId xmlns:p14="http://schemas.microsoft.com/office/powerpoint/2010/main" val="3221476565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73DFB-2B30-43E5-7A0D-856DD1D7E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540784A0-A3E2-26EB-CDE3-E3E6D3AC8C41}"/>
              </a:ext>
            </a:extLst>
          </p:cNvPr>
          <p:cNvSpPr/>
          <p:nvPr/>
        </p:nvSpPr>
        <p:spPr>
          <a:xfrm>
            <a:off x="0" y="0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Многоуровневые очереди с обратной связью (</a:t>
            </a:r>
            <a:r>
              <a:rPr lang="ru-RU" sz="1800" b="1" dirty="0" err="1"/>
              <a:t>Multilevel</a:t>
            </a:r>
            <a:r>
              <a:rPr lang="ru-RU" sz="1800" b="1" dirty="0"/>
              <a:t> </a:t>
            </a:r>
            <a:r>
              <a:rPr lang="ru-RU" sz="1800" b="1" dirty="0" err="1"/>
              <a:t>Feedback</a:t>
            </a:r>
            <a:r>
              <a:rPr lang="ru-RU" sz="1800" b="1" dirty="0"/>
              <a:t> </a:t>
            </a:r>
            <a:r>
              <a:rPr lang="ru-RU" sz="1800" b="1" dirty="0" err="1"/>
              <a:t>Queue</a:t>
            </a:r>
            <a:r>
              <a:rPr lang="ru-RU" sz="1800" b="1" dirty="0"/>
              <a:t>)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99932CD2-3A47-5445-C59A-404AF36FE2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F4D51A-764D-5C5C-6853-DFD4E4045431}"/>
              </a:ext>
            </a:extLst>
          </p:cNvPr>
          <p:cNvSpPr txBox="1"/>
          <p:nvPr/>
        </p:nvSpPr>
        <p:spPr>
          <a:xfrm>
            <a:off x="464820" y="1277522"/>
            <a:ext cx="405384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Дальнейшим развитием алгоритма многоуровневых очередей является добавление к нему механизма обратной связи. Здесь процесс не постоянно приписан к определенной очереди, а может мигрировать из одной очереди в другую в зависимости от своего поведения.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D603A9-D3AE-2162-A7FC-CA4A1C0473E6}"/>
              </a:ext>
            </a:extLst>
          </p:cNvPr>
          <p:cNvSpPr txBox="1"/>
          <p:nvPr/>
        </p:nvSpPr>
        <p:spPr>
          <a:xfrm>
            <a:off x="5584976" y="4285302"/>
            <a:ext cx="3467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/>
              <a:t>Рис.6 </a:t>
            </a:r>
            <a:r>
              <a:rPr lang="ru-RU" sz="1200" dirty="0"/>
              <a:t>Схема миграции процессов </a:t>
            </a:r>
            <a:endParaRPr lang="ru-RU" sz="1200" b="1" dirty="0"/>
          </a:p>
        </p:txBody>
      </p:sp>
      <p:pic>
        <p:nvPicPr>
          <p:cNvPr id="8" name="Рисунок 7" descr="Изображение выглядит как текст, чек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10DDBE7-2DA6-3B6B-F35E-3BBA5025B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359" y="959497"/>
            <a:ext cx="3359821" cy="332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728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C31F715F-EBDD-0A4D-AE11-8C32CE4B05E5}"/>
              </a:ext>
            </a:extLst>
          </p:cNvPr>
          <p:cNvSpPr/>
          <p:nvPr/>
        </p:nvSpPr>
        <p:spPr>
          <a:xfrm>
            <a:off x="0" y="972151"/>
            <a:ext cx="9144000" cy="3782729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66;p14">
            <a:extLst>
              <a:ext uri="{FF2B5EF4-FFF2-40B4-BE49-F238E27FC236}">
                <a16:creationId xmlns:a16="http://schemas.microsoft.com/office/drawing/2014/main" id="{CB137288-FB75-A346-BDF9-EE737F5167A2}"/>
              </a:ext>
            </a:extLst>
          </p:cNvPr>
          <p:cNvSpPr txBox="1"/>
          <p:nvPr/>
        </p:nvSpPr>
        <p:spPr>
          <a:xfrm>
            <a:off x="474431" y="972151"/>
            <a:ext cx="8195137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/>
              <a:t>Процессорное время </a:t>
            </a:r>
            <a:r>
              <a:rPr lang="ru-RU" sz="1200" dirty="0"/>
              <a:t>— один из самых ценных и ограниченных ресурсов вычислительной системы. Поскольку одновременно в системе работает множество процессов, необходимо грамотно распределять между ними этот ресурс. Эту задачу решает планирование процессов.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/>
              <a:t>Существует три уровня планирования</a:t>
            </a:r>
            <a:r>
              <a:rPr lang="ru-RU" sz="1200" dirty="0"/>
              <a:t>: долгосрочное, среднесрочное и краткосрочное. Они отличаются тем, как долго их решения влияют на работу системы — от редких стратегических решений до частых и оперативных.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/>
              <a:t>Алгоритмы планирования </a:t>
            </a:r>
            <a:r>
              <a:rPr lang="ru-RU" sz="1200" dirty="0"/>
              <a:t>выбираются в зависимости от целей системы: нужно ли минимизировать время ожидания, обеспечить справедливость между пользователями или повысить отзывчивость. При этом используются как постоянные характеристики процессов, так и динамически изменяющиеся параметры.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/>
              <a:t>Планирование</a:t>
            </a:r>
            <a:r>
              <a:rPr lang="ru-RU" sz="1200" dirty="0"/>
              <a:t> может быть </a:t>
            </a:r>
            <a:r>
              <a:rPr lang="ru-RU" sz="1200" dirty="0" err="1"/>
              <a:t>невытесняющим</a:t>
            </a:r>
            <a:r>
              <a:rPr lang="ru-RU" sz="1200" dirty="0"/>
              <a:t>, когда процесс сам освобождает процессор, или вытесняющим, когда система может принудительно передать процессор другому процессу.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/>
              <a:t>Существуют разные алгоритмы планирования</a:t>
            </a:r>
            <a:r>
              <a:rPr lang="ru-RU" sz="1200" dirty="0"/>
              <a:t>. Простейший — FCFS — прост в реализации, но может быть неэффективным для коротких задач. Более гибкие алгоритмы, такие как RR, лучше подходят для систем разделения времени. Алгоритм SJF минимизирует среднее время ожидания, а гарантированное планирование обеспечивает справедливое распределение процессорного времени между пользователями. Более сложные приоритетные схемы с многоуровневыми очередями позволяют системе адаптироваться к различным типам задач.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dirty="0"/>
              <a:t>В целом</a:t>
            </a:r>
            <a:r>
              <a:rPr lang="ru-RU" sz="1200" dirty="0"/>
              <a:t>, чем сложнее алгоритм планирования, тем более гибкой и адаптивной становится система, но тем выше требования к её реализации.</a:t>
            </a:r>
          </a:p>
          <a:p>
            <a:pPr lvl="2"/>
            <a:endParaRPr lang="en" sz="1200" b="0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64E286-2684-4AB0-DFFC-E78C74A48803}"/>
              </a:ext>
            </a:extLst>
          </p:cNvPr>
          <p:cNvSpPr txBox="1"/>
          <p:nvPr/>
        </p:nvSpPr>
        <p:spPr>
          <a:xfrm>
            <a:off x="541867" y="113981"/>
            <a:ext cx="4632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/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36645456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7472</TotalTime>
  <Words>1221</Words>
  <Application>Microsoft Office PowerPoint</Application>
  <PresentationFormat>Экран (16:9)</PresentationFormat>
  <Paragraphs>73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Comfortaa Medium</vt:lpstr>
      <vt:lpstr>Arial</vt:lpstr>
      <vt:lpstr>Simple Light</vt:lpstr>
      <vt:lpstr>Планирование процессов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Безопасность операционных систем, системное программирование</dc:title>
  <cp:lastModifiedBy>Pavel Shevelkov</cp:lastModifiedBy>
  <cp:revision>6</cp:revision>
  <dcterms:modified xsi:type="dcterms:W3CDTF">2026-03-02T16:54:18Z</dcterms:modified>
</cp:coreProperties>
</file>
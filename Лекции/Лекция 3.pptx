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5143500" type="screen16x9"/>
  <p:notesSz cx="6858000" cy="9144000"/>
  <p:embeddedFontLst>
    <p:embeddedFont>
      <p:font typeface="Comfortaa Medium" panose="020F050202020403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47D"/>
    <a:srgbClr val="B6D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3"/>
    <p:restoredTop sz="94660"/>
  </p:normalViewPr>
  <p:slideViewPr>
    <p:cSldViewPr snapToGrid="0">
      <p:cViewPr varScale="1">
        <p:scale>
          <a:sx n="132" d="100"/>
          <a:sy n="132" d="100"/>
        </p:scale>
        <p:origin x="160" y="5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34f50e132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34f50e132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subTitle" idx="4294967295"/>
          </p:nvPr>
        </p:nvSpPr>
        <p:spPr>
          <a:xfrm>
            <a:off x="4055399" y="1648250"/>
            <a:ext cx="1033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 dirty="0">
                <a:latin typeface="Comfortaa Medium"/>
                <a:ea typeface="Comfortaa Medium"/>
                <a:cs typeface="Comfortaa Medium"/>
                <a:sym typeface="Comfortaa Medium"/>
              </a:rPr>
              <a:t>Тема </a:t>
            </a:r>
            <a:r>
              <a:rPr lang="en-US" sz="2300" dirty="0">
                <a:latin typeface="Comfortaa Medium"/>
                <a:ea typeface="Comfortaa Medium"/>
                <a:cs typeface="Comfortaa Medium"/>
                <a:sym typeface="Comfortaa Medium"/>
              </a:rPr>
              <a:t>3</a:t>
            </a:r>
            <a:endParaRPr sz="2300" dirty="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2073677" y="1103699"/>
            <a:ext cx="49966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Структура файловой системы </a:t>
            </a:r>
            <a:r>
              <a:rPr lang="en" sz="2400" dirty="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Linux</a:t>
            </a:r>
          </a:p>
        </p:txBody>
      </p:sp>
      <p:sp>
        <p:nvSpPr>
          <p:cNvPr id="9" name="Google Shape;55;p13">
            <a:extLst>
              <a:ext uri="{FF2B5EF4-FFF2-40B4-BE49-F238E27FC236}">
                <a16:creationId xmlns:a16="http://schemas.microsoft.com/office/drawing/2014/main" id="{B9E0222C-93BA-6446-AB4F-A93CE3CB7494}"/>
              </a:ext>
            </a:extLst>
          </p:cNvPr>
          <p:cNvSpPr/>
          <p:nvPr/>
        </p:nvSpPr>
        <p:spPr>
          <a:xfrm>
            <a:off x="460375" y="2044575"/>
            <a:ext cx="1033200" cy="3098925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4;p13">
            <a:extLst>
              <a:ext uri="{FF2B5EF4-FFF2-40B4-BE49-F238E27FC236}">
                <a16:creationId xmlns:a16="http://schemas.microsoft.com/office/drawing/2014/main" id="{1009C77D-1156-8947-9FEF-DCE7A9010FE0}"/>
              </a:ext>
            </a:extLst>
          </p:cNvPr>
          <p:cNvSpPr/>
          <p:nvPr/>
        </p:nvSpPr>
        <p:spPr>
          <a:xfrm>
            <a:off x="0" y="1676400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55;p13">
            <a:extLst>
              <a:ext uri="{FF2B5EF4-FFF2-40B4-BE49-F238E27FC236}">
                <a16:creationId xmlns:a16="http://schemas.microsoft.com/office/drawing/2014/main" id="{73CC8A6D-3B3C-7B47-9A21-9A4280CB9124}"/>
              </a:ext>
            </a:extLst>
          </p:cNvPr>
          <p:cNvSpPr/>
          <p:nvPr/>
        </p:nvSpPr>
        <p:spPr>
          <a:xfrm flipH="1" flipV="1">
            <a:off x="7650426" y="2044550"/>
            <a:ext cx="1033200" cy="3098924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54;p13">
            <a:extLst>
              <a:ext uri="{FF2B5EF4-FFF2-40B4-BE49-F238E27FC236}">
                <a16:creationId xmlns:a16="http://schemas.microsoft.com/office/drawing/2014/main" id="{24FD86A3-3FD5-BD4F-A7AC-E0472CBDA64B}"/>
              </a:ext>
            </a:extLst>
          </p:cNvPr>
          <p:cNvSpPr/>
          <p:nvPr/>
        </p:nvSpPr>
        <p:spPr>
          <a:xfrm flipH="1" flipV="1">
            <a:off x="8227850" y="1676399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-1" y="1626499"/>
            <a:ext cx="9144000" cy="1497028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CB137288-FB75-A346-BDF9-EE737F5167A2}"/>
              </a:ext>
            </a:extLst>
          </p:cNvPr>
          <p:cNvSpPr txBox="1"/>
          <p:nvPr/>
        </p:nvSpPr>
        <p:spPr>
          <a:xfrm>
            <a:off x="474430" y="1863304"/>
            <a:ext cx="8195137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sz="2400" b="1" i="0" dirty="0">
                <a:solidFill>
                  <a:srgbClr val="FFFFFF"/>
                </a:solidFill>
                <a:effectLst/>
              </a:rPr>
              <a:t>Файловая система </a:t>
            </a:r>
            <a:r>
              <a:rPr lang="en" sz="2400" b="1" i="0" dirty="0">
                <a:solidFill>
                  <a:srgbClr val="FFFFFF"/>
                </a:solidFill>
                <a:effectLst/>
              </a:rPr>
              <a:t>Linux</a:t>
            </a:r>
            <a:r>
              <a:rPr lang="en" sz="2400" b="0" i="0" dirty="0">
                <a:solidFill>
                  <a:srgbClr val="FFFFFF"/>
                </a:solidFill>
                <a:effectLst/>
              </a:rPr>
              <a:t> 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— 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иерархическая структура каталогов в виде дерева с единым корнем.</a:t>
            </a:r>
          </a:p>
        </p:txBody>
      </p:sp>
    </p:spTree>
    <p:extLst>
      <p:ext uri="{BB962C8B-B14F-4D97-AF65-F5344CB8AC3E}">
        <p14:creationId xmlns:p14="http://schemas.microsoft.com/office/powerpoint/2010/main" val="408625501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1496534"/>
            <a:ext cx="9144000" cy="232469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CB137288-FB75-A346-BDF9-EE737F5167A2}"/>
              </a:ext>
            </a:extLst>
          </p:cNvPr>
          <p:cNvSpPr txBox="1"/>
          <p:nvPr/>
        </p:nvSpPr>
        <p:spPr>
          <a:xfrm>
            <a:off x="474431" y="1496534"/>
            <a:ext cx="8195137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sz="2400" b="1" i="0" dirty="0">
                <a:solidFill>
                  <a:srgbClr val="FFFFFF"/>
                </a:solidFill>
                <a:effectLst/>
              </a:rPr>
              <a:t>Ключевое отличие от </a:t>
            </a:r>
            <a:r>
              <a:rPr lang="en" sz="2400" b="1" i="0" dirty="0">
                <a:solidFill>
                  <a:srgbClr val="FFFFFF"/>
                </a:solidFill>
                <a:effectLst/>
              </a:rPr>
              <a:t>Windows:</a:t>
            </a:r>
          </a:p>
          <a:p>
            <a:pPr algn="l"/>
            <a:r>
              <a:rPr lang="ru-RU" sz="2400" i="0" dirty="0">
                <a:solidFill>
                  <a:schemeClr val="tx1"/>
                </a:solidFill>
                <a:effectLst/>
              </a:rPr>
              <a:t>В </a:t>
            </a:r>
            <a:r>
              <a:rPr lang="en" sz="2400" i="0" dirty="0">
                <a:solidFill>
                  <a:schemeClr val="tx1"/>
                </a:solidFill>
                <a:effectLst/>
              </a:rPr>
              <a:t>Windows </a:t>
            </a:r>
            <a:r>
              <a:rPr lang="ru-RU" sz="2400" i="0" dirty="0">
                <a:solidFill>
                  <a:schemeClr val="tx1"/>
                </a:solidFill>
                <a:effectLst/>
              </a:rPr>
              <a:t>каждый диск имеет собственный корень (</a:t>
            </a:r>
            <a:r>
              <a:rPr lang="en" sz="2400" i="0" dirty="0">
                <a:solidFill>
                  <a:schemeClr val="tx1"/>
                </a:solidFill>
                <a:effectLst/>
              </a:rPr>
              <a:t>C:, D:, E:).</a:t>
            </a:r>
          </a:p>
          <a:p>
            <a:pPr algn="l"/>
            <a:r>
              <a:rPr lang="ru-RU" sz="2400" i="0" dirty="0">
                <a:solidFill>
                  <a:schemeClr val="tx1"/>
                </a:solidFill>
                <a:effectLst/>
              </a:rPr>
              <a:t>В </a:t>
            </a:r>
            <a:r>
              <a:rPr lang="en" sz="2400" i="0" dirty="0">
                <a:solidFill>
                  <a:schemeClr val="tx1"/>
                </a:solidFill>
                <a:effectLst/>
              </a:rPr>
              <a:t>Linux </a:t>
            </a:r>
            <a:r>
              <a:rPr lang="ru-RU" sz="2400" i="0" dirty="0">
                <a:solidFill>
                  <a:schemeClr val="tx1"/>
                </a:solidFill>
                <a:effectLst/>
              </a:rPr>
              <a:t>существует единый корневой каталог — /.</a:t>
            </a:r>
          </a:p>
          <a:p>
            <a:pPr algn="l"/>
            <a:r>
              <a:rPr lang="ru-RU" sz="2400" i="0" dirty="0">
                <a:solidFill>
                  <a:schemeClr val="tx1"/>
                </a:solidFill>
                <a:effectLst/>
              </a:rPr>
              <a:t>Все устройства и разделы подключаются внутрь этого дерева.</a:t>
            </a:r>
          </a:p>
        </p:txBody>
      </p:sp>
    </p:spTree>
    <p:extLst>
      <p:ext uri="{BB962C8B-B14F-4D97-AF65-F5344CB8AC3E}">
        <p14:creationId xmlns:p14="http://schemas.microsoft.com/office/powerpoint/2010/main" val="332516426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972152"/>
            <a:ext cx="9144000" cy="3076910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CB137288-FB75-A346-BDF9-EE737F5167A2}"/>
              </a:ext>
            </a:extLst>
          </p:cNvPr>
          <p:cNvSpPr txBox="1"/>
          <p:nvPr/>
        </p:nvSpPr>
        <p:spPr>
          <a:xfrm>
            <a:off x="474431" y="879406"/>
            <a:ext cx="8195137" cy="326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sz="2000" b="0" i="0" dirty="0">
                <a:solidFill>
                  <a:schemeClr val="tx1"/>
                </a:solidFill>
                <a:effectLst/>
              </a:rPr>
              <a:t>В </a:t>
            </a:r>
            <a:r>
              <a:rPr lang="en" sz="2000" b="0" i="0" dirty="0">
                <a:solidFill>
                  <a:schemeClr val="tx1"/>
                </a:solidFill>
                <a:effectLst/>
              </a:rPr>
              <a:t>Linux </a:t>
            </a:r>
            <a:r>
              <a:rPr lang="ru-RU" sz="2000" b="0" i="0" dirty="0">
                <a:solidFill>
                  <a:schemeClr val="tx1"/>
                </a:solidFill>
                <a:effectLst/>
              </a:rPr>
              <a:t>используется механизм </a:t>
            </a:r>
            <a:r>
              <a:rPr lang="en" sz="2000" b="1" i="0" dirty="0">
                <a:solidFill>
                  <a:schemeClr val="bg1"/>
                </a:solidFill>
                <a:effectLst/>
              </a:rPr>
              <a:t>mount (</a:t>
            </a:r>
            <a:r>
              <a:rPr lang="ru-RU" sz="2000" b="1" i="0" dirty="0">
                <a:solidFill>
                  <a:schemeClr val="bg1"/>
                </a:solidFill>
                <a:effectLst/>
              </a:rPr>
              <a:t>монтирование).</a:t>
            </a:r>
          </a:p>
          <a:p>
            <a:pPr algn="l"/>
            <a:r>
              <a:rPr lang="ru-RU" sz="2000" b="0" i="0" dirty="0">
                <a:solidFill>
                  <a:schemeClr val="tx1"/>
                </a:solidFill>
                <a:effectLst/>
              </a:rPr>
              <a:t>Процесс: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1"/>
                </a:solidFill>
                <a:effectLst/>
              </a:rPr>
              <a:t> Устройство появляется в каталоге /</a:t>
            </a:r>
            <a:r>
              <a:rPr lang="en" sz="2000" b="0" i="0" dirty="0">
                <a:solidFill>
                  <a:schemeClr val="tx1"/>
                </a:solidFill>
                <a:effectLst/>
              </a:rPr>
              <a:t>dev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1"/>
                </a:solidFill>
                <a:effectLst/>
              </a:rPr>
              <a:t> Его необходимо </a:t>
            </a:r>
            <a:r>
              <a:rPr lang="ru-RU" sz="2000" b="0" i="0" dirty="0" err="1">
                <a:solidFill>
                  <a:schemeClr val="bg1"/>
                </a:solidFill>
                <a:effectLst/>
              </a:rPr>
              <a:t>примонтировать</a:t>
            </a:r>
            <a:r>
              <a:rPr lang="ru-RU" sz="2000" b="0" i="0" dirty="0">
                <a:solidFill>
                  <a:schemeClr val="tx1"/>
                </a:solidFill>
                <a:effectLst/>
              </a:rPr>
              <a:t> к директории (точке монтирования)</a:t>
            </a:r>
          </a:p>
          <a:p>
            <a:pPr algn="l"/>
            <a:endParaRPr lang="ru-RU" sz="2000" b="0" i="0" dirty="0">
              <a:solidFill>
                <a:schemeClr val="tx1"/>
              </a:solidFill>
              <a:effectLst/>
            </a:endParaRPr>
          </a:p>
          <a:p>
            <a:pPr algn="l"/>
            <a:r>
              <a:rPr lang="ru-RU" sz="2000" b="0" i="0" dirty="0">
                <a:solidFill>
                  <a:schemeClr val="tx1"/>
                </a:solidFill>
                <a:effectLst/>
              </a:rPr>
              <a:t>Основные точки монтирования: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bg1"/>
                </a:solidFill>
                <a:effectLst/>
              </a:rPr>
              <a:t>/</a:t>
            </a:r>
            <a:r>
              <a:rPr lang="en" sz="2000" b="0" i="0" dirty="0" err="1">
                <a:solidFill>
                  <a:schemeClr val="bg1"/>
                </a:solidFill>
                <a:effectLst/>
              </a:rPr>
              <a:t>mnt</a:t>
            </a:r>
            <a:r>
              <a:rPr lang="en" sz="2000" b="0" i="0" dirty="0">
                <a:solidFill>
                  <a:schemeClr val="bg1"/>
                </a:solidFill>
                <a:effectLst/>
              </a:rPr>
              <a:t> </a:t>
            </a:r>
            <a:r>
              <a:rPr lang="en" sz="2000" b="0" i="0" dirty="0">
                <a:solidFill>
                  <a:schemeClr val="tx1"/>
                </a:solidFill>
                <a:effectLst/>
              </a:rPr>
              <a:t>— </a:t>
            </a:r>
            <a:r>
              <a:rPr lang="ru-RU" sz="2000" b="0" i="0" dirty="0">
                <a:solidFill>
                  <a:schemeClr val="tx1"/>
                </a:solidFill>
                <a:effectLst/>
              </a:rPr>
              <a:t>временное монтирование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bg1"/>
                </a:solidFill>
                <a:effectLst/>
              </a:rPr>
              <a:t>/</a:t>
            </a:r>
            <a:r>
              <a:rPr lang="en" sz="2000" b="0" i="0" dirty="0">
                <a:solidFill>
                  <a:schemeClr val="bg1"/>
                </a:solidFill>
                <a:effectLst/>
              </a:rPr>
              <a:t>media </a:t>
            </a:r>
            <a:r>
              <a:rPr lang="en" sz="2000" b="0" i="0" dirty="0">
                <a:solidFill>
                  <a:schemeClr val="tx1"/>
                </a:solidFill>
                <a:effectLst/>
              </a:rPr>
              <a:t>— </a:t>
            </a:r>
            <a:r>
              <a:rPr lang="ru-RU" sz="2000" b="0" i="0" dirty="0">
                <a:solidFill>
                  <a:schemeClr val="tx1"/>
                </a:solidFill>
                <a:effectLst/>
              </a:rPr>
              <a:t>автоматическое монтирование внешних носителей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tx1"/>
                </a:solidFill>
                <a:effectLst/>
              </a:rPr>
              <a:t>Возможность монтировать в любой каталог (например, </a:t>
            </a:r>
            <a:r>
              <a:rPr lang="ru-RU" sz="2000" b="0" i="0" dirty="0">
                <a:solidFill>
                  <a:schemeClr val="bg1"/>
                </a:solidFill>
                <a:effectLst/>
              </a:rPr>
              <a:t>/</a:t>
            </a:r>
            <a:r>
              <a:rPr lang="en" sz="2000" b="0" i="0" dirty="0">
                <a:solidFill>
                  <a:schemeClr val="bg1"/>
                </a:solidFill>
                <a:effectLst/>
              </a:rPr>
              <a:t>home</a:t>
            </a:r>
            <a:r>
              <a:rPr lang="en" sz="2000" b="0" i="0" dirty="0">
                <a:solidFill>
                  <a:schemeClr val="tx1"/>
                </a:solidFill>
                <a:effectLst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45456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972152"/>
            <a:ext cx="9144000" cy="3076910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CB137288-FB75-A346-BDF9-EE737F5167A2}"/>
              </a:ext>
            </a:extLst>
          </p:cNvPr>
          <p:cNvSpPr txBox="1"/>
          <p:nvPr/>
        </p:nvSpPr>
        <p:spPr>
          <a:xfrm>
            <a:off x="474431" y="1125627"/>
            <a:ext cx="8195137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sz="2400" b="0" i="0" dirty="0">
                <a:solidFill>
                  <a:schemeClr val="bg1"/>
                </a:solidFill>
                <a:effectLst/>
              </a:rPr>
              <a:t>Типы файлов: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 Обычные файлы (данные)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 Директории (файлы со ссылками)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 Файлы устройств (/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dev)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 Процессы (/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proc)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 Системные интерфейсы (/</a:t>
            </a:r>
            <a:r>
              <a:rPr lang="en" sz="2400" b="0" i="0" dirty="0">
                <a:solidFill>
                  <a:schemeClr val="tx1"/>
                </a:solidFill>
                <a:effectLst/>
              </a:rPr>
              <a:t>sys)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 Сокеты, каналы, символьные устройства</a:t>
            </a:r>
          </a:p>
        </p:txBody>
      </p:sp>
    </p:spTree>
    <p:extLst>
      <p:ext uri="{BB962C8B-B14F-4D97-AF65-F5344CB8AC3E}">
        <p14:creationId xmlns:p14="http://schemas.microsoft.com/office/powerpoint/2010/main" val="348975535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972152"/>
            <a:ext cx="9144000" cy="3076910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CB137288-FB75-A346-BDF9-EE737F5167A2}"/>
              </a:ext>
            </a:extLst>
          </p:cNvPr>
          <p:cNvSpPr txBox="1"/>
          <p:nvPr/>
        </p:nvSpPr>
        <p:spPr>
          <a:xfrm>
            <a:off x="474431" y="972152"/>
            <a:ext cx="8195137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sz="2800" b="0" i="0" dirty="0">
                <a:solidFill>
                  <a:schemeClr val="tx1"/>
                </a:solidFill>
                <a:effectLst/>
              </a:rPr>
              <a:t>В </a:t>
            </a:r>
            <a:r>
              <a:rPr lang="en" sz="2800" b="0" i="0" dirty="0">
                <a:solidFill>
                  <a:schemeClr val="tx1"/>
                </a:solidFill>
                <a:effectLst/>
              </a:rPr>
              <a:t>Linux </a:t>
            </a:r>
            <a:r>
              <a:rPr lang="ru-RU" sz="2800" b="0" i="0" dirty="0">
                <a:solidFill>
                  <a:schemeClr val="tx1"/>
                </a:solidFill>
                <a:effectLst/>
              </a:rPr>
              <a:t>файлы программы распределяются по системе: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</a:rPr>
              <a:t>/</a:t>
            </a:r>
            <a:r>
              <a:rPr lang="en" sz="2800" b="0" i="0" dirty="0">
                <a:solidFill>
                  <a:schemeClr val="tx1"/>
                </a:solidFill>
                <a:effectLst/>
              </a:rPr>
              <a:t>bin — </a:t>
            </a:r>
            <a:r>
              <a:rPr lang="ru-RU" sz="2800" b="0" i="0" dirty="0">
                <a:solidFill>
                  <a:schemeClr val="tx1"/>
                </a:solidFill>
                <a:effectLst/>
              </a:rPr>
              <a:t>исполняемые файлы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</a:rPr>
              <a:t>/</a:t>
            </a:r>
            <a:r>
              <a:rPr lang="en" sz="2800" b="0" i="0" dirty="0">
                <a:solidFill>
                  <a:schemeClr val="tx1"/>
                </a:solidFill>
                <a:effectLst/>
              </a:rPr>
              <a:t>lib — </a:t>
            </a:r>
            <a:r>
              <a:rPr lang="ru-RU" sz="2800" b="0" i="0" dirty="0">
                <a:solidFill>
                  <a:schemeClr val="tx1"/>
                </a:solidFill>
                <a:effectLst/>
              </a:rPr>
              <a:t>библиотеки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</a:rPr>
              <a:t>/</a:t>
            </a:r>
            <a:r>
              <a:rPr lang="en" sz="2800" b="0" i="0" dirty="0" err="1">
                <a:solidFill>
                  <a:schemeClr val="tx1"/>
                </a:solidFill>
                <a:effectLst/>
              </a:rPr>
              <a:t>etc</a:t>
            </a:r>
            <a:r>
              <a:rPr lang="en" sz="2800" b="0" i="0" dirty="0">
                <a:solidFill>
                  <a:schemeClr val="tx1"/>
                </a:solidFill>
                <a:effectLst/>
              </a:rPr>
              <a:t> — </a:t>
            </a:r>
            <a:r>
              <a:rPr lang="ru-RU" sz="2800" b="0" i="0" dirty="0">
                <a:solidFill>
                  <a:schemeClr val="tx1"/>
                </a:solidFill>
                <a:effectLst/>
              </a:rPr>
              <a:t>конфигурация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</a:rPr>
              <a:t>/</a:t>
            </a:r>
            <a:r>
              <a:rPr lang="en" sz="2800" b="0" i="0" dirty="0">
                <a:solidFill>
                  <a:schemeClr val="tx1"/>
                </a:solidFill>
                <a:effectLst/>
              </a:rPr>
              <a:t>var — </a:t>
            </a:r>
            <a:r>
              <a:rPr lang="ru-RU" sz="2800" b="0" i="0" dirty="0" err="1">
                <a:solidFill>
                  <a:schemeClr val="tx1"/>
                </a:solidFill>
                <a:effectLst/>
              </a:rPr>
              <a:t>логи</a:t>
            </a:r>
            <a:r>
              <a:rPr lang="ru-RU" sz="2800" b="0" i="0" dirty="0">
                <a:solidFill>
                  <a:schemeClr val="tx1"/>
                </a:solidFill>
                <a:effectLst/>
              </a:rPr>
              <a:t> и кэш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</a:rPr>
              <a:t>/</a:t>
            </a:r>
            <a:r>
              <a:rPr lang="en" sz="2800" b="0" i="0" dirty="0" err="1">
                <a:solidFill>
                  <a:schemeClr val="tx1"/>
                </a:solidFill>
                <a:effectLst/>
              </a:rPr>
              <a:t>usr</a:t>
            </a:r>
            <a:r>
              <a:rPr lang="en" sz="2800" b="0" i="0" dirty="0">
                <a:solidFill>
                  <a:schemeClr val="tx1"/>
                </a:solidFill>
                <a:effectLst/>
              </a:rPr>
              <a:t> — </a:t>
            </a:r>
            <a:r>
              <a:rPr lang="ru-RU" sz="2800" b="0" i="0" dirty="0">
                <a:solidFill>
                  <a:schemeClr val="tx1"/>
                </a:solidFill>
                <a:effectLst/>
              </a:rPr>
              <a:t>пользовательские утилиты</a:t>
            </a:r>
          </a:p>
        </p:txBody>
      </p:sp>
    </p:spTree>
    <p:extLst>
      <p:ext uri="{BB962C8B-B14F-4D97-AF65-F5344CB8AC3E}">
        <p14:creationId xmlns:p14="http://schemas.microsoft.com/office/powerpoint/2010/main" val="122231757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154F69-436A-2443-AA0D-A8C107DD1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026" y="683393"/>
            <a:ext cx="7553476" cy="339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7172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D9126F-7F7B-E84C-BC80-64898A903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94" y="972152"/>
            <a:ext cx="8742210" cy="316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2007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236066-473E-3945-90C5-32D6223BE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38" y="810327"/>
            <a:ext cx="8613924" cy="352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9177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7254</TotalTime>
  <Words>182</Words>
  <Application>Microsoft Macintosh PowerPoint</Application>
  <PresentationFormat>Экран (16:9)</PresentationFormat>
  <Paragraphs>29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Comfortaa Medium</vt:lpstr>
      <vt:lpstr>Arial</vt:lpstr>
      <vt:lpstr>Simple Light</vt:lpstr>
      <vt:lpstr>Структура файловой системы Linux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операционных систем, системное программирование</dc:title>
  <cp:lastModifiedBy>Valeria Kostyl</cp:lastModifiedBy>
  <cp:revision>4</cp:revision>
  <dcterms:modified xsi:type="dcterms:W3CDTF">2026-02-17T12:34:55Z</dcterms:modified>
</cp:coreProperties>
</file>
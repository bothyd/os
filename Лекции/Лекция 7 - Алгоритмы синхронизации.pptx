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8" r:id="rId2"/>
    <p:sldId id="271" r:id="rId3"/>
    <p:sldId id="25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3" r:id="rId14"/>
    <p:sldId id="281" r:id="rId15"/>
    <p:sldId id="284" r:id="rId16"/>
    <p:sldId id="285" r:id="rId17"/>
    <p:sldId id="286" r:id="rId18"/>
    <p:sldId id="282" r:id="rId19"/>
  </p:sldIdLst>
  <p:sldSz cx="9144000" cy="5143500" type="screen16x9"/>
  <p:notesSz cx="6858000" cy="9144000"/>
  <p:embeddedFontLst>
    <p:embeddedFont>
      <p:font typeface="Comfortaa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3"/>
    <p:restoredTop sz="94660"/>
  </p:normalViewPr>
  <p:slideViewPr>
    <p:cSldViewPr snapToGrid="0">
      <p:cViewPr varScale="1">
        <p:scale>
          <a:sx n="83" d="100"/>
          <a:sy n="83" d="100"/>
        </p:scale>
        <p:origin x="102" y="10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62173" y="20445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7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73746" y="1413932"/>
            <a:ext cx="7193280" cy="110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b="1" dirty="0"/>
              <a:t>Алгоритмы синхронизации процессов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347705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Алгоритмы синхронизации процессов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266B5-0788-9AE5-FB08-824210D7D53A}"/>
              </a:ext>
            </a:extLst>
          </p:cNvPr>
          <p:cNvSpPr txBox="1"/>
          <p:nvPr/>
        </p:nvSpPr>
        <p:spPr>
          <a:xfrm>
            <a:off x="663788" y="1387135"/>
            <a:ext cx="48158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Содержание</a:t>
            </a:r>
            <a:r>
              <a:rPr lang="ru-RU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race</a:t>
            </a:r>
            <a:r>
              <a:rPr lang="ru-RU" sz="1600" dirty="0"/>
              <a:t> </a:t>
            </a:r>
            <a:r>
              <a:rPr lang="ru-RU" sz="1600" dirty="0" err="1"/>
              <a:t>condition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критическая секция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алгоритмы синхронизации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аппаратная поддержка взаимоисключения</a:t>
            </a:r>
          </a:p>
          <a:p>
            <a:endParaRPr lang="ru-RU" sz="1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B45124-FCC0-6C58-34A9-CB732EDD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3252441"/>
            <a:ext cx="82792" cy="10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Зачем нужна синхронизация</a:t>
            </a: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8C332681-2AFC-BC16-2092-5A6536ACA08C}"/>
              </a:ext>
            </a:extLst>
          </p:cNvPr>
          <p:cNvSpPr txBox="1"/>
          <p:nvPr/>
        </p:nvSpPr>
        <p:spPr>
          <a:xfrm>
            <a:off x="393474" y="1367268"/>
            <a:ext cx="7095346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600" dirty="0"/>
              <a:t>Для корректного взаимодействия процессов недостаточно только средств связи.</a:t>
            </a:r>
          </a:p>
          <a:p>
            <a:r>
              <a:rPr lang="ru-RU" sz="1600" dirty="0"/>
              <a:t>Необходимо: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согласовывать доступ к общим данным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предотвращать ошибки при параллельном выполнении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достигается с помощью </a:t>
            </a:r>
            <a:r>
              <a:rPr lang="ru-RU" sz="1600" b="1" dirty="0"/>
              <a:t>алгоритмов синхронизации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7872-E200-CF1C-0342-82789D57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7B1480C-50D8-89FF-9EA3-FFAE47B3E45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Активности и атомарные операции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703E22E-B8A1-CE68-211C-BAC80446B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88322-9FE8-69A5-1A0F-4781236AC7DC}"/>
              </a:ext>
            </a:extLst>
          </p:cNvPr>
          <p:cNvSpPr txBox="1"/>
          <p:nvPr/>
        </p:nvSpPr>
        <p:spPr>
          <a:xfrm>
            <a:off x="530507" y="1388962"/>
            <a:ext cx="38890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Активность</a:t>
            </a:r>
            <a:r>
              <a:rPr lang="ru-RU" sz="1600" dirty="0"/>
              <a:t> — последовательность действий для достижения цели.</a:t>
            </a:r>
          </a:p>
          <a:p>
            <a:r>
              <a:rPr lang="ru-RU" sz="1600" dirty="0"/>
              <a:t>Активность состоит из </a:t>
            </a:r>
            <a:r>
              <a:rPr lang="ru-RU" sz="1600" b="1" dirty="0"/>
              <a:t>атомарных операций</a:t>
            </a:r>
            <a:r>
              <a:rPr lang="ru-RU" sz="1600" dirty="0"/>
              <a:t>.</a:t>
            </a:r>
          </a:p>
          <a:p>
            <a:r>
              <a:rPr lang="ru-RU" sz="1600" dirty="0"/>
              <a:t>Атомарная операция: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выполняется как единое целое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не может быть прервана</a:t>
            </a:r>
          </a:p>
          <a:p>
            <a:r>
              <a:rPr lang="ru-RU" sz="1600" dirty="0"/>
              <a:t>Пример активности: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приготовление бутерброда: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отрезать хлеб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намазать масло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положить колбасу</a:t>
            </a:r>
          </a:p>
        </p:txBody>
      </p:sp>
    </p:spTree>
    <p:extLst>
      <p:ext uri="{BB962C8B-B14F-4D97-AF65-F5344CB8AC3E}">
        <p14:creationId xmlns:p14="http://schemas.microsoft.com/office/powerpoint/2010/main" val="866229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B5B5-0332-98D8-2884-BC2602B1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B43A971C-B2B2-F2D0-E74F-D2C8209AEB49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/>
              <a:t>Interleaving (</a:t>
            </a:r>
            <a:r>
              <a:rPr lang="ru-RU" sz="1800" b="1" dirty="0"/>
              <a:t>чередование)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AC8297A-D493-8B22-415D-1670D64A6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C086C-BD01-9F69-0CE3-C3616DE2D7CA}"/>
              </a:ext>
            </a:extLst>
          </p:cNvPr>
          <p:cNvSpPr txBox="1"/>
          <p:nvPr/>
        </p:nvSpPr>
        <p:spPr>
          <a:xfrm>
            <a:off x="232409" y="1317759"/>
            <a:ext cx="86791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При псевдопараллельном выполнении операций происходит чередование (</a:t>
            </a:r>
            <a:r>
              <a:rPr lang="ru-RU" sz="1600" dirty="0" err="1"/>
              <a:t>interleaving</a:t>
            </a:r>
            <a:r>
              <a:rPr lang="ru-RU" sz="1600" dirty="0"/>
              <a:t>).</a:t>
            </a:r>
          </a:p>
          <a:p>
            <a:endParaRPr lang="ru-RU" sz="1600" dirty="0"/>
          </a:p>
          <a:p>
            <a:r>
              <a:rPr lang="ru-RU" sz="1600" dirty="0"/>
              <a:t>Пример:</a:t>
            </a:r>
          </a:p>
          <a:p>
            <a:pPr lvl="3"/>
            <a:r>
              <a:rPr lang="ru-RU" sz="1600" dirty="0"/>
              <a:t>Активность P:</a:t>
            </a:r>
            <a:br>
              <a:rPr lang="ru-RU" sz="1600" dirty="0"/>
            </a:br>
            <a:r>
              <a:rPr lang="ru-RU" sz="1600" dirty="0"/>
              <a:t>	a → b → c</a:t>
            </a:r>
          </a:p>
          <a:p>
            <a:r>
              <a:rPr lang="ru-RU" sz="1600" dirty="0"/>
              <a:t>Активность Q:</a:t>
            </a:r>
            <a:br>
              <a:rPr lang="ru-RU" sz="1600" dirty="0"/>
            </a:br>
            <a:r>
              <a:rPr lang="ru-RU" sz="1600" dirty="0"/>
              <a:t>	d → e → f</a:t>
            </a:r>
          </a:p>
          <a:p>
            <a:r>
              <a:rPr lang="ru-RU" sz="1600" dirty="0"/>
              <a:t>Возможные варианты выполнения: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a b c d e 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a b d c e 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a d b c e 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d e f a b c</a:t>
            </a:r>
          </a:p>
        </p:txBody>
      </p:sp>
    </p:spTree>
    <p:extLst>
      <p:ext uri="{BB962C8B-B14F-4D97-AF65-F5344CB8AC3E}">
        <p14:creationId xmlns:p14="http://schemas.microsoft.com/office/powerpoint/2010/main" val="13919610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5D43-8FAE-0D9C-9A29-C60E32DC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99E6813A-62A4-6958-B7A5-60A1D094447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Детерминированность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0612761-8354-8727-8CAD-9B8462AEC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8344D-3290-0BA1-1723-3F619EC25CEA}"/>
              </a:ext>
            </a:extLst>
          </p:cNvPr>
          <p:cNvSpPr txBox="1"/>
          <p:nvPr/>
        </p:nvSpPr>
        <p:spPr>
          <a:xfrm>
            <a:off x="434049" y="1249799"/>
            <a:ext cx="6499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Детерминированный набор программ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всегда дает одинаковый результат</a:t>
            </a:r>
          </a:p>
          <a:p>
            <a:r>
              <a:rPr lang="ru-RU" sz="1600" b="1" dirty="0"/>
              <a:t>Недетерминированный набор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результат зависит от порядка выполнения операций</a:t>
            </a:r>
          </a:p>
          <a:p>
            <a:r>
              <a:rPr lang="ru-RU" sz="1600" dirty="0"/>
              <a:t>Недетерминированность может привести к ошибкам.</a:t>
            </a:r>
          </a:p>
        </p:txBody>
      </p:sp>
    </p:spTree>
    <p:extLst>
      <p:ext uri="{BB962C8B-B14F-4D97-AF65-F5344CB8AC3E}">
        <p14:creationId xmlns:p14="http://schemas.microsoft.com/office/powerpoint/2010/main" val="16152748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CD5E-2433-7D95-0120-4B995BBF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4349F81-A32F-E674-9A9A-CE471BC5D1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/>
              <a:t>Race Condition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A06BDDC-94A8-05C7-1206-003ECCAD5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558AF-AA45-E477-A74E-56C96923754F}"/>
              </a:ext>
            </a:extLst>
          </p:cNvPr>
          <p:cNvSpPr txBox="1"/>
          <p:nvPr/>
        </p:nvSpPr>
        <p:spPr>
          <a:xfrm>
            <a:off x="457199" y="1363980"/>
            <a:ext cx="82448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Race </a:t>
            </a:r>
            <a:r>
              <a:rPr lang="ru-RU" sz="1600" dirty="0" err="1"/>
              <a:t>condition</a:t>
            </a:r>
            <a:r>
              <a:rPr lang="ru-RU" sz="1600" dirty="0"/>
              <a:t> (состояние гонки)</a:t>
            </a:r>
          </a:p>
          <a:p>
            <a:r>
              <a:rPr lang="ru-RU" sz="1600" dirty="0"/>
              <a:t>возникает, когда: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несколько процессов используют общие данные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результат зависит от порядка выполнения операций</a:t>
            </a:r>
          </a:p>
          <a:p>
            <a:r>
              <a:rPr lang="ru-RU" sz="1600" dirty="0"/>
              <a:t>Процессы состязаются за доступ к ресурсам.</a:t>
            </a:r>
          </a:p>
        </p:txBody>
      </p:sp>
    </p:spTree>
    <p:extLst>
      <p:ext uri="{BB962C8B-B14F-4D97-AF65-F5344CB8AC3E}">
        <p14:creationId xmlns:p14="http://schemas.microsoft.com/office/powerpoint/2010/main" val="41897546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4166-3F0B-9164-F8E5-A793F033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CECFB17-1584-07D7-741C-1EC5DE5B4B48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Условия Бернстайна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2967CDF-C979-0497-6BD2-8E921D12B9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0FA4B-16C6-9867-7D9C-C6D18DDF1322}"/>
              </a:ext>
            </a:extLst>
          </p:cNvPr>
          <p:cNvSpPr txBox="1"/>
          <p:nvPr/>
        </p:nvSpPr>
        <p:spPr>
          <a:xfrm>
            <a:off x="445624" y="1218607"/>
            <a:ext cx="55847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Позволяют определить, можно ли выполнять программы параллельно.</a:t>
            </a:r>
          </a:p>
          <a:p>
            <a:r>
              <a:rPr lang="ru-RU" sz="1600" dirty="0"/>
              <a:t>Обозначения: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R(P) — переменные, которые программа читает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W(P) — переменные, которые программа изменяет</a:t>
            </a:r>
          </a:p>
          <a:p>
            <a:r>
              <a:rPr lang="ru-RU" sz="1600" dirty="0"/>
              <a:t>Параллельное выполнение безопасно, если: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W(P) ∩ W(Q) = ∅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W(P) ∩ R(Q) = ∅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R(P) ∩ W(Q) = ∅</a:t>
            </a:r>
          </a:p>
        </p:txBody>
      </p:sp>
    </p:spTree>
    <p:extLst>
      <p:ext uri="{BB962C8B-B14F-4D97-AF65-F5344CB8AC3E}">
        <p14:creationId xmlns:p14="http://schemas.microsoft.com/office/powerpoint/2010/main" val="16143704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F56D-5567-3711-2F2D-A452788D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9FEA765-75E8-A445-FE2E-8000C04E95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Критическая секция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EE6296C-FF91-C8A9-4453-60AD46C13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DADC5-6486-E5EE-1850-11038F624A75}"/>
              </a:ext>
            </a:extLst>
          </p:cNvPr>
          <p:cNvSpPr txBox="1"/>
          <p:nvPr/>
        </p:nvSpPr>
        <p:spPr>
          <a:xfrm>
            <a:off x="457199" y="1363980"/>
            <a:ext cx="5006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Критическая секция (</a:t>
            </a:r>
            <a:r>
              <a:rPr lang="ru-RU" dirty="0" err="1"/>
              <a:t>critical</a:t>
            </a:r>
            <a:r>
              <a:rPr lang="ru-RU" dirty="0"/>
              <a:t> </a:t>
            </a:r>
            <a:r>
              <a:rPr lang="ru-RU" dirty="0" err="1"/>
              <a:t>section</a:t>
            </a:r>
            <a:r>
              <a:rPr lang="ru-RU" dirty="0"/>
              <a:t>) — участок программы, где происходит доступ к общим ресурсам.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Правило: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каждый момент времени </a:t>
            </a:r>
            <a:r>
              <a:rPr lang="ru-RU" b="1" dirty="0"/>
              <a:t>только один </a:t>
            </a:r>
            <a:r>
              <a:rPr lang="ru-RU" dirty="0"/>
              <a:t>процесс может находиться в критической секции.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Это называется </a:t>
            </a:r>
            <a:r>
              <a:rPr lang="ru-RU" b="1" dirty="0"/>
              <a:t>взаимоисключением</a:t>
            </a:r>
            <a:r>
              <a:rPr lang="ru-RU" dirty="0"/>
              <a:t> (</a:t>
            </a:r>
            <a:r>
              <a:rPr lang="ru-RU" dirty="0" err="1"/>
              <a:t>mutual</a:t>
            </a:r>
            <a:r>
              <a:rPr lang="ru-RU" dirty="0"/>
              <a:t> </a:t>
            </a:r>
            <a:r>
              <a:rPr lang="ru-RU" dirty="0" err="1"/>
              <a:t>exclusion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5119303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00E4-650E-A925-F2A8-3E6F7A8E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8155938-BA10-FF29-518D-E1A390FFAEC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dirty="0"/>
              <a:t>Структура процесса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357F5B2-6B6E-22BE-A871-3485FEBCE8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AE1B-97B1-B5FE-0BFC-035BB749ABB3}"/>
              </a:ext>
            </a:extLst>
          </p:cNvPr>
          <p:cNvSpPr txBox="1"/>
          <p:nvPr/>
        </p:nvSpPr>
        <p:spPr>
          <a:xfrm>
            <a:off x="272004" y="1352405"/>
            <a:ext cx="47282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Структура программы с критической секцией:</a:t>
            </a:r>
          </a:p>
          <a:p>
            <a:endParaRPr lang="ru-RU" sz="1600" dirty="0"/>
          </a:p>
          <a:p>
            <a:r>
              <a:rPr lang="en-US" sz="1600" dirty="0">
                <a:highlight>
                  <a:srgbClr val="C0C0C0"/>
                </a:highlight>
              </a:rPr>
              <a:t>while(condition){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   entry section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   critical section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   exit section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   remainder section</a:t>
            </a:r>
          </a:p>
          <a:p>
            <a:r>
              <a:rPr lang="en-US" sz="1600" dirty="0">
                <a:highlight>
                  <a:srgbClr val="C0C0C0"/>
                </a:highlight>
              </a:rPr>
              <a:t>}</a:t>
            </a:r>
            <a:endParaRPr lang="ru-RU" sz="1600" dirty="0">
              <a:highlight>
                <a:srgbClr val="C0C0C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C4A3D-84FC-3209-37BC-9CDA0AFF8395}"/>
              </a:ext>
            </a:extLst>
          </p:cNvPr>
          <p:cNvSpPr txBox="1"/>
          <p:nvPr/>
        </p:nvSpPr>
        <p:spPr>
          <a:xfrm>
            <a:off x="5332072" y="1400711"/>
            <a:ext cx="3539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/>
              <a:t>Entry</a:t>
            </a:r>
            <a:r>
              <a:rPr lang="ru-RU" sz="1600" b="1" dirty="0"/>
              <a:t> </a:t>
            </a:r>
            <a:r>
              <a:rPr lang="ru-RU" sz="1600" b="1" dirty="0" err="1"/>
              <a:t>section</a:t>
            </a:r>
            <a:r>
              <a:rPr lang="ru-RU" sz="1600" dirty="0"/>
              <a:t> — вход в критическую секцию</a:t>
            </a:r>
            <a:br>
              <a:rPr lang="ru-RU" sz="1600" dirty="0"/>
            </a:br>
            <a:r>
              <a:rPr lang="ru-RU" sz="1600" b="1" dirty="0" err="1"/>
              <a:t>Exit</a:t>
            </a:r>
            <a:r>
              <a:rPr lang="ru-RU" sz="1600" b="1" dirty="0"/>
              <a:t> </a:t>
            </a:r>
            <a:r>
              <a:rPr lang="ru-RU" sz="1600" b="1" dirty="0" err="1"/>
              <a:t>section</a:t>
            </a:r>
            <a:r>
              <a:rPr lang="ru-RU" sz="1600" dirty="0"/>
              <a:t> — выход</a:t>
            </a:r>
            <a:br>
              <a:rPr lang="ru-RU" sz="1600" dirty="0"/>
            </a:br>
            <a:r>
              <a:rPr lang="ru-RU" sz="1600" b="1" dirty="0" err="1"/>
              <a:t>Remainder</a:t>
            </a:r>
            <a:r>
              <a:rPr lang="ru-RU" sz="1600" b="1" dirty="0"/>
              <a:t> </a:t>
            </a:r>
            <a:r>
              <a:rPr lang="ru-RU" sz="1600" b="1" dirty="0" err="1"/>
              <a:t>section</a:t>
            </a:r>
            <a:r>
              <a:rPr lang="ru-RU" sz="1600" dirty="0"/>
              <a:t> — остальная часть программы</a:t>
            </a:r>
            <a:endParaRPr lang="ru-RU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890162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48E4-1639-37BA-4435-71A83FBD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FEF0B33-6C43-D071-5F93-1A6F9A52F72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Требования к алгоритмам синхронизации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A251490-63F8-9D4E-5B78-D5AEFA5DC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52EED-4200-C185-65D8-17648A042FE6}"/>
              </a:ext>
            </a:extLst>
          </p:cNvPr>
          <p:cNvSpPr txBox="1"/>
          <p:nvPr/>
        </p:nvSpPr>
        <p:spPr>
          <a:xfrm>
            <a:off x="347241" y="1385322"/>
            <a:ext cx="64355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Хороший алгоритм должен: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работать без специальных аппаратных команд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не зависеть от скорости процессов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обеспечивать взаимоисключение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обеспечивать прогресс (</a:t>
            </a:r>
            <a:r>
              <a:rPr lang="ru-RU" sz="1600" dirty="0" err="1"/>
              <a:t>progress</a:t>
            </a:r>
            <a:r>
              <a:rPr lang="ru-RU" sz="1600" dirty="0"/>
              <a:t>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600" dirty="0"/>
              <a:t>обеспечивать ограниченное ожидание (</a:t>
            </a:r>
            <a:r>
              <a:rPr lang="ru-RU" sz="1600" dirty="0" err="1"/>
              <a:t>bounded</a:t>
            </a:r>
            <a:r>
              <a:rPr lang="ru-RU" sz="1600" dirty="0"/>
              <a:t> </a:t>
            </a:r>
            <a:r>
              <a:rPr lang="ru-RU" sz="1600" dirty="0" err="1"/>
              <a:t>waiting</a:t>
            </a:r>
            <a:r>
              <a:rPr lang="ru-RU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50468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BEDE-11A8-5019-2BCB-BE4F2C86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68C1898-ABFB-A876-F915-43AC07F0D230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Запрет прерываний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0032C52-FDDF-FBC9-AD34-28244ABB2F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27730F-EFAA-F6F8-70A0-418AB3C13F2A}"/>
              </a:ext>
            </a:extLst>
          </p:cNvPr>
          <p:cNvSpPr txBox="1"/>
          <p:nvPr/>
        </p:nvSpPr>
        <p:spPr>
          <a:xfrm>
            <a:off x="297180" y="1264920"/>
            <a:ext cx="44272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Простой метод:</a:t>
            </a:r>
          </a:p>
          <a:p>
            <a:endParaRPr lang="ru-RU" sz="1600" dirty="0"/>
          </a:p>
          <a:p>
            <a:r>
              <a:rPr lang="ru-RU" sz="1600" dirty="0">
                <a:highlight>
                  <a:srgbClr val="C0C0C0"/>
                </a:highlight>
              </a:rPr>
              <a:t>запретить прерывания</a:t>
            </a:r>
          </a:p>
          <a:p>
            <a:r>
              <a:rPr lang="ru-RU" sz="1600" dirty="0" err="1">
                <a:highlight>
                  <a:srgbClr val="C0C0C0"/>
                </a:highlight>
              </a:rPr>
              <a:t>critical</a:t>
            </a:r>
            <a:r>
              <a:rPr lang="ru-RU" sz="1600" dirty="0">
                <a:highlight>
                  <a:srgbClr val="C0C0C0"/>
                </a:highlight>
              </a:rPr>
              <a:t> </a:t>
            </a:r>
            <a:r>
              <a:rPr lang="ru-RU" sz="1600" dirty="0" err="1">
                <a:highlight>
                  <a:srgbClr val="C0C0C0"/>
                </a:highlight>
              </a:rPr>
              <a:t>section</a:t>
            </a:r>
            <a:endParaRPr lang="ru-RU" sz="1600" dirty="0">
              <a:highlight>
                <a:srgbClr val="C0C0C0"/>
              </a:highlight>
            </a:endParaRPr>
          </a:p>
          <a:p>
            <a:r>
              <a:rPr lang="ru-RU" sz="1600" dirty="0">
                <a:highlight>
                  <a:srgbClr val="C0C0C0"/>
                </a:highlight>
              </a:rPr>
              <a:t>разрешить прерывания</a:t>
            </a:r>
          </a:p>
          <a:p>
            <a:endParaRPr lang="ru-RU" sz="1600" dirty="0">
              <a:highlight>
                <a:srgbClr val="C0C0C0"/>
              </a:highlight>
            </a:endParaRPr>
          </a:p>
          <a:p>
            <a:r>
              <a:rPr lang="ru-RU" sz="1600" b="1" dirty="0"/>
              <a:t>Недостатки: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пользователь может заблокировать систему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применяется только внутри ОС</a:t>
            </a:r>
          </a:p>
        </p:txBody>
      </p:sp>
    </p:spTree>
    <p:extLst>
      <p:ext uri="{BB962C8B-B14F-4D97-AF65-F5344CB8AC3E}">
        <p14:creationId xmlns:p14="http://schemas.microsoft.com/office/powerpoint/2010/main" val="389908036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DB4E-1B46-FE9E-3681-2BDA8C35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81A6E89-E771-38F3-02DF-18CF5E9A4C2D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Переменная-замок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4C9FAC6-E351-B330-3875-EDEBB4A2C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1E9DDC-CD3D-4EF3-E9F7-3E92484A08FB}"/>
              </a:ext>
            </a:extLst>
          </p:cNvPr>
          <p:cNvSpPr txBox="1"/>
          <p:nvPr/>
        </p:nvSpPr>
        <p:spPr>
          <a:xfrm>
            <a:off x="625032" y="1408471"/>
            <a:ext cx="51623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Используется общая переменная:</a:t>
            </a:r>
          </a:p>
          <a:p>
            <a:r>
              <a:rPr lang="en-US" sz="1600" dirty="0">
                <a:highlight>
                  <a:srgbClr val="C0C0C0"/>
                </a:highlight>
              </a:rPr>
              <a:t>lock = 0</a:t>
            </a:r>
            <a:endParaRPr lang="ru-RU" sz="1600" dirty="0">
              <a:highlight>
                <a:srgbClr val="C0C0C0"/>
              </a:highlight>
            </a:endParaRPr>
          </a:p>
          <a:p>
            <a:r>
              <a:rPr lang="ru-RU" sz="1600" dirty="0"/>
              <a:t>Алгоритм:</a:t>
            </a:r>
          </a:p>
          <a:p>
            <a:r>
              <a:rPr lang="en-US" sz="1600" dirty="0">
                <a:highlight>
                  <a:srgbClr val="C0C0C0"/>
                </a:highlight>
              </a:rPr>
              <a:t>while(lock);</a:t>
            </a:r>
          </a:p>
          <a:p>
            <a:r>
              <a:rPr lang="en-US" sz="1600" dirty="0">
                <a:highlight>
                  <a:srgbClr val="C0C0C0"/>
                </a:highlight>
              </a:rPr>
              <a:t>lock = 1;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critical section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>
                <a:highlight>
                  <a:srgbClr val="C0C0C0"/>
                </a:highlight>
              </a:rPr>
              <a:t>lock = 0</a:t>
            </a:r>
            <a:endParaRPr lang="ru-RU" sz="1600" dirty="0">
              <a:highlight>
                <a:srgbClr val="C0C0C0"/>
              </a:highlight>
            </a:endParaRPr>
          </a:p>
          <a:p>
            <a:endParaRPr lang="ru-RU" sz="1600" dirty="0">
              <a:highlight>
                <a:srgbClr val="C0C0C0"/>
              </a:highlight>
            </a:endParaRPr>
          </a:p>
          <a:p>
            <a:r>
              <a:rPr lang="ru-RU" sz="1600" dirty="0"/>
              <a:t>Недостаток: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операции проверки и изменения </a:t>
            </a:r>
            <a:r>
              <a:rPr lang="ru-RU" sz="1600" b="1" dirty="0"/>
              <a:t>не </a:t>
            </a:r>
            <a:r>
              <a:rPr lang="ru-RU" sz="1600" b="1" dirty="0" err="1"/>
              <a:t>атомарны</a:t>
            </a:r>
            <a:r>
              <a:rPr lang="ru-RU" sz="1600" dirty="0"/>
              <a:t>.</a:t>
            </a:r>
            <a:endParaRPr lang="ru-RU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686795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167A-C9FD-BDA3-AE7D-AAFFE910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ADD3C15-ADA1-C067-B02C-C4FF1B57474E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Строгое чередование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0EB89E0-497F-B411-8DAE-8DC2EEDD5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52377-5A77-2470-86C8-F1E4A2EE4FD0}"/>
              </a:ext>
            </a:extLst>
          </p:cNvPr>
          <p:cNvSpPr txBox="1"/>
          <p:nvPr/>
        </p:nvSpPr>
        <p:spPr>
          <a:xfrm>
            <a:off x="586739" y="1388298"/>
            <a:ext cx="62307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Используется переменная </a:t>
            </a:r>
            <a:r>
              <a:rPr lang="en-US" sz="1600" b="1" dirty="0"/>
              <a:t>turn</a:t>
            </a:r>
            <a:r>
              <a:rPr lang="en-US" sz="1600" dirty="0"/>
              <a:t>:</a:t>
            </a:r>
            <a:endParaRPr lang="ru-RU" sz="1600" dirty="0"/>
          </a:p>
          <a:p>
            <a:r>
              <a:rPr lang="en-US" sz="1600" dirty="0">
                <a:highlight>
                  <a:srgbClr val="C0C0C0"/>
                </a:highlight>
              </a:rPr>
              <a:t>shared int turn</a:t>
            </a:r>
            <a:endParaRPr lang="ru-RU" sz="1600" dirty="0">
              <a:highlight>
                <a:srgbClr val="C0C0C0"/>
              </a:highlight>
            </a:endParaRPr>
          </a:p>
          <a:p>
            <a:endParaRPr lang="ru-RU" sz="1600" dirty="0"/>
          </a:p>
          <a:p>
            <a:r>
              <a:rPr lang="ru-RU" sz="1600" dirty="0"/>
              <a:t>Процессы выполняют критическую секцию строго по очереди.</a:t>
            </a:r>
          </a:p>
          <a:p>
            <a:r>
              <a:rPr lang="ru-RU" sz="1600" dirty="0"/>
              <a:t>Недостаток: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нарушается </a:t>
            </a:r>
            <a:r>
              <a:rPr lang="ru-RU" sz="1600" b="1" dirty="0"/>
              <a:t>условие прогресса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4298323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C1B9-B373-FEE1-999E-51BEE8E5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9D31505-B8D1-C0BA-78DF-618E72813889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 Петерсона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6838F2F-DB1E-657E-3968-1A0E562713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583B4-0CB3-7C44-4D27-3D0ADC55DA66}"/>
              </a:ext>
            </a:extLst>
          </p:cNvPr>
          <p:cNvSpPr txBox="1"/>
          <p:nvPr/>
        </p:nvSpPr>
        <p:spPr>
          <a:xfrm>
            <a:off x="586739" y="1388298"/>
            <a:ext cx="62307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Работает для двух процессов.</a:t>
            </a:r>
          </a:p>
          <a:p>
            <a:endParaRPr lang="ru-RU" sz="1600" dirty="0"/>
          </a:p>
          <a:p>
            <a:r>
              <a:rPr lang="ru-RU" sz="1600" dirty="0"/>
              <a:t>Используются: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массив готовности </a:t>
            </a:r>
            <a:r>
              <a:rPr lang="ru-RU" sz="1600" dirty="0" err="1"/>
              <a:t>ready</a:t>
            </a:r>
            <a:r>
              <a:rPr lang="ru-RU" sz="1600" dirty="0"/>
              <a:t>[ 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переменная </a:t>
            </a:r>
            <a:r>
              <a:rPr lang="ru-RU" sz="1600" dirty="0" err="1"/>
              <a:t>turn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Преимущества: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выполняет все требования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обеспечивает взаимоисключение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предотвращает тупики</a:t>
            </a:r>
          </a:p>
        </p:txBody>
      </p:sp>
    </p:spTree>
    <p:extLst>
      <p:ext uri="{BB962C8B-B14F-4D97-AF65-F5344CB8AC3E}">
        <p14:creationId xmlns:p14="http://schemas.microsoft.com/office/powerpoint/2010/main" val="352443171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5A2B-DDC0-CAB8-6CB2-6D5C4878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F205D32-87D9-C805-9423-289FB6BF8FCC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 булочной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A4CFEFD-EA3E-8B96-5D8A-ABB370F2F5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CF777-B24C-DDE9-F5F3-D6C04F08D6EC}"/>
              </a:ext>
            </a:extLst>
          </p:cNvPr>
          <p:cNvSpPr txBox="1"/>
          <p:nvPr/>
        </p:nvSpPr>
        <p:spPr>
          <a:xfrm>
            <a:off x="586739" y="1388298"/>
            <a:ext cx="62307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Алгоритм для n процессов.</a:t>
            </a:r>
          </a:p>
          <a:p>
            <a:endParaRPr lang="ru-RU" dirty="0"/>
          </a:p>
          <a:p>
            <a:r>
              <a:rPr lang="ru-RU" dirty="0"/>
              <a:t>Идея:</a:t>
            </a:r>
          </a:p>
          <a:p>
            <a:r>
              <a:rPr lang="ru-RU" dirty="0"/>
              <a:t>как очередь в булочной.</a:t>
            </a:r>
          </a:p>
          <a:p>
            <a:r>
              <a:rPr lang="ru-RU" dirty="0"/>
              <a:t>Каждый процесс получает номер.</a:t>
            </a:r>
          </a:p>
          <a:p>
            <a:r>
              <a:rPr lang="ru-RU" dirty="0"/>
              <a:t>Процесс с </a:t>
            </a:r>
            <a:r>
              <a:rPr lang="ru-RU" b="1" dirty="0"/>
              <a:t>минимальным номером </a:t>
            </a:r>
            <a:r>
              <a:rPr lang="ru-RU" dirty="0"/>
              <a:t>выполняется первым.</a:t>
            </a:r>
          </a:p>
          <a:p>
            <a:endParaRPr lang="ru-RU" dirty="0"/>
          </a:p>
          <a:p>
            <a:r>
              <a:rPr lang="ru-RU" dirty="0"/>
              <a:t>Используются массивы:</a:t>
            </a:r>
          </a:p>
          <a:p>
            <a:pPr lvl="0"/>
            <a:r>
              <a:rPr lang="ru-RU" b="1" dirty="0" err="1"/>
              <a:t>choosing</a:t>
            </a:r>
            <a:r>
              <a:rPr lang="ru-RU" b="1" dirty="0"/>
              <a:t>[ ]</a:t>
            </a:r>
          </a:p>
          <a:p>
            <a:pPr lvl="0"/>
            <a:r>
              <a:rPr lang="ru-RU" b="1" dirty="0" err="1"/>
              <a:t>number</a:t>
            </a:r>
            <a:r>
              <a:rPr lang="ru-RU" b="1" dirty="0"/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208902200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AE4D-32EC-1415-8AE3-C9946042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87E4C31D-51E6-871C-9C75-9547B8C781BD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Аппаратная поддержка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BCEFA23-1FFD-90FB-0308-843F70F476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27924-CA5D-4889-B6E1-691385970A09}"/>
              </a:ext>
            </a:extLst>
          </p:cNvPr>
          <p:cNvSpPr txBox="1"/>
          <p:nvPr/>
        </p:nvSpPr>
        <p:spPr>
          <a:xfrm>
            <a:off x="586739" y="1388298"/>
            <a:ext cx="623074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Процессоры имеют специальные атомарные команды.</a:t>
            </a:r>
          </a:p>
          <a:p>
            <a:endParaRPr lang="ru-RU" sz="1600" b="1" dirty="0"/>
          </a:p>
          <a:p>
            <a:r>
              <a:rPr lang="ru-RU" sz="1600" b="1" dirty="0"/>
              <a:t>Test-</a:t>
            </a:r>
            <a:r>
              <a:rPr lang="ru-RU" sz="1600" b="1" dirty="0" err="1"/>
              <a:t>and</a:t>
            </a:r>
            <a:r>
              <a:rPr lang="ru-RU" sz="1600" b="1" dirty="0"/>
              <a:t>-</a:t>
            </a:r>
            <a:r>
              <a:rPr lang="ru-RU" sz="1600" b="1" dirty="0" err="1"/>
              <a:t>Set</a:t>
            </a:r>
            <a:endParaRPr lang="ru-RU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проверяет и устанавливает значение переменной.</a:t>
            </a:r>
          </a:p>
          <a:p>
            <a:endParaRPr lang="ru-RU" sz="1600" b="1" dirty="0"/>
          </a:p>
          <a:p>
            <a:r>
              <a:rPr lang="ru-RU" sz="1600" b="1" dirty="0" err="1"/>
              <a:t>Swap</a:t>
            </a:r>
            <a:endParaRPr lang="ru-RU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обменивает значения двух переменных.</a:t>
            </a:r>
          </a:p>
          <a:p>
            <a:endParaRPr lang="ru-RU" sz="1600" dirty="0"/>
          </a:p>
          <a:p>
            <a:r>
              <a:rPr lang="ru-RU" sz="1600" dirty="0"/>
              <a:t>Эти команды позволяют: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упростить алгоритмы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ускорить синхронизацию</a:t>
            </a:r>
          </a:p>
        </p:txBody>
      </p:sp>
    </p:spTree>
    <p:extLst>
      <p:ext uri="{BB962C8B-B14F-4D97-AF65-F5344CB8AC3E}">
        <p14:creationId xmlns:p14="http://schemas.microsoft.com/office/powerpoint/2010/main" val="29486011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4219-7F5B-273F-349A-E77C6ED6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1D410C9-4F2A-73A2-D76E-D7EC2A451992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Заключение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0F1A1EF-31B8-DD61-47B2-A9E1D4880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E4AFE-791B-ED5E-92FB-A7FAFD35E13B}"/>
              </a:ext>
            </a:extLst>
          </p:cNvPr>
          <p:cNvSpPr txBox="1"/>
          <p:nvPr/>
        </p:nvSpPr>
        <p:spPr>
          <a:xfrm>
            <a:off x="464819" y="1323241"/>
            <a:ext cx="79847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Основные понятия синхронизации: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interleaving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race</a:t>
            </a:r>
            <a:r>
              <a:rPr lang="ru-RU" sz="1600" dirty="0"/>
              <a:t> </a:t>
            </a:r>
            <a:r>
              <a:rPr lang="ru-RU" sz="1600" dirty="0" err="1"/>
              <a:t>condition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критическая секция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взаимоисключение</a:t>
            </a:r>
          </a:p>
          <a:p>
            <a:endParaRPr lang="ru-RU" sz="1600" dirty="0"/>
          </a:p>
          <a:p>
            <a:r>
              <a:rPr lang="ru-RU" sz="1600" dirty="0"/>
              <a:t>Основные алгоритмы: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переменная-замок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алгоритм Петерсона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алгоритм булочной</a:t>
            </a:r>
          </a:p>
          <a:p>
            <a:endParaRPr lang="ru-RU" sz="1600" dirty="0"/>
          </a:p>
          <a:p>
            <a:r>
              <a:rPr lang="ru-RU" sz="1600" dirty="0"/>
              <a:t>Аппаратная поддержка (Test-</a:t>
            </a:r>
            <a:r>
              <a:rPr lang="ru-RU" sz="1600" dirty="0" err="1"/>
              <a:t>and</a:t>
            </a:r>
            <a:r>
              <a:rPr lang="ru-RU" sz="1600" dirty="0"/>
              <a:t>-</a:t>
            </a:r>
            <a:r>
              <a:rPr lang="ru-RU" sz="1600" dirty="0" err="1"/>
              <a:t>Set</a:t>
            </a:r>
            <a:r>
              <a:rPr lang="ru-RU" sz="1600" dirty="0"/>
              <a:t>, </a:t>
            </a:r>
            <a:r>
              <a:rPr lang="ru-RU" sz="1600" dirty="0" err="1"/>
              <a:t>Swap</a:t>
            </a:r>
            <a:r>
              <a:rPr lang="ru-RU" sz="1600" dirty="0"/>
              <a:t>) делает синхронизацию более эффективной.</a:t>
            </a:r>
          </a:p>
        </p:txBody>
      </p:sp>
    </p:spTree>
    <p:extLst>
      <p:ext uri="{BB962C8B-B14F-4D97-AF65-F5344CB8AC3E}">
        <p14:creationId xmlns:p14="http://schemas.microsoft.com/office/powerpoint/2010/main" val="32214765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7531</TotalTime>
  <Words>594</Words>
  <Application>Microsoft Office PowerPoint</Application>
  <PresentationFormat>Экран (16:9)</PresentationFormat>
  <Paragraphs>163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Comfortaa Medium</vt:lpstr>
      <vt:lpstr>Arial</vt:lpstr>
      <vt:lpstr>Simple Light</vt:lpstr>
      <vt:lpstr>Алгоритмы синхронизации процессов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12</cp:revision>
  <dcterms:modified xsi:type="dcterms:W3CDTF">2026-03-09T18:34:16Z</dcterms:modified>
</cp:coreProperties>
</file>
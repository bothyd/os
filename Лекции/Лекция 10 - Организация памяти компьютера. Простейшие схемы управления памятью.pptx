
<file path=[Content_Types].xml><?xml version="1.0" encoding="utf-8"?>
<Types xmlns="http://schemas.openxmlformats.org/package/2006/content-types">
  <Default Extension="fntdata" ContentType="application/x-fontdata"/>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20"/>
  </p:notesMasterIdLst>
  <p:sldIdLst>
    <p:sldId id="258" r:id="rId2"/>
    <p:sldId id="271" r:id="rId3"/>
    <p:sldId id="259" r:id="rId4"/>
    <p:sldId id="295" r:id="rId5"/>
    <p:sldId id="298" r:id="rId6"/>
    <p:sldId id="299" r:id="rId7"/>
    <p:sldId id="300" r:id="rId8"/>
    <p:sldId id="301" r:id="rId9"/>
    <p:sldId id="302" r:id="rId10"/>
    <p:sldId id="303" r:id="rId11"/>
    <p:sldId id="304" r:id="rId12"/>
    <p:sldId id="305" r:id="rId13"/>
    <p:sldId id="306" r:id="rId14"/>
    <p:sldId id="307" r:id="rId15"/>
    <p:sldId id="308" r:id="rId16"/>
    <p:sldId id="309" r:id="rId17"/>
    <p:sldId id="310" r:id="rId18"/>
    <p:sldId id="297" r:id="rId19"/>
  </p:sldIdLst>
  <p:sldSz cx="9144000" cy="5143500" type="screen16x9"/>
  <p:notesSz cx="6858000" cy="9144000"/>
  <p:embeddedFontLst>
    <p:embeddedFont>
      <p:font typeface="Comfortaa Medium" panose="020B0604020202020204" charset="0"/>
      <p:regular r:id="rId21"/>
      <p:bold r:id="rId22"/>
      <p:italic r:id="rId23"/>
      <p:boldItalic r:id="rId24"/>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93C47D"/>
    <a:srgbClr val="B6D7A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1783"/>
    <p:restoredTop sz="94660"/>
  </p:normalViewPr>
  <p:slideViewPr>
    <p:cSldViewPr snapToGrid="0">
      <p:cViewPr varScale="1">
        <p:scale>
          <a:sx n="141" d="100"/>
          <a:sy n="141" d="100"/>
        </p:scale>
        <p:origin x="966" y="102"/>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font" Target="fonts/font1.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4.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3.fntdata"/><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2.fntdata"/><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
        <p:cNvGrpSpPr/>
        <p:nvPr/>
      </p:nvGrpSpPr>
      <p:grpSpPr>
        <a:xfrm>
          <a:off x="0" y="0"/>
          <a:ext cx="0" cy="0"/>
          <a:chOff x="0" y="0"/>
          <a:chExt cx="0" cy="0"/>
        </a:xfrm>
      </p:grpSpPr>
      <p:sp>
        <p:nvSpPr>
          <p:cNvPr id="108" name="Google Shape;108;g3934f50e132_1_6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9" name="Google Shape;109;g3934f50e132_1_6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ru"/>
              <a:t>‹#›</a:t>
            </a:fld>
            <a:endParaRPr/>
          </a:p>
        </p:txBody>
      </p:sp>
    </p:spTree>
  </p:cSld>
  <p:clrMapOvr>
    <a:masterClrMapping/>
  </p:clrMapOvr>
  <p:transition spd="slow">
    <p:push dir="u"/>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ru"/>
              <a:t>‹#›</a:t>
            </a:fld>
            <a:endParaRPr/>
          </a:p>
        </p:txBody>
      </p:sp>
    </p:spTree>
  </p:cSld>
  <p:clrMapOvr>
    <a:masterClrMapping/>
  </p:clrMapOvr>
  <p:transition spd="slow">
    <p:push dir="u"/>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ru"/>
              <a:t>‹#›</a:t>
            </a:fld>
            <a:endParaRPr/>
          </a:p>
        </p:txBody>
      </p:sp>
    </p:spTree>
  </p:cSld>
  <p:clrMapOvr>
    <a:masterClrMapping/>
  </p:clrMapOvr>
  <p:transition spd="slow">
    <p:push dir="u"/>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ru"/>
              <a:t>‹#›</a:t>
            </a:fld>
            <a:endParaRPr/>
          </a:p>
        </p:txBody>
      </p:sp>
    </p:spTree>
  </p:cSld>
  <p:clrMapOvr>
    <a:masterClrMapping/>
  </p:clrMapOvr>
  <p:transition spd="slow">
    <p:push dir="u"/>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ru"/>
              <a:t>‹#›</a:t>
            </a:fld>
            <a:endParaRPr/>
          </a:p>
        </p:txBody>
      </p:sp>
    </p:spTree>
  </p:cSld>
  <p:clrMapOvr>
    <a:masterClrMapping/>
  </p:clrMapOvr>
  <p:transition spd="slow">
    <p:push dir="u"/>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ru"/>
              <a:t>‹#›</a:t>
            </a:fld>
            <a:endParaRPr/>
          </a:p>
        </p:txBody>
      </p:sp>
    </p:spTree>
  </p:cSld>
  <p:clrMapOvr>
    <a:masterClrMapping/>
  </p:clrMapOvr>
  <p:transition spd="slow">
    <p:push dir="u"/>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ru"/>
              <a:t>‹#›</a:t>
            </a:fld>
            <a:endParaRPr/>
          </a:p>
        </p:txBody>
      </p:sp>
    </p:spTree>
  </p:cSld>
  <p:clrMapOvr>
    <a:masterClrMapping/>
  </p:clrMapOvr>
  <p:transition spd="slow">
    <p:push dir="u"/>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ru"/>
              <a:t>‹#›</a:t>
            </a:fld>
            <a:endParaRPr/>
          </a:p>
        </p:txBody>
      </p:sp>
    </p:spTree>
  </p:cSld>
  <p:clrMapOvr>
    <a:masterClrMapping/>
  </p:clrMapOvr>
  <p:transition spd="slow">
    <p:push dir="u"/>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ru"/>
              <a:t>‹#›</a:t>
            </a:fld>
            <a:endParaRPr/>
          </a:p>
        </p:txBody>
      </p:sp>
    </p:spTree>
  </p:cSld>
  <p:clrMapOvr>
    <a:masterClrMapping/>
  </p:clrMapOvr>
  <p:transition spd="slow">
    <p:push dir="u"/>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ru"/>
              <a:t>‹#›</a:t>
            </a:fld>
            <a:endParaRPr/>
          </a:p>
        </p:txBody>
      </p:sp>
    </p:spTree>
  </p:cSld>
  <p:clrMapOvr>
    <a:masterClrMapping/>
  </p:clrMapOvr>
  <p:transition spd="slow">
    <p:push dir="u"/>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ru"/>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transition spd="slow">
    <p:push dir="u"/>
  </p:transition>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gif"/><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10"/>
        <p:cNvGrpSpPr/>
        <p:nvPr/>
      </p:nvGrpSpPr>
      <p:grpSpPr>
        <a:xfrm>
          <a:off x="0" y="0"/>
          <a:ext cx="0" cy="0"/>
          <a:chOff x="0" y="0"/>
          <a:chExt cx="0" cy="0"/>
        </a:xfrm>
      </p:grpSpPr>
      <p:sp>
        <p:nvSpPr>
          <p:cNvPr id="111" name="Google Shape;111;p15"/>
          <p:cNvSpPr txBox="1">
            <a:spLocks noGrp="1"/>
          </p:cNvSpPr>
          <p:nvPr>
            <p:ph type="subTitle" idx="4294967295"/>
          </p:nvPr>
        </p:nvSpPr>
        <p:spPr>
          <a:xfrm>
            <a:off x="4062173" y="2044550"/>
            <a:ext cx="1033200" cy="792600"/>
          </a:xfrm>
          <a:prstGeom prst="rect">
            <a:avLst/>
          </a:prstGeom>
        </p:spPr>
        <p:txBody>
          <a:bodyPr spcFirstLastPara="1" wrap="square" lIns="91425" tIns="91425" rIns="91425" bIns="91425" anchor="t" anchorCtr="0">
            <a:normAutofit fontScale="77500" lnSpcReduction="20000"/>
          </a:bodyPr>
          <a:lstStyle/>
          <a:p>
            <a:pPr marL="0" lvl="0" indent="0" algn="l" rtl="0">
              <a:spcBef>
                <a:spcPts val="0"/>
              </a:spcBef>
              <a:spcAft>
                <a:spcPts val="1200"/>
              </a:spcAft>
              <a:buNone/>
            </a:pPr>
            <a:r>
              <a:rPr lang="ru" sz="2300" dirty="0">
                <a:latin typeface="Comfortaa Medium"/>
                <a:ea typeface="Comfortaa Medium"/>
                <a:cs typeface="Comfortaa Medium"/>
                <a:sym typeface="Comfortaa Medium"/>
              </a:rPr>
              <a:t>Тема </a:t>
            </a:r>
            <a:r>
              <a:rPr lang="en-US" sz="2300" dirty="0">
                <a:latin typeface="Comfortaa Medium"/>
                <a:ea typeface="Comfortaa Medium"/>
                <a:cs typeface="Comfortaa Medium"/>
                <a:sym typeface="Comfortaa Medium"/>
              </a:rPr>
              <a:t>10</a:t>
            </a:r>
            <a:endParaRPr sz="2300" dirty="0">
              <a:latin typeface="Comfortaa Medium"/>
              <a:ea typeface="Comfortaa Medium"/>
              <a:cs typeface="Comfortaa Medium"/>
              <a:sym typeface="Comfortaa Medium"/>
            </a:endParaRPr>
          </a:p>
        </p:txBody>
      </p:sp>
      <p:sp>
        <p:nvSpPr>
          <p:cNvPr id="112" name="Google Shape;112;p15"/>
          <p:cNvSpPr txBox="1">
            <a:spLocks noGrp="1"/>
          </p:cNvSpPr>
          <p:nvPr>
            <p:ph type="title"/>
          </p:nvPr>
        </p:nvSpPr>
        <p:spPr>
          <a:xfrm>
            <a:off x="973746" y="1413932"/>
            <a:ext cx="7193280" cy="1107439"/>
          </a:xfrm>
          <a:prstGeom prst="rect">
            <a:avLst/>
          </a:prstGeom>
        </p:spPr>
        <p:txBody>
          <a:bodyPr spcFirstLastPara="1" wrap="square" lIns="91425" tIns="91425" rIns="91425" bIns="91425" anchor="t" anchorCtr="0">
            <a:noAutofit/>
          </a:bodyPr>
          <a:lstStyle/>
          <a:p>
            <a:pPr algn="ctr"/>
            <a:r>
              <a:rPr lang="ru-RU" b="1" dirty="0"/>
              <a:t>Организация памяти компьютера</a:t>
            </a:r>
          </a:p>
        </p:txBody>
      </p:sp>
      <p:sp>
        <p:nvSpPr>
          <p:cNvPr id="9" name="Google Shape;55;p13">
            <a:extLst>
              <a:ext uri="{FF2B5EF4-FFF2-40B4-BE49-F238E27FC236}">
                <a16:creationId xmlns:a16="http://schemas.microsoft.com/office/drawing/2014/main" id="{B9E0222C-93BA-6446-AB4F-A93CE3CB7494}"/>
              </a:ext>
            </a:extLst>
          </p:cNvPr>
          <p:cNvSpPr/>
          <p:nvPr/>
        </p:nvSpPr>
        <p:spPr>
          <a:xfrm>
            <a:off x="460375" y="2044575"/>
            <a:ext cx="1033200" cy="3098925"/>
          </a:xfrm>
          <a:prstGeom prst="rect">
            <a:avLst/>
          </a:prstGeom>
          <a:solidFill>
            <a:srgbClr val="93C47D">
              <a:alpha val="58039"/>
            </a:srgbClr>
          </a:solidFill>
          <a:ln>
            <a:noFill/>
          </a:ln>
          <a:effectLst>
            <a:outerShdw blurRad="57150" dist="19050" dir="5400000" algn="bl" rotWithShape="0">
              <a:srgbClr val="000000">
                <a:alpha val="50000"/>
              </a:srgbClr>
            </a:outerShdw>
            <a:reflection endPos="30000" dist="38100" dir="5400000" fadeDir="5400012" sy="-100000" algn="bl" rotWithShape="0"/>
          </a:effectLst>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0" name="Google Shape;54;p13">
            <a:extLst>
              <a:ext uri="{FF2B5EF4-FFF2-40B4-BE49-F238E27FC236}">
                <a16:creationId xmlns:a16="http://schemas.microsoft.com/office/drawing/2014/main" id="{1009C77D-1156-8947-9FEF-DCE7A9010FE0}"/>
              </a:ext>
            </a:extLst>
          </p:cNvPr>
          <p:cNvSpPr/>
          <p:nvPr/>
        </p:nvSpPr>
        <p:spPr>
          <a:xfrm>
            <a:off x="0" y="1676400"/>
            <a:ext cx="920750" cy="3467075"/>
          </a:xfrm>
          <a:prstGeom prst="rect">
            <a:avLst/>
          </a:prstGeom>
          <a:solidFill>
            <a:srgbClr val="B6D7A8">
              <a:alpha val="61961"/>
            </a:srgbClr>
          </a:solidFill>
          <a:ln>
            <a:noFill/>
          </a:ln>
          <a:effectLst>
            <a:outerShdw blurRad="57150" dist="19050" dir="5400000" algn="bl" rotWithShape="0">
              <a:srgbClr val="000000">
                <a:alpha val="50000"/>
              </a:srgbClr>
            </a:outerShdw>
            <a:reflection endPos="30000" dist="38100" dir="5400000" fadeDir="5400012" sy="-100000" algn="bl" rotWithShape="0"/>
          </a:effectLst>
        </p:spPr>
        <p:txBody>
          <a:bodyPr spcFirstLastPara="1" wrap="square" lIns="91425" tIns="91425" rIns="91425" bIns="91425" anchor="ctr" anchorCtr="0">
            <a:noAutofit/>
          </a:bodyPr>
          <a:lstStyle/>
          <a:p>
            <a:pPr marL="0" lvl="0" indent="0" algn="ctr" rtl="0">
              <a:spcBef>
                <a:spcPts val="0"/>
              </a:spcBef>
              <a:spcAft>
                <a:spcPts val="0"/>
              </a:spcAft>
              <a:buNone/>
            </a:pPr>
            <a:endParaRPr dirty="0"/>
          </a:p>
        </p:txBody>
      </p:sp>
      <p:sp>
        <p:nvSpPr>
          <p:cNvPr id="11" name="Google Shape;55;p13">
            <a:extLst>
              <a:ext uri="{FF2B5EF4-FFF2-40B4-BE49-F238E27FC236}">
                <a16:creationId xmlns:a16="http://schemas.microsoft.com/office/drawing/2014/main" id="{73CC8A6D-3B3C-7B47-9A21-9A4280CB9124}"/>
              </a:ext>
            </a:extLst>
          </p:cNvPr>
          <p:cNvSpPr/>
          <p:nvPr/>
        </p:nvSpPr>
        <p:spPr>
          <a:xfrm flipH="1" flipV="1">
            <a:off x="7650426" y="2044550"/>
            <a:ext cx="1033200" cy="3098924"/>
          </a:xfrm>
          <a:prstGeom prst="rect">
            <a:avLst/>
          </a:prstGeom>
          <a:solidFill>
            <a:srgbClr val="93C47D">
              <a:alpha val="58039"/>
            </a:srgbClr>
          </a:solidFill>
          <a:ln>
            <a:noFill/>
          </a:ln>
          <a:effectLst>
            <a:outerShdw blurRad="57150" dist="19050" dir="5400000" algn="bl" rotWithShape="0">
              <a:srgbClr val="000000">
                <a:alpha val="50000"/>
              </a:srgbClr>
            </a:outerShdw>
            <a:reflection endPos="30000" dist="38100" dir="5400000" fadeDir="5400012" sy="-100000" algn="bl" rotWithShape="0"/>
          </a:effectLst>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2" name="Google Shape;54;p13">
            <a:extLst>
              <a:ext uri="{FF2B5EF4-FFF2-40B4-BE49-F238E27FC236}">
                <a16:creationId xmlns:a16="http://schemas.microsoft.com/office/drawing/2014/main" id="{24FD86A3-3FD5-BD4F-A7AC-E0472CBDA64B}"/>
              </a:ext>
            </a:extLst>
          </p:cNvPr>
          <p:cNvSpPr/>
          <p:nvPr/>
        </p:nvSpPr>
        <p:spPr>
          <a:xfrm flipH="1" flipV="1">
            <a:off x="8227850" y="1676399"/>
            <a:ext cx="920750" cy="3467075"/>
          </a:xfrm>
          <a:prstGeom prst="rect">
            <a:avLst/>
          </a:prstGeom>
          <a:solidFill>
            <a:srgbClr val="B6D7A8">
              <a:alpha val="61961"/>
            </a:srgbClr>
          </a:solidFill>
          <a:ln>
            <a:noFill/>
          </a:ln>
          <a:effectLst>
            <a:outerShdw blurRad="57150" dist="19050" dir="5400000" algn="bl" rotWithShape="0">
              <a:srgbClr val="000000">
                <a:alpha val="50000"/>
              </a:srgbClr>
            </a:outerShdw>
            <a:reflection endPos="30000" dist="38100" dir="5400000" fadeDir="5400012" sy="-100000" algn="bl" rotWithShape="0"/>
          </a:effectLst>
        </p:spPr>
        <p:txBody>
          <a:bodyPr spcFirstLastPara="1" wrap="square" lIns="91425" tIns="91425" rIns="91425" bIns="91425" anchor="ctr" anchorCtr="0">
            <a:noAutofit/>
          </a:bodyPr>
          <a:lstStyle/>
          <a:p>
            <a:pPr marL="0" lvl="0" indent="0" algn="ctr" rtl="0">
              <a:spcBef>
                <a:spcPts val="0"/>
              </a:spcBef>
              <a:spcAft>
                <a:spcPts val="0"/>
              </a:spcAft>
              <a:buNone/>
            </a:pPr>
            <a:endParaRPr dirty="0"/>
          </a:p>
        </p:txBody>
      </p:sp>
    </p:spTree>
  </p:cSld>
  <p:clrMapOvr>
    <a:masterClrMapping/>
  </p:clrMapOvr>
  <p:transition spd="slow">
    <p:push dir="u"/>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DD3607-1631-82D8-7457-05E5C0FD8007}"/>
            </a:ext>
          </a:extLst>
        </p:cNvPr>
        <p:cNvGrpSpPr/>
        <p:nvPr/>
      </p:nvGrpSpPr>
      <p:grpSpPr>
        <a:xfrm>
          <a:off x="0" y="0"/>
          <a:ext cx="0" cy="0"/>
          <a:chOff x="0" y="0"/>
          <a:chExt cx="0" cy="0"/>
        </a:xfrm>
      </p:grpSpPr>
      <p:sp>
        <p:nvSpPr>
          <p:cNvPr id="5" name="Google Shape;54;p13">
            <a:extLst>
              <a:ext uri="{FF2B5EF4-FFF2-40B4-BE49-F238E27FC236}">
                <a16:creationId xmlns:a16="http://schemas.microsoft.com/office/drawing/2014/main" id="{E771F027-B27D-C065-FCF6-F234572F096E}"/>
              </a:ext>
            </a:extLst>
          </p:cNvPr>
          <p:cNvSpPr/>
          <p:nvPr/>
        </p:nvSpPr>
        <p:spPr>
          <a:xfrm>
            <a:off x="0" y="347705"/>
            <a:ext cx="9144000" cy="805341"/>
          </a:xfrm>
          <a:prstGeom prst="rect">
            <a:avLst/>
          </a:prstGeom>
          <a:solidFill>
            <a:srgbClr val="B6D7A8">
              <a:alpha val="61961"/>
            </a:srgbClr>
          </a:solidFill>
          <a:ln>
            <a:noFill/>
          </a:ln>
          <a:effectLst>
            <a:outerShdw blurRad="57150" dist="19050" dir="5400000" algn="bl" rotWithShape="0">
              <a:srgbClr val="000000">
                <a:alpha val="50000"/>
              </a:srgbClr>
            </a:outerShdw>
            <a:reflection endPos="30000" dist="38100" dir="5400000" fadeDir="5400012" sy="-100000" algn="bl" rotWithShape="0"/>
          </a:effectLst>
        </p:spPr>
        <p:txBody>
          <a:bodyPr spcFirstLastPara="1" wrap="square" lIns="91425" tIns="91425" rIns="91425" bIns="91425" anchor="ctr" anchorCtr="0">
            <a:noAutofit/>
          </a:bodyPr>
          <a:lstStyle/>
          <a:p>
            <a:pPr lvl="0" algn="ctr"/>
            <a:r>
              <a:rPr lang="ru-RU" sz="1800" b="1" dirty="0"/>
              <a:t>Организация памяти компьютера</a:t>
            </a:r>
          </a:p>
        </p:txBody>
      </p:sp>
      <p:sp>
        <p:nvSpPr>
          <p:cNvPr id="3" name="AutoShape 2">
            <a:extLst>
              <a:ext uri="{FF2B5EF4-FFF2-40B4-BE49-F238E27FC236}">
                <a16:creationId xmlns:a16="http://schemas.microsoft.com/office/drawing/2014/main" id="{A65677A4-6169-0E64-0FB8-6DD395CB6407}"/>
              </a:ext>
            </a:extLst>
          </p:cNvPr>
          <p:cNvSpPr>
            <a:spLocks noChangeAspect="1" noChangeArrowheads="1"/>
          </p:cNvSpPr>
          <p:nvPr/>
        </p:nvSpPr>
        <p:spPr bwMode="auto">
          <a:xfrm>
            <a:off x="4419600" y="241935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RU"/>
          </a:p>
        </p:txBody>
      </p:sp>
      <p:pic>
        <p:nvPicPr>
          <p:cNvPr id="18" name="Рисунок 17">
            <a:extLst>
              <a:ext uri="{FF2B5EF4-FFF2-40B4-BE49-F238E27FC236}">
                <a16:creationId xmlns:a16="http://schemas.microsoft.com/office/drawing/2014/main" id="{51B45124-FCC0-6C58-34A9-CB732EDD508F}"/>
              </a:ext>
            </a:extLst>
          </p:cNvPr>
          <p:cNvPicPr>
            <a:picLocks noChangeAspect="1"/>
          </p:cNvPicPr>
          <p:nvPr/>
        </p:nvPicPr>
        <p:blipFill>
          <a:blip r:embed="rId2"/>
          <a:stretch>
            <a:fillRect/>
          </a:stretch>
        </p:blipFill>
        <p:spPr>
          <a:xfrm>
            <a:off x="2435225" y="3252441"/>
            <a:ext cx="82792" cy="109883"/>
          </a:xfrm>
          <a:prstGeom prst="rect">
            <a:avLst/>
          </a:prstGeom>
        </p:spPr>
      </p:pic>
      <p:sp>
        <p:nvSpPr>
          <p:cNvPr id="4" name="TextBox 3">
            <a:extLst>
              <a:ext uri="{FF2B5EF4-FFF2-40B4-BE49-F238E27FC236}">
                <a16:creationId xmlns:a16="http://schemas.microsoft.com/office/drawing/2014/main" id="{FC52B522-AA3C-E5B6-D8F7-DA39C1A1729C}"/>
              </a:ext>
            </a:extLst>
          </p:cNvPr>
          <p:cNvSpPr txBox="1"/>
          <p:nvPr/>
        </p:nvSpPr>
        <p:spPr>
          <a:xfrm>
            <a:off x="1083733" y="1910110"/>
            <a:ext cx="4632960" cy="1600438"/>
          </a:xfrm>
          <a:prstGeom prst="rect">
            <a:avLst/>
          </a:prstGeom>
          <a:noFill/>
        </p:spPr>
        <p:txBody>
          <a:bodyPr wrap="square">
            <a:spAutoFit/>
          </a:bodyPr>
          <a:lstStyle/>
          <a:p>
            <a:r>
              <a:rPr lang="ru-RU" b="1" dirty="0"/>
              <a:t>Содержание:</a:t>
            </a:r>
          </a:p>
          <a:p>
            <a:endParaRPr lang="ru-RU" b="1" dirty="0"/>
          </a:p>
          <a:p>
            <a:pPr marL="285750" indent="-285750">
              <a:buFont typeface="Arial" panose="020B0604020202020204" pitchFamily="34" charset="0"/>
              <a:buChar char="•"/>
            </a:pPr>
            <a:r>
              <a:rPr lang="ru-RU" dirty="0"/>
              <a:t>Введение</a:t>
            </a:r>
            <a:endParaRPr lang="en-US" dirty="0"/>
          </a:p>
          <a:p>
            <a:pPr marL="285750" indent="-285750">
              <a:buFont typeface="Arial" panose="020B0604020202020204" pitchFamily="34" charset="0"/>
              <a:buChar char="•"/>
            </a:pPr>
            <a:r>
              <a:rPr lang="ru-RU" dirty="0"/>
              <a:t>Страничная память</a:t>
            </a:r>
            <a:endParaRPr lang="en-US" dirty="0"/>
          </a:p>
          <a:p>
            <a:pPr marL="285750" indent="-285750">
              <a:buFont typeface="Arial" panose="020B0604020202020204" pitchFamily="34" charset="0"/>
              <a:buChar char="•"/>
            </a:pPr>
            <a:r>
              <a:rPr lang="ru-RU" dirty="0"/>
              <a:t>Сегментная и сегментно-страничная организация памяти</a:t>
            </a:r>
            <a:endParaRPr lang="en-US" dirty="0"/>
          </a:p>
          <a:p>
            <a:pPr marL="285750" indent="-285750">
              <a:buFont typeface="Arial" panose="020B0604020202020204" pitchFamily="34" charset="0"/>
              <a:buChar char="•"/>
            </a:pPr>
            <a:r>
              <a:rPr lang="ru-RU" dirty="0"/>
              <a:t>Заключение</a:t>
            </a:r>
          </a:p>
        </p:txBody>
      </p:sp>
    </p:spTree>
    <p:extLst>
      <p:ext uri="{BB962C8B-B14F-4D97-AF65-F5344CB8AC3E}">
        <p14:creationId xmlns:p14="http://schemas.microsoft.com/office/powerpoint/2010/main" val="613418546"/>
      </p:ext>
    </p:extLst>
  </p:cSld>
  <p:clrMapOvr>
    <a:masterClrMapping/>
  </p:clrMapOvr>
  <p:transition spd="slow">
    <p:push dir="u"/>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Google Shape;54;p13">
            <a:extLst>
              <a:ext uri="{FF2B5EF4-FFF2-40B4-BE49-F238E27FC236}">
                <a16:creationId xmlns:a16="http://schemas.microsoft.com/office/drawing/2014/main" id="{C31F715F-EBDD-0A4D-AE11-8C32CE4B05E5}"/>
              </a:ext>
            </a:extLst>
          </p:cNvPr>
          <p:cNvSpPr/>
          <p:nvPr/>
        </p:nvSpPr>
        <p:spPr>
          <a:xfrm>
            <a:off x="0" y="170019"/>
            <a:ext cx="9144000" cy="934034"/>
          </a:xfrm>
          <a:prstGeom prst="rect">
            <a:avLst/>
          </a:prstGeom>
          <a:solidFill>
            <a:srgbClr val="B6D7A8">
              <a:alpha val="61961"/>
            </a:srgbClr>
          </a:solidFill>
          <a:ln>
            <a:noFill/>
          </a:ln>
          <a:effectLst>
            <a:outerShdw blurRad="57150" dist="19050" dir="5400000" algn="bl" rotWithShape="0">
              <a:srgbClr val="000000">
                <a:alpha val="50000"/>
              </a:srgbClr>
            </a:outerShdw>
            <a:reflection endPos="30000" dist="38100" dir="5400000" fadeDir="5400012" sy="-100000" algn="bl" rotWithShape="0"/>
          </a:effectLst>
        </p:spPr>
        <p:txBody>
          <a:bodyPr spcFirstLastPara="1" wrap="square" lIns="91425" tIns="91425" rIns="91425" bIns="91425" anchor="ctr" anchorCtr="0">
            <a:noAutofit/>
          </a:bodyPr>
          <a:lstStyle/>
          <a:p>
            <a:pPr lvl="0" algn="ctr"/>
            <a:r>
              <a:rPr lang="ru-RU" sz="1800" b="1"/>
              <a:t>Организация памяти компьютера</a:t>
            </a:r>
            <a:endParaRPr lang="ru-RU" sz="1800" b="1" dirty="0"/>
          </a:p>
        </p:txBody>
      </p:sp>
      <p:sp>
        <p:nvSpPr>
          <p:cNvPr id="4" name="TextBox 3">
            <a:extLst>
              <a:ext uri="{FF2B5EF4-FFF2-40B4-BE49-F238E27FC236}">
                <a16:creationId xmlns:a16="http://schemas.microsoft.com/office/drawing/2014/main" id="{72A2B952-30E1-51D5-ABF2-C53FB8AAECB3}"/>
              </a:ext>
            </a:extLst>
          </p:cNvPr>
          <p:cNvSpPr txBox="1"/>
          <p:nvPr/>
        </p:nvSpPr>
        <p:spPr>
          <a:xfrm>
            <a:off x="338664" y="1417397"/>
            <a:ext cx="7714829" cy="2062103"/>
          </a:xfrm>
          <a:prstGeom prst="rect">
            <a:avLst/>
          </a:prstGeom>
          <a:noFill/>
        </p:spPr>
        <p:txBody>
          <a:bodyPr wrap="square">
            <a:spAutoFit/>
          </a:bodyPr>
          <a:lstStyle/>
          <a:p>
            <a:pPr>
              <a:buNone/>
            </a:pPr>
            <a:r>
              <a:rPr lang="ru-RU" sz="1600" b="1" dirty="0"/>
              <a:t>Введение</a:t>
            </a:r>
            <a:endParaRPr lang="en-US" sz="1600" b="1" dirty="0"/>
          </a:p>
          <a:p>
            <a:pPr>
              <a:buNone/>
            </a:pPr>
            <a:endParaRPr lang="ru-RU" b="1" dirty="0"/>
          </a:p>
          <a:p>
            <a:r>
              <a:rPr lang="ru-RU" dirty="0"/>
              <a:t>Главная задача компьютерной системы – выполнять программы. Программы вместе с данными, к которым они имеют доступ, в процессе выполнения должны (по крайней мере частично) находиться в оперативной памяти. Операционной системе приходится решать задачу распределения памяти между пользовательскими процессами и компонентами ОС. Эта деятельность называется управлением памятью. Таким образом, память (</a:t>
            </a:r>
            <a:r>
              <a:rPr lang="ru-RU" dirty="0" err="1"/>
              <a:t>storage</a:t>
            </a:r>
            <a:r>
              <a:rPr lang="ru-RU" dirty="0"/>
              <a:t>, </a:t>
            </a:r>
            <a:r>
              <a:rPr lang="ru-RU" dirty="0" err="1"/>
              <a:t>memory</a:t>
            </a:r>
            <a:r>
              <a:rPr lang="ru-RU" dirty="0"/>
              <a:t>) является важнейшим ресурсом, требующим тщательного управления. В недавнем прошлом память была самым дорогим ресурсом. </a:t>
            </a:r>
          </a:p>
        </p:txBody>
      </p:sp>
      <p:pic>
        <p:nvPicPr>
          <p:cNvPr id="1026" name="Picture 2" descr="ОЗУ (оперативная память): что это, зачем нужна компьютеру и как правильно  её выбрать / Skillbox Media">
            <a:extLst>
              <a:ext uri="{FF2B5EF4-FFF2-40B4-BE49-F238E27FC236}">
                <a16:creationId xmlns:a16="http://schemas.microsoft.com/office/drawing/2014/main" id="{B4CF08C8-3B00-9D4D-37F5-D254C401E70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483947" y="3479500"/>
            <a:ext cx="4416213" cy="13793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86255015"/>
      </p:ext>
    </p:extLst>
  </p:cSld>
  <p:clrMapOvr>
    <a:masterClrMapping/>
  </p:clrMapOvr>
  <p:transition spd="slow">
    <p:push dir="u"/>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25AEA7-9C6C-DBCE-6D64-3C387DB36AF5}"/>
            </a:ext>
          </a:extLst>
        </p:cNvPr>
        <p:cNvGrpSpPr/>
        <p:nvPr/>
      </p:nvGrpSpPr>
      <p:grpSpPr>
        <a:xfrm>
          <a:off x="0" y="0"/>
          <a:ext cx="0" cy="0"/>
          <a:chOff x="0" y="0"/>
          <a:chExt cx="0" cy="0"/>
        </a:xfrm>
      </p:grpSpPr>
      <p:sp>
        <p:nvSpPr>
          <p:cNvPr id="5" name="Google Shape;54;p13">
            <a:extLst>
              <a:ext uri="{FF2B5EF4-FFF2-40B4-BE49-F238E27FC236}">
                <a16:creationId xmlns:a16="http://schemas.microsoft.com/office/drawing/2014/main" id="{8CD086CD-B1A1-2A38-A51F-E2E4D9402BCF}"/>
              </a:ext>
            </a:extLst>
          </p:cNvPr>
          <p:cNvSpPr/>
          <p:nvPr/>
        </p:nvSpPr>
        <p:spPr>
          <a:xfrm>
            <a:off x="0" y="170019"/>
            <a:ext cx="9144000" cy="934034"/>
          </a:xfrm>
          <a:prstGeom prst="rect">
            <a:avLst/>
          </a:prstGeom>
          <a:solidFill>
            <a:srgbClr val="B6D7A8">
              <a:alpha val="61961"/>
            </a:srgbClr>
          </a:solidFill>
          <a:ln>
            <a:noFill/>
          </a:ln>
          <a:effectLst>
            <a:outerShdw blurRad="57150" dist="19050" dir="5400000" algn="bl" rotWithShape="0">
              <a:srgbClr val="000000">
                <a:alpha val="50000"/>
              </a:srgbClr>
            </a:outerShdw>
            <a:reflection endPos="30000" dist="38100" dir="5400000" fadeDir="5400012" sy="-100000" algn="bl" rotWithShape="0"/>
          </a:effectLst>
        </p:spPr>
        <p:txBody>
          <a:bodyPr spcFirstLastPara="1" wrap="square" lIns="91425" tIns="91425" rIns="91425" bIns="91425" anchor="ctr" anchorCtr="0">
            <a:noAutofit/>
          </a:bodyPr>
          <a:lstStyle/>
          <a:p>
            <a:pPr lvl="0" algn="ctr"/>
            <a:r>
              <a:rPr lang="ru-RU" sz="1800" b="1" dirty="0"/>
              <a:t>Организация памяти компьютера</a:t>
            </a:r>
          </a:p>
        </p:txBody>
      </p:sp>
      <p:sp>
        <p:nvSpPr>
          <p:cNvPr id="4" name="TextBox 3">
            <a:extLst>
              <a:ext uri="{FF2B5EF4-FFF2-40B4-BE49-F238E27FC236}">
                <a16:creationId xmlns:a16="http://schemas.microsoft.com/office/drawing/2014/main" id="{CE27CCA0-C0D7-B917-F82F-C863354CABD4}"/>
              </a:ext>
            </a:extLst>
          </p:cNvPr>
          <p:cNvSpPr txBox="1"/>
          <p:nvPr/>
        </p:nvSpPr>
        <p:spPr>
          <a:xfrm>
            <a:off x="264161" y="1466850"/>
            <a:ext cx="4734560" cy="3539430"/>
          </a:xfrm>
          <a:prstGeom prst="rect">
            <a:avLst/>
          </a:prstGeom>
          <a:noFill/>
        </p:spPr>
        <p:txBody>
          <a:bodyPr wrap="square">
            <a:spAutoFit/>
          </a:bodyPr>
          <a:lstStyle/>
          <a:p>
            <a:r>
              <a:rPr lang="ru-RU" b="1" dirty="0"/>
              <a:t>Физическая организация памяти компьютера</a:t>
            </a:r>
          </a:p>
          <a:p>
            <a:endParaRPr lang="ru-RU" b="1" dirty="0"/>
          </a:p>
          <a:p>
            <a:r>
              <a:rPr lang="ru-RU" dirty="0"/>
              <a:t>Запоминающие устройства компьютера разделяют, как минимум, на два уровня: основную (главную, оперативную, физическую) и вторичную (внешнюю) память. </a:t>
            </a:r>
            <a:endParaRPr lang="ru-RU" b="1" dirty="0"/>
          </a:p>
          <a:p>
            <a:endParaRPr lang="ru-RU" b="1" dirty="0"/>
          </a:p>
          <a:p>
            <a:r>
              <a:rPr lang="ru-RU" dirty="0"/>
              <a:t>Основная память представляет собой упорядоченный массив однобайтовых ячеек, каждая из которых имеет свой уникальный адрес (номер). Процессор извлекает команду из основной памяти, декодирует и выполняет ее. Для выполнения команды могут потребоваться обращения еще к нескольким ячейкам основной памяти. Обычно основная память изготавливается с применением полупроводниковых технологий и теряет свое содержимое при отключении питания. </a:t>
            </a:r>
          </a:p>
        </p:txBody>
      </p:sp>
      <p:pic>
        <p:nvPicPr>
          <p:cNvPr id="2" name="Picture 4" descr="Вспомнить всё. Разбираемся в полупроводниковой памяти / Хабр">
            <a:extLst>
              <a:ext uri="{FF2B5EF4-FFF2-40B4-BE49-F238E27FC236}">
                <a16:creationId xmlns:a16="http://schemas.microsoft.com/office/drawing/2014/main" id="{641731DD-0D89-953F-E7D3-271C1E4C1F9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998721" y="1655132"/>
            <a:ext cx="4145279" cy="320388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03558514"/>
      </p:ext>
    </p:extLst>
  </p:cSld>
  <p:clrMapOvr>
    <a:masterClrMapping/>
  </p:clrMapOvr>
  <p:transition spd="slow">
    <p:push dir="u"/>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283DB8-9F48-F063-C9B7-17EB095AF156}"/>
            </a:ext>
          </a:extLst>
        </p:cNvPr>
        <p:cNvGrpSpPr/>
        <p:nvPr/>
      </p:nvGrpSpPr>
      <p:grpSpPr>
        <a:xfrm>
          <a:off x="0" y="0"/>
          <a:ext cx="0" cy="0"/>
          <a:chOff x="0" y="0"/>
          <a:chExt cx="0" cy="0"/>
        </a:xfrm>
      </p:grpSpPr>
      <p:sp>
        <p:nvSpPr>
          <p:cNvPr id="5" name="Google Shape;54;p13">
            <a:extLst>
              <a:ext uri="{FF2B5EF4-FFF2-40B4-BE49-F238E27FC236}">
                <a16:creationId xmlns:a16="http://schemas.microsoft.com/office/drawing/2014/main" id="{FB865B5B-CA97-38F0-298D-6A1558FEF25F}"/>
              </a:ext>
            </a:extLst>
          </p:cNvPr>
          <p:cNvSpPr/>
          <p:nvPr/>
        </p:nvSpPr>
        <p:spPr>
          <a:xfrm>
            <a:off x="0" y="170019"/>
            <a:ext cx="9144000" cy="934034"/>
          </a:xfrm>
          <a:prstGeom prst="rect">
            <a:avLst/>
          </a:prstGeom>
          <a:solidFill>
            <a:srgbClr val="B6D7A8">
              <a:alpha val="61961"/>
            </a:srgbClr>
          </a:solidFill>
          <a:ln>
            <a:noFill/>
          </a:ln>
          <a:effectLst>
            <a:outerShdw blurRad="57150" dist="19050" dir="5400000" algn="bl" rotWithShape="0">
              <a:srgbClr val="000000">
                <a:alpha val="50000"/>
              </a:srgbClr>
            </a:outerShdw>
            <a:reflection endPos="30000" dist="38100" dir="5400000" fadeDir="5400012" sy="-100000" algn="bl" rotWithShape="0"/>
          </a:effectLst>
        </p:spPr>
        <p:txBody>
          <a:bodyPr spcFirstLastPara="1" wrap="square" lIns="91425" tIns="91425" rIns="91425" bIns="91425" anchor="ctr" anchorCtr="0">
            <a:noAutofit/>
          </a:bodyPr>
          <a:lstStyle/>
          <a:p>
            <a:pPr lvl="0" algn="ctr"/>
            <a:r>
              <a:rPr lang="ru-RU" sz="1800" b="1" dirty="0"/>
              <a:t>Организация памяти компьютера</a:t>
            </a:r>
          </a:p>
        </p:txBody>
      </p:sp>
      <p:sp>
        <p:nvSpPr>
          <p:cNvPr id="4" name="TextBox 3">
            <a:extLst>
              <a:ext uri="{FF2B5EF4-FFF2-40B4-BE49-F238E27FC236}">
                <a16:creationId xmlns:a16="http://schemas.microsoft.com/office/drawing/2014/main" id="{5FDA1A4A-2C9A-0C37-EBD4-0C0DB022122A}"/>
              </a:ext>
            </a:extLst>
          </p:cNvPr>
          <p:cNvSpPr txBox="1"/>
          <p:nvPr/>
        </p:nvSpPr>
        <p:spPr>
          <a:xfrm>
            <a:off x="508001" y="1480397"/>
            <a:ext cx="3860800" cy="2677656"/>
          </a:xfrm>
          <a:prstGeom prst="rect">
            <a:avLst/>
          </a:prstGeom>
          <a:noFill/>
        </p:spPr>
        <p:txBody>
          <a:bodyPr wrap="square">
            <a:spAutoFit/>
          </a:bodyPr>
          <a:lstStyle/>
          <a:p>
            <a:r>
              <a:rPr lang="ru-RU" b="1" dirty="0"/>
              <a:t>Физическая организация памяти компьютера</a:t>
            </a:r>
          </a:p>
          <a:p>
            <a:endParaRPr lang="ru-RU" b="1" dirty="0"/>
          </a:p>
          <a:p>
            <a:r>
              <a:rPr lang="ru-RU" dirty="0"/>
              <a:t>Вторичную память (это главным образом диски) также можно рассматривать как одномерное линейное адресное пространство, состоящее из последовательности байтов. В отличие от оперативной памяти, она является энергонезависимой, имеет существенно большую емкость и используется в качестве расширения основной памяти. </a:t>
            </a:r>
          </a:p>
        </p:txBody>
      </p:sp>
      <p:sp>
        <p:nvSpPr>
          <p:cNvPr id="3" name="TextBox 2">
            <a:extLst>
              <a:ext uri="{FF2B5EF4-FFF2-40B4-BE49-F238E27FC236}">
                <a16:creationId xmlns:a16="http://schemas.microsoft.com/office/drawing/2014/main" id="{5CEB1159-2AAB-BFDB-26D6-2404F7D7ECFE}"/>
              </a:ext>
            </a:extLst>
          </p:cNvPr>
          <p:cNvSpPr txBox="1"/>
          <p:nvPr/>
        </p:nvSpPr>
        <p:spPr>
          <a:xfrm>
            <a:off x="5590783" y="4108010"/>
            <a:ext cx="1950721" cy="261610"/>
          </a:xfrm>
          <a:prstGeom prst="rect">
            <a:avLst/>
          </a:prstGeom>
          <a:noFill/>
        </p:spPr>
        <p:txBody>
          <a:bodyPr wrap="square">
            <a:spAutoFit/>
          </a:bodyPr>
          <a:lstStyle/>
          <a:p>
            <a:r>
              <a:rPr lang="ru-RU" sz="1100" b="1" dirty="0"/>
              <a:t>Рис. 8.1. </a:t>
            </a:r>
            <a:r>
              <a:rPr lang="ru-RU" sz="1100" dirty="0"/>
              <a:t>Иерархия памяти</a:t>
            </a:r>
          </a:p>
        </p:txBody>
      </p:sp>
      <p:pic>
        <p:nvPicPr>
          <p:cNvPr id="2054" name="Picture 6" descr="Вопрос 19: Уровни иерархического построения памяти · Ответы на  экзаменационные вопросы [ОргЭВМ, 2017, Холод]">
            <a:extLst>
              <a:ext uri="{FF2B5EF4-FFF2-40B4-BE49-F238E27FC236}">
                <a16:creationId xmlns:a16="http://schemas.microsoft.com/office/drawing/2014/main" id="{9A5AC3BC-A662-B4E2-B1B7-A862406C607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64075" y="1530439"/>
            <a:ext cx="3804139" cy="257757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40738778"/>
      </p:ext>
    </p:extLst>
  </p:cSld>
  <p:clrMapOvr>
    <a:masterClrMapping/>
  </p:clrMapOvr>
  <p:transition spd="slow">
    <p:push dir="u"/>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01CFBB-9122-E82C-0C6D-A5D07E485EBF}"/>
            </a:ext>
          </a:extLst>
        </p:cNvPr>
        <p:cNvGrpSpPr/>
        <p:nvPr/>
      </p:nvGrpSpPr>
      <p:grpSpPr>
        <a:xfrm>
          <a:off x="0" y="0"/>
          <a:ext cx="0" cy="0"/>
          <a:chOff x="0" y="0"/>
          <a:chExt cx="0" cy="0"/>
        </a:xfrm>
      </p:grpSpPr>
      <p:sp>
        <p:nvSpPr>
          <p:cNvPr id="5" name="Google Shape;54;p13">
            <a:extLst>
              <a:ext uri="{FF2B5EF4-FFF2-40B4-BE49-F238E27FC236}">
                <a16:creationId xmlns:a16="http://schemas.microsoft.com/office/drawing/2014/main" id="{C74CA55F-DC8B-D51D-744F-BDC95A0DCA55}"/>
              </a:ext>
            </a:extLst>
          </p:cNvPr>
          <p:cNvSpPr/>
          <p:nvPr/>
        </p:nvSpPr>
        <p:spPr>
          <a:xfrm>
            <a:off x="0" y="170019"/>
            <a:ext cx="9144000" cy="934034"/>
          </a:xfrm>
          <a:prstGeom prst="rect">
            <a:avLst/>
          </a:prstGeom>
          <a:solidFill>
            <a:srgbClr val="B6D7A8">
              <a:alpha val="61961"/>
            </a:srgbClr>
          </a:solidFill>
          <a:ln>
            <a:noFill/>
          </a:ln>
          <a:effectLst>
            <a:outerShdw blurRad="57150" dist="19050" dir="5400000" algn="bl" rotWithShape="0">
              <a:srgbClr val="000000">
                <a:alpha val="50000"/>
              </a:srgbClr>
            </a:outerShdw>
            <a:reflection endPos="30000" dist="38100" dir="5400000" fadeDir="5400012" sy="-100000" algn="bl" rotWithShape="0"/>
          </a:effectLst>
        </p:spPr>
        <p:txBody>
          <a:bodyPr spcFirstLastPara="1" wrap="square" lIns="91425" tIns="91425" rIns="91425" bIns="91425" anchor="ctr" anchorCtr="0">
            <a:noAutofit/>
          </a:bodyPr>
          <a:lstStyle/>
          <a:p>
            <a:pPr lvl="0" algn="ctr"/>
            <a:r>
              <a:rPr lang="ru-RU" sz="1800" b="1" dirty="0"/>
              <a:t>Организация памяти компьютера</a:t>
            </a:r>
          </a:p>
        </p:txBody>
      </p:sp>
      <p:sp>
        <p:nvSpPr>
          <p:cNvPr id="4" name="TextBox 3">
            <a:extLst>
              <a:ext uri="{FF2B5EF4-FFF2-40B4-BE49-F238E27FC236}">
                <a16:creationId xmlns:a16="http://schemas.microsoft.com/office/drawing/2014/main" id="{D0B3FB78-1762-31FB-4B8D-AB1536E707EA}"/>
              </a:ext>
            </a:extLst>
          </p:cNvPr>
          <p:cNvSpPr txBox="1"/>
          <p:nvPr/>
        </p:nvSpPr>
        <p:spPr>
          <a:xfrm>
            <a:off x="508001" y="1480397"/>
            <a:ext cx="3860800" cy="3323987"/>
          </a:xfrm>
          <a:prstGeom prst="rect">
            <a:avLst/>
          </a:prstGeom>
          <a:noFill/>
        </p:spPr>
        <p:txBody>
          <a:bodyPr wrap="square">
            <a:spAutoFit/>
          </a:bodyPr>
          <a:lstStyle/>
          <a:p>
            <a:r>
              <a:rPr lang="ru-RU" b="1" dirty="0"/>
              <a:t>Логическая память</a:t>
            </a:r>
            <a:endParaRPr lang="en-US" b="1" dirty="0"/>
          </a:p>
          <a:p>
            <a:endParaRPr lang="ru-RU" b="1" dirty="0"/>
          </a:p>
          <a:p>
            <a:r>
              <a:rPr lang="ru-RU" dirty="0"/>
              <a:t>Аппаратная организация памяти в виде линейного набора ячеек не соответствует представлениям программиста о том, как организовано хранение программ и данных. Большинство программ представляет собой набор модулей, созданных независимо друг от друга. Иногда все модули, входящие в состав процесса, располагаются в памяти один за другим, образуя линейное пространство адресов. Однако чаще модули помещаются в разные области памяти и используются по-разному. </a:t>
            </a:r>
          </a:p>
        </p:txBody>
      </p:sp>
      <p:sp>
        <p:nvSpPr>
          <p:cNvPr id="3" name="TextBox 2">
            <a:extLst>
              <a:ext uri="{FF2B5EF4-FFF2-40B4-BE49-F238E27FC236}">
                <a16:creationId xmlns:a16="http://schemas.microsoft.com/office/drawing/2014/main" id="{03BC065F-B498-D97C-606A-3FA48792F101}"/>
              </a:ext>
            </a:extLst>
          </p:cNvPr>
          <p:cNvSpPr txBox="1"/>
          <p:nvPr/>
        </p:nvSpPr>
        <p:spPr>
          <a:xfrm>
            <a:off x="4368801" y="4097833"/>
            <a:ext cx="5113866" cy="261610"/>
          </a:xfrm>
          <a:prstGeom prst="rect">
            <a:avLst/>
          </a:prstGeom>
          <a:noFill/>
        </p:spPr>
        <p:txBody>
          <a:bodyPr wrap="square">
            <a:spAutoFit/>
          </a:bodyPr>
          <a:lstStyle/>
          <a:p>
            <a:r>
              <a:rPr lang="ru-RU" sz="1100" b="1" dirty="0"/>
              <a:t>Рис. 8.2. </a:t>
            </a:r>
            <a:r>
              <a:rPr lang="ru-RU" sz="1100" dirty="0"/>
              <a:t>Расположение сегментов процессов в памяти компьютера</a:t>
            </a:r>
          </a:p>
        </p:txBody>
      </p:sp>
      <p:pic>
        <p:nvPicPr>
          <p:cNvPr id="5122" name="Picture 2" descr="НОУ ИНТУИТ | Основы операционных систем. Лекция 8: Организация памяти  компьютера. Простейшие схемы управления памятью">
            <a:extLst>
              <a:ext uri="{FF2B5EF4-FFF2-40B4-BE49-F238E27FC236}">
                <a16:creationId xmlns:a16="http://schemas.microsoft.com/office/drawing/2014/main" id="{3C038CC8-D01E-4150-08C5-031D3302C7D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31045" y="1584960"/>
            <a:ext cx="4059142" cy="25230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92525485"/>
      </p:ext>
    </p:extLst>
  </p:cSld>
  <p:clrMapOvr>
    <a:masterClrMapping/>
  </p:clrMapOvr>
  <p:transition spd="slow">
    <p:push dir="u"/>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5EBC8A-4415-001B-B336-107BCDC1EC78}"/>
            </a:ext>
          </a:extLst>
        </p:cNvPr>
        <p:cNvGrpSpPr/>
        <p:nvPr/>
      </p:nvGrpSpPr>
      <p:grpSpPr>
        <a:xfrm>
          <a:off x="0" y="0"/>
          <a:ext cx="0" cy="0"/>
          <a:chOff x="0" y="0"/>
          <a:chExt cx="0" cy="0"/>
        </a:xfrm>
      </p:grpSpPr>
      <p:sp>
        <p:nvSpPr>
          <p:cNvPr id="5" name="Google Shape;54;p13">
            <a:extLst>
              <a:ext uri="{FF2B5EF4-FFF2-40B4-BE49-F238E27FC236}">
                <a16:creationId xmlns:a16="http://schemas.microsoft.com/office/drawing/2014/main" id="{1CB9450B-2A65-5B57-7DC6-56AD18703EB2}"/>
              </a:ext>
            </a:extLst>
          </p:cNvPr>
          <p:cNvSpPr/>
          <p:nvPr/>
        </p:nvSpPr>
        <p:spPr>
          <a:xfrm>
            <a:off x="0" y="170019"/>
            <a:ext cx="9144000" cy="934034"/>
          </a:xfrm>
          <a:prstGeom prst="rect">
            <a:avLst/>
          </a:prstGeom>
          <a:solidFill>
            <a:srgbClr val="B6D7A8">
              <a:alpha val="61961"/>
            </a:srgbClr>
          </a:solidFill>
          <a:ln>
            <a:noFill/>
          </a:ln>
          <a:effectLst>
            <a:outerShdw blurRad="57150" dist="19050" dir="5400000" algn="bl" rotWithShape="0">
              <a:srgbClr val="000000">
                <a:alpha val="50000"/>
              </a:srgbClr>
            </a:outerShdw>
            <a:reflection endPos="30000" dist="38100" dir="5400000" fadeDir="5400012" sy="-100000" algn="bl" rotWithShape="0"/>
          </a:effectLst>
        </p:spPr>
        <p:txBody>
          <a:bodyPr spcFirstLastPara="1" wrap="square" lIns="91425" tIns="91425" rIns="91425" bIns="91425" anchor="ctr" anchorCtr="0">
            <a:noAutofit/>
          </a:bodyPr>
          <a:lstStyle/>
          <a:p>
            <a:pPr lvl="0" algn="ctr"/>
            <a:r>
              <a:rPr lang="ru-RU" sz="1800" b="1" dirty="0"/>
              <a:t>Организация памяти компьютера</a:t>
            </a:r>
          </a:p>
        </p:txBody>
      </p:sp>
      <p:sp>
        <p:nvSpPr>
          <p:cNvPr id="4" name="TextBox 3">
            <a:extLst>
              <a:ext uri="{FF2B5EF4-FFF2-40B4-BE49-F238E27FC236}">
                <a16:creationId xmlns:a16="http://schemas.microsoft.com/office/drawing/2014/main" id="{1E664754-22B2-FFF3-5FFF-3B26A76373E5}"/>
              </a:ext>
            </a:extLst>
          </p:cNvPr>
          <p:cNvSpPr txBox="1"/>
          <p:nvPr/>
        </p:nvSpPr>
        <p:spPr>
          <a:xfrm>
            <a:off x="318346" y="1331384"/>
            <a:ext cx="4536219" cy="3539430"/>
          </a:xfrm>
          <a:prstGeom prst="rect">
            <a:avLst/>
          </a:prstGeom>
          <a:noFill/>
        </p:spPr>
        <p:txBody>
          <a:bodyPr wrap="square">
            <a:spAutoFit/>
          </a:bodyPr>
          <a:lstStyle/>
          <a:p>
            <a:r>
              <a:rPr lang="ru-RU" b="1" dirty="0"/>
              <a:t>Связывание адресов</a:t>
            </a:r>
          </a:p>
          <a:p>
            <a:endParaRPr lang="ru-RU" b="1" dirty="0"/>
          </a:p>
          <a:p>
            <a:r>
              <a:rPr lang="ru-RU" dirty="0"/>
              <a:t>Логические и физические адресные пространства ни по организации, ни по размеру не соответствуют друг другу. Максимальный размер логического адресного пространства обычно определяется разрядностью процессора (например, 232) и в современных системах значительно превышает размер физического адресного пространства. Следовательно, процессор и ОС должны быть способны отобразить ссылки в коде программы в реальные физические адреса, соответствующие текущему расположению программы в основной памяти. Такое отображение адресов называют трансляцией (привязкой) адреса или связыванием адресов (см. рис. 8.3). </a:t>
            </a:r>
          </a:p>
        </p:txBody>
      </p:sp>
      <p:sp>
        <p:nvSpPr>
          <p:cNvPr id="3" name="TextBox 2">
            <a:extLst>
              <a:ext uri="{FF2B5EF4-FFF2-40B4-BE49-F238E27FC236}">
                <a16:creationId xmlns:a16="http://schemas.microsoft.com/office/drawing/2014/main" id="{7C726560-4763-4A64-87FF-534F49119969}"/>
              </a:ext>
            </a:extLst>
          </p:cNvPr>
          <p:cNvSpPr txBox="1"/>
          <p:nvPr/>
        </p:nvSpPr>
        <p:spPr>
          <a:xfrm>
            <a:off x="5078084" y="4108010"/>
            <a:ext cx="3971089" cy="430887"/>
          </a:xfrm>
          <a:prstGeom prst="rect">
            <a:avLst/>
          </a:prstGeom>
          <a:noFill/>
        </p:spPr>
        <p:txBody>
          <a:bodyPr wrap="square">
            <a:spAutoFit/>
          </a:bodyPr>
          <a:lstStyle/>
          <a:p>
            <a:r>
              <a:rPr lang="ru-RU" sz="1100" b="1" dirty="0"/>
              <a:t>Рис. 8.3. </a:t>
            </a:r>
            <a:r>
              <a:rPr lang="ru-RU" sz="1100" dirty="0"/>
              <a:t>Формирование логического адреса и связывание логического адреса с физическим</a:t>
            </a:r>
          </a:p>
        </p:txBody>
      </p:sp>
      <p:pic>
        <p:nvPicPr>
          <p:cNvPr id="6146" name="Picture 2" descr="5.3 Связывание адресов">
            <a:extLst>
              <a:ext uri="{FF2B5EF4-FFF2-40B4-BE49-F238E27FC236}">
                <a16:creationId xmlns:a16="http://schemas.microsoft.com/office/drawing/2014/main" id="{E37B3114-2E93-5A0E-7ABD-D1B1328CC2E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854565" y="2316463"/>
            <a:ext cx="3527969" cy="179154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07598880"/>
      </p:ext>
    </p:extLst>
  </p:cSld>
  <p:clrMapOvr>
    <a:masterClrMapping/>
  </p:clrMapOvr>
  <p:transition spd="slow">
    <p:push dir="u"/>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EA4F53-21F2-40AB-2113-21CFA56DB421}"/>
            </a:ext>
          </a:extLst>
        </p:cNvPr>
        <p:cNvGrpSpPr/>
        <p:nvPr/>
      </p:nvGrpSpPr>
      <p:grpSpPr>
        <a:xfrm>
          <a:off x="0" y="0"/>
          <a:ext cx="0" cy="0"/>
          <a:chOff x="0" y="0"/>
          <a:chExt cx="0" cy="0"/>
        </a:xfrm>
      </p:grpSpPr>
      <p:sp>
        <p:nvSpPr>
          <p:cNvPr id="5" name="Google Shape;54;p13">
            <a:extLst>
              <a:ext uri="{FF2B5EF4-FFF2-40B4-BE49-F238E27FC236}">
                <a16:creationId xmlns:a16="http://schemas.microsoft.com/office/drawing/2014/main" id="{07161A05-F8DB-8E06-E601-49C8288BFE2E}"/>
              </a:ext>
            </a:extLst>
          </p:cNvPr>
          <p:cNvSpPr/>
          <p:nvPr/>
        </p:nvSpPr>
        <p:spPr>
          <a:xfrm>
            <a:off x="0" y="170019"/>
            <a:ext cx="9144000" cy="934034"/>
          </a:xfrm>
          <a:prstGeom prst="rect">
            <a:avLst/>
          </a:prstGeom>
          <a:solidFill>
            <a:srgbClr val="B6D7A8">
              <a:alpha val="61961"/>
            </a:srgbClr>
          </a:solidFill>
          <a:ln>
            <a:noFill/>
          </a:ln>
          <a:effectLst>
            <a:outerShdw blurRad="57150" dist="19050" dir="5400000" algn="bl" rotWithShape="0">
              <a:srgbClr val="000000">
                <a:alpha val="50000"/>
              </a:srgbClr>
            </a:outerShdw>
            <a:reflection endPos="30000" dist="38100" dir="5400000" fadeDir="5400012" sy="-100000" algn="bl" rotWithShape="0"/>
          </a:effectLst>
        </p:spPr>
        <p:txBody>
          <a:bodyPr spcFirstLastPara="1" wrap="square" lIns="91425" tIns="91425" rIns="91425" bIns="91425" anchor="ctr" anchorCtr="0">
            <a:noAutofit/>
          </a:bodyPr>
          <a:lstStyle/>
          <a:p>
            <a:pPr lvl="0" algn="ctr"/>
            <a:r>
              <a:rPr lang="ru-RU" sz="1800" b="1" dirty="0"/>
              <a:t>Организация памяти компьютера</a:t>
            </a:r>
          </a:p>
        </p:txBody>
      </p:sp>
      <p:sp>
        <p:nvSpPr>
          <p:cNvPr id="4" name="TextBox 3">
            <a:extLst>
              <a:ext uri="{FF2B5EF4-FFF2-40B4-BE49-F238E27FC236}">
                <a16:creationId xmlns:a16="http://schemas.microsoft.com/office/drawing/2014/main" id="{A6D57F9F-ACE1-4A6D-6883-9412A0D5A461}"/>
              </a:ext>
            </a:extLst>
          </p:cNvPr>
          <p:cNvSpPr txBox="1"/>
          <p:nvPr/>
        </p:nvSpPr>
        <p:spPr>
          <a:xfrm>
            <a:off x="318346" y="1331384"/>
            <a:ext cx="4536219" cy="2677656"/>
          </a:xfrm>
          <a:prstGeom prst="rect">
            <a:avLst/>
          </a:prstGeom>
          <a:noFill/>
        </p:spPr>
        <p:txBody>
          <a:bodyPr wrap="square">
            <a:spAutoFit/>
          </a:bodyPr>
          <a:lstStyle/>
          <a:p>
            <a:r>
              <a:rPr lang="ru-RU" b="1" dirty="0"/>
              <a:t>Функции системы управления памятью</a:t>
            </a:r>
          </a:p>
          <a:p>
            <a:endParaRPr lang="ru-RU" dirty="0"/>
          </a:p>
          <a:p>
            <a:r>
              <a:rPr lang="ru-RU" dirty="0"/>
              <a:t>• </a:t>
            </a:r>
            <a:r>
              <a:rPr lang="ru-RU" b="1" dirty="0"/>
              <a:t>отображение адресного пространства </a:t>
            </a:r>
            <a:r>
              <a:rPr lang="ru-RU" dirty="0"/>
              <a:t>процесса на конкретные области физической памяти; </a:t>
            </a:r>
          </a:p>
          <a:p>
            <a:r>
              <a:rPr lang="ru-RU" dirty="0"/>
              <a:t>• </a:t>
            </a:r>
            <a:r>
              <a:rPr lang="ru-RU" b="1" dirty="0"/>
              <a:t>распределение памяти </a:t>
            </a:r>
            <a:r>
              <a:rPr lang="ru-RU" dirty="0"/>
              <a:t>между конкурирующими процессами; </a:t>
            </a:r>
          </a:p>
          <a:p>
            <a:r>
              <a:rPr lang="ru-RU" dirty="0"/>
              <a:t>• </a:t>
            </a:r>
            <a:r>
              <a:rPr lang="ru-RU" b="1" dirty="0"/>
              <a:t>контроль доступа </a:t>
            </a:r>
            <a:r>
              <a:rPr lang="ru-RU" dirty="0"/>
              <a:t>к адресным пространствам процессов; </a:t>
            </a:r>
          </a:p>
          <a:p>
            <a:r>
              <a:rPr lang="ru-RU" dirty="0"/>
              <a:t>• </a:t>
            </a:r>
            <a:r>
              <a:rPr lang="ru-RU" b="1" dirty="0"/>
              <a:t>выгрузка процессов </a:t>
            </a:r>
            <a:r>
              <a:rPr lang="ru-RU" dirty="0"/>
              <a:t>(целиком или частично) во внешнюю память, когда в оперативной памяти недостаточно места; </a:t>
            </a:r>
          </a:p>
          <a:p>
            <a:r>
              <a:rPr lang="ru-RU" dirty="0"/>
              <a:t>• </a:t>
            </a:r>
            <a:r>
              <a:rPr lang="ru-RU" b="1" dirty="0"/>
              <a:t>учет свободной и занятой памяти.</a:t>
            </a:r>
            <a:r>
              <a:rPr lang="ru-RU" dirty="0"/>
              <a:t> </a:t>
            </a:r>
          </a:p>
        </p:txBody>
      </p:sp>
    </p:spTree>
    <p:extLst>
      <p:ext uri="{BB962C8B-B14F-4D97-AF65-F5344CB8AC3E}">
        <p14:creationId xmlns:p14="http://schemas.microsoft.com/office/powerpoint/2010/main" val="445220573"/>
      </p:ext>
    </p:extLst>
  </p:cSld>
  <p:clrMapOvr>
    <a:masterClrMapping/>
  </p:clrMapOvr>
  <p:transition spd="slow">
    <p:push dir="u"/>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B31B07-7F67-B7F3-F217-7B416D280655}"/>
            </a:ext>
          </a:extLst>
        </p:cNvPr>
        <p:cNvGrpSpPr/>
        <p:nvPr/>
      </p:nvGrpSpPr>
      <p:grpSpPr>
        <a:xfrm>
          <a:off x="0" y="0"/>
          <a:ext cx="0" cy="0"/>
          <a:chOff x="0" y="0"/>
          <a:chExt cx="0" cy="0"/>
        </a:xfrm>
      </p:grpSpPr>
      <p:sp>
        <p:nvSpPr>
          <p:cNvPr id="5" name="Google Shape;54;p13">
            <a:extLst>
              <a:ext uri="{FF2B5EF4-FFF2-40B4-BE49-F238E27FC236}">
                <a16:creationId xmlns:a16="http://schemas.microsoft.com/office/drawing/2014/main" id="{11132C6C-D3DB-8C75-5E95-6D28A88AB76C}"/>
              </a:ext>
            </a:extLst>
          </p:cNvPr>
          <p:cNvSpPr/>
          <p:nvPr/>
        </p:nvSpPr>
        <p:spPr>
          <a:xfrm>
            <a:off x="0" y="170019"/>
            <a:ext cx="9144000" cy="934034"/>
          </a:xfrm>
          <a:prstGeom prst="rect">
            <a:avLst/>
          </a:prstGeom>
          <a:solidFill>
            <a:srgbClr val="B6D7A8">
              <a:alpha val="61961"/>
            </a:srgbClr>
          </a:solidFill>
          <a:ln>
            <a:noFill/>
          </a:ln>
          <a:effectLst>
            <a:outerShdw blurRad="57150" dist="19050" dir="5400000" algn="bl" rotWithShape="0">
              <a:srgbClr val="000000">
                <a:alpha val="50000"/>
              </a:srgbClr>
            </a:outerShdw>
            <a:reflection endPos="30000" dist="38100" dir="5400000" fadeDir="5400012" sy="-100000" algn="bl" rotWithShape="0"/>
          </a:effectLst>
        </p:spPr>
        <p:txBody>
          <a:bodyPr spcFirstLastPara="1" wrap="square" lIns="91425" tIns="91425" rIns="91425" bIns="91425" anchor="ctr" anchorCtr="0">
            <a:noAutofit/>
          </a:bodyPr>
          <a:lstStyle/>
          <a:p>
            <a:pPr lvl="0" algn="ctr"/>
            <a:r>
              <a:rPr lang="ru-RU" sz="1800" b="1" dirty="0"/>
              <a:t>Организация памяти компьютера</a:t>
            </a:r>
          </a:p>
        </p:txBody>
      </p:sp>
      <p:sp>
        <p:nvSpPr>
          <p:cNvPr id="4" name="TextBox 3">
            <a:extLst>
              <a:ext uri="{FF2B5EF4-FFF2-40B4-BE49-F238E27FC236}">
                <a16:creationId xmlns:a16="http://schemas.microsoft.com/office/drawing/2014/main" id="{E009DBCB-63B4-1421-5305-79B9504DEA82}"/>
              </a:ext>
            </a:extLst>
          </p:cNvPr>
          <p:cNvSpPr txBox="1"/>
          <p:nvPr/>
        </p:nvSpPr>
        <p:spPr>
          <a:xfrm>
            <a:off x="318346" y="1331384"/>
            <a:ext cx="4536219" cy="3108543"/>
          </a:xfrm>
          <a:prstGeom prst="rect">
            <a:avLst/>
          </a:prstGeom>
          <a:noFill/>
        </p:spPr>
        <p:txBody>
          <a:bodyPr wrap="square">
            <a:spAutoFit/>
          </a:bodyPr>
          <a:lstStyle/>
          <a:p>
            <a:r>
              <a:rPr lang="ru-RU" b="1" dirty="0"/>
              <a:t>Простейшие схемы управления памятью</a:t>
            </a:r>
          </a:p>
          <a:p>
            <a:endParaRPr lang="ru-RU" b="1" dirty="0"/>
          </a:p>
          <a:p>
            <a:r>
              <a:rPr lang="ru-RU" b="1" dirty="0"/>
              <a:t>Схема с фиксированными разделами</a:t>
            </a:r>
          </a:p>
          <a:p>
            <a:r>
              <a:rPr lang="ru-RU" dirty="0"/>
              <a:t>Самым простым способом управления оперативной памятью является ее предварительное (обычно на этапе генерации или в момент загрузки системы) разбиение на несколько разделов фиксированной величины. Поступающие процессы помещаются в тот или иной раздел. При этом происходит условное разбиение физического адресного пространства. Связывание логических и физических адресов процесса происходит на этапе его загрузки в конкретный раздел, иногда – на этапе компиляции. </a:t>
            </a:r>
          </a:p>
        </p:txBody>
      </p:sp>
      <p:sp>
        <p:nvSpPr>
          <p:cNvPr id="3" name="TextBox 2">
            <a:extLst>
              <a:ext uri="{FF2B5EF4-FFF2-40B4-BE49-F238E27FC236}">
                <a16:creationId xmlns:a16="http://schemas.microsoft.com/office/drawing/2014/main" id="{24F5FF9B-AFCE-B84D-1C88-8A5B58A78743}"/>
              </a:ext>
            </a:extLst>
          </p:cNvPr>
          <p:cNvSpPr txBox="1"/>
          <p:nvPr/>
        </p:nvSpPr>
        <p:spPr>
          <a:xfrm>
            <a:off x="4673600" y="4108010"/>
            <a:ext cx="4375573" cy="430887"/>
          </a:xfrm>
          <a:prstGeom prst="rect">
            <a:avLst/>
          </a:prstGeom>
          <a:noFill/>
        </p:spPr>
        <p:txBody>
          <a:bodyPr wrap="square">
            <a:spAutoFit/>
          </a:bodyPr>
          <a:lstStyle/>
          <a:p>
            <a:r>
              <a:rPr lang="ru-RU" sz="1100" b="1" dirty="0"/>
              <a:t>Рис. 8.4. </a:t>
            </a:r>
            <a:r>
              <a:rPr lang="ru-RU" sz="1100" dirty="0"/>
              <a:t>Схема с фиксированными разделами: (a) – с общей очередью процессов, (b) – с отдельными очередями процессов</a:t>
            </a:r>
          </a:p>
        </p:txBody>
      </p:sp>
      <p:pic>
        <p:nvPicPr>
          <p:cNvPr id="6" name="Рисунок 5">
            <a:extLst>
              <a:ext uri="{FF2B5EF4-FFF2-40B4-BE49-F238E27FC236}">
                <a16:creationId xmlns:a16="http://schemas.microsoft.com/office/drawing/2014/main" id="{3DD4BADF-F2CC-C9CA-8719-62408E573FB5}"/>
              </a:ext>
            </a:extLst>
          </p:cNvPr>
          <p:cNvPicPr>
            <a:picLocks noChangeAspect="1"/>
          </p:cNvPicPr>
          <p:nvPr/>
        </p:nvPicPr>
        <p:blipFill>
          <a:blip r:embed="rId2"/>
          <a:stretch>
            <a:fillRect/>
          </a:stretch>
        </p:blipFill>
        <p:spPr>
          <a:xfrm>
            <a:off x="4854565" y="2155480"/>
            <a:ext cx="3992487" cy="1952530"/>
          </a:xfrm>
          <a:prstGeom prst="rect">
            <a:avLst/>
          </a:prstGeom>
        </p:spPr>
      </p:pic>
    </p:spTree>
    <p:extLst>
      <p:ext uri="{BB962C8B-B14F-4D97-AF65-F5344CB8AC3E}">
        <p14:creationId xmlns:p14="http://schemas.microsoft.com/office/powerpoint/2010/main" val="403723392"/>
      </p:ext>
    </p:extLst>
  </p:cSld>
  <p:clrMapOvr>
    <a:masterClrMapping/>
  </p:clrMapOvr>
  <p:transition spd="slow">
    <p:push dir="u"/>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FBC285-5ACB-C0B2-F688-A38338B657D5}"/>
            </a:ext>
          </a:extLst>
        </p:cNvPr>
        <p:cNvGrpSpPr/>
        <p:nvPr/>
      </p:nvGrpSpPr>
      <p:grpSpPr>
        <a:xfrm>
          <a:off x="0" y="0"/>
          <a:ext cx="0" cy="0"/>
          <a:chOff x="0" y="0"/>
          <a:chExt cx="0" cy="0"/>
        </a:xfrm>
      </p:grpSpPr>
      <p:sp>
        <p:nvSpPr>
          <p:cNvPr id="5" name="Google Shape;54;p13">
            <a:extLst>
              <a:ext uri="{FF2B5EF4-FFF2-40B4-BE49-F238E27FC236}">
                <a16:creationId xmlns:a16="http://schemas.microsoft.com/office/drawing/2014/main" id="{42094787-D469-D8AB-6CDB-6DD8F1DAFE8E}"/>
              </a:ext>
            </a:extLst>
          </p:cNvPr>
          <p:cNvSpPr/>
          <p:nvPr/>
        </p:nvSpPr>
        <p:spPr>
          <a:xfrm>
            <a:off x="0" y="170019"/>
            <a:ext cx="9144000" cy="934034"/>
          </a:xfrm>
          <a:prstGeom prst="rect">
            <a:avLst/>
          </a:prstGeom>
          <a:solidFill>
            <a:srgbClr val="B6D7A8">
              <a:alpha val="61961"/>
            </a:srgbClr>
          </a:solidFill>
          <a:ln>
            <a:noFill/>
          </a:ln>
          <a:effectLst>
            <a:outerShdw blurRad="57150" dist="19050" dir="5400000" algn="bl" rotWithShape="0">
              <a:srgbClr val="000000">
                <a:alpha val="50000"/>
              </a:srgbClr>
            </a:outerShdw>
            <a:reflection endPos="30000" dist="38100" dir="5400000" fadeDir="5400012" sy="-100000" algn="bl" rotWithShape="0"/>
          </a:effectLst>
        </p:spPr>
        <p:txBody>
          <a:bodyPr spcFirstLastPara="1" wrap="square" lIns="91425" tIns="91425" rIns="91425" bIns="91425" anchor="ctr" anchorCtr="0">
            <a:noAutofit/>
          </a:bodyPr>
          <a:lstStyle/>
          <a:p>
            <a:pPr lvl="0" algn="ctr"/>
            <a:r>
              <a:rPr lang="ru-RU" sz="1800" b="1" dirty="0"/>
              <a:t>Организация памяти компьютера</a:t>
            </a:r>
          </a:p>
        </p:txBody>
      </p:sp>
      <p:sp>
        <p:nvSpPr>
          <p:cNvPr id="4" name="TextBox 3">
            <a:extLst>
              <a:ext uri="{FF2B5EF4-FFF2-40B4-BE49-F238E27FC236}">
                <a16:creationId xmlns:a16="http://schemas.microsoft.com/office/drawing/2014/main" id="{CCF50956-6C8F-01F5-0E59-C5A97C1AD71F}"/>
              </a:ext>
            </a:extLst>
          </p:cNvPr>
          <p:cNvSpPr txBox="1"/>
          <p:nvPr/>
        </p:nvSpPr>
        <p:spPr>
          <a:xfrm>
            <a:off x="318346" y="1331384"/>
            <a:ext cx="4971627" cy="3323987"/>
          </a:xfrm>
          <a:prstGeom prst="rect">
            <a:avLst/>
          </a:prstGeom>
          <a:noFill/>
        </p:spPr>
        <p:txBody>
          <a:bodyPr wrap="square">
            <a:spAutoFit/>
          </a:bodyPr>
          <a:lstStyle/>
          <a:p>
            <a:r>
              <a:rPr lang="ru-RU" b="1" dirty="0"/>
              <a:t>Простейшие схемы управления памятью</a:t>
            </a:r>
          </a:p>
          <a:p>
            <a:endParaRPr lang="ru-RU" b="1" dirty="0"/>
          </a:p>
          <a:p>
            <a:r>
              <a:rPr lang="ru-RU" b="1" dirty="0"/>
              <a:t>Один процесс в памяти</a:t>
            </a:r>
          </a:p>
          <a:p>
            <a:r>
              <a:rPr lang="ru-RU" dirty="0"/>
              <a:t>Частный случай схемы с фиксированными разделами – работа менеджера памяти однозадачной ОС. В памяти размещается один пользовательский процесс. Остается определить, где располагается пользовательская программа по отношению к ОС – в верхней части памяти, в нижней или в средней. Причем часть ОС может быть в ROM (например, BIOS, драйверы устройств). Главный фактор, влияющий на это решение, – расположение вектора прерываний, который обычно локализован в нижней части памяти, поэтому ОС также размещают в нижней. Примером такой организации может служить ОС MS-DOS. </a:t>
            </a:r>
          </a:p>
        </p:txBody>
      </p:sp>
      <p:pic>
        <p:nvPicPr>
          <p:cNvPr id="8" name="Рисунок 7">
            <a:extLst>
              <a:ext uri="{FF2B5EF4-FFF2-40B4-BE49-F238E27FC236}">
                <a16:creationId xmlns:a16="http://schemas.microsoft.com/office/drawing/2014/main" id="{183097AD-7789-6467-1BF9-9FE8DA95D37C}"/>
              </a:ext>
            </a:extLst>
          </p:cNvPr>
          <p:cNvPicPr>
            <a:picLocks noChangeAspect="1"/>
          </p:cNvPicPr>
          <p:nvPr/>
        </p:nvPicPr>
        <p:blipFill>
          <a:blip r:embed="rId2"/>
          <a:stretch>
            <a:fillRect/>
          </a:stretch>
        </p:blipFill>
        <p:spPr>
          <a:xfrm>
            <a:off x="5880220" y="1598507"/>
            <a:ext cx="2349784" cy="2935252"/>
          </a:xfrm>
          <a:prstGeom prst="rect">
            <a:avLst/>
          </a:prstGeom>
        </p:spPr>
      </p:pic>
    </p:spTree>
    <p:extLst>
      <p:ext uri="{BB962C8B-B14F-4D97-AF65-F5344CB8AC3E}">
        <p14:creationId xmlns:p14="http://schemas.microsoft.com/office/powerpoint/2010/main" val="1246846706"/>
      </p:ext>
    </p:extLst>
  </p:cSld>
  <p:clrMapOvr>
    <a:masterClrMapping/>
  </p:clrMapOvr>
  <p:transition spd="slow">
    <p:push dir="u"/>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114D12-6415-7512-D1BE-82D71C291FE1}"/>
            </a:ext>
          </a:extLst>
        </p:cNvPr>
        <p:cNvGrpSpPr/>
        <p:nvPr/>
      </p:nvGrpSpPr>
      <p:grpSpPr>
        <a:xfrm>
          <a:off x="0" y="0"/>
          <a:ext cx="0" cy="0"/>
          <a:chOff x="0" y="0"/>
          <a:chExt cx="0" cy="0"/>
        </a:xfrm>
      </p:grpSpPr>
      <p:sp>
        <p:nvSpPr>
          <p:cNvPr id="5" name="Google Shape;54;p13">
            <a:extLst>
              <a:ext uri="{FF2B5EF4-FFF2-40B4-BE49-F238E27FC236}">
                <a16:creationId xmlns:a16="http://schemas.microsoft.com/office/drawing/2014/main" id="{ED7C6603-EB0D-ECA0-E3BA-4A17058BBAEC}"/>
              </a:ext>
            </a:extLst>
          </p:cNvPr>
          <p:cNvSpPr/>
          <p:nvPr/>
        </p:nvSpPr>
        <p:spPr>
          <a:xfrm>
            <a:off x="0" y="170019"/>
            <a:ext cx="9144000" cy="934034"/>
          </a:xfrm>
          <a:prstGeom prst="rect">
            <a:avLst/>
          </a:prstGeom>
          <a:solidFill>
            <a:srgbClr val="B6D7A8">
              <a:alpha val="61961"/>
            </a:srgbClr>
          </a:solidFill>
          <a:ln>
            <a:noFill/>
          </a:ln>
          <a:effectLst>
            <a:outerShdw blurRad="57150" dist="19050" dir="5400000" algn="bl" rotWithShape="0">
              <a:srgbClr val="000000">
                <a:alpha val="50000"/>
              </a:srgbClr>
            </a:outerShdw>
            <a:reflection endPos="30000" dist="38100" dir="5400000" fadeDir="5400012" sy="-100000" algn="bl" rotWithShape="0"/>
          </a:effectLst>
        </p:spPr>
        <p:txBody>
          <a:bodyPr spcFirstLastPara="1" wrap="square" lIns="91425" tIns="91425" rIns="91425" bIns="91425" anchor="ctr" anchorCtr="0">
            <a:noAutofit/>
          </a:bodyPr>
          <a:lstStyle/>
          <a:p>
            <a:pPr lvl="0" algn="ctr"/>
            <a:r>
              <a:rPr lang="ru-RU" sz="1800" b="1" dirty="0"/>
              <a:t>Организация памяти компьютера</a:t>
            </a:r>
          </a:p>
        </p:txBody>
      </p:sp>
      <p:sp>
        <p:nvSpPr>
          <p:cNvPr id="4" name="TextBox 3">
            <a:extLst>
              <a:ext uri="{FF2B5EF4-FFF2-40B4-BE49-F238E27FC236}">
                <a16:creationId xmlns:a16="http://schemas.microsoft.com/office/drawing/2014/main" id="{F92950B1-9A41-55B4-751A-DD7E086EF644}"/>
              </a:ext>
            </a:extLst>
          </p:cNvPr>
          <p:cNvSpPr txBox="1"/>
          <p:nvPr/>
        </p:nvSpPr>
        <p:spPr>
          <a:xfrm>
            <a:off x="318347" y="1331384"/>
            <a:ext cx="3969144" cy="2893100"/>
          </a:xfrm>
          <a:prstGeom prst="rect">
            <a:avLst/>
          </a:prstGeom>
          <a:noFill/>
        </p:spPr>
        <p:txBody>
          <a:bodyPr wrap="square">
            <a:spAutoFit/>
          </a:bodyPr>
          <a:lstStyle/>
          <a:p>
            <a:r>
              <a:rPr lang="ru-RU" b="1" dirty="0"/>
              <a:t>Простейшие схемы управления памятью</a:t>
            </a:r>
          </a:p>
          <a:p>
            <a:endParaRPr lang="ru-RU" b="1" dirty="0"/>
          </a:p>
          <a:p>
            <a:r>
              <a:rPr lang="ru-RU" b="1" dirty="0"/>
              <a:t>Оверлейная структура</a:t>
            </a:r>
            <a:endParaRPr lang="en-US" b="1" dirty="0"/>
          </a:p>
          <a:p>
            <a:r>
              <a:rPr lang="ru-RU" dirty="0"/>
              <a:t>Так как размер логического адресного пространства процесса может быть больше, чем размер выделенного ему раздела (или больше, чем размер самого большого раздела), иногда используется техника, называемая оверлей (</a:t>
            </a:r>
            <a:r>
              <a:rPr lang="ru-RU" dirty="0" err="1"/>
              <a:t>overlay</a:t>
            </a:r>
            <a:r>
              <a:rPr lang="ru-RU" dirty="0"/>
              <a:t>) или организация структуры с перекрытием. Основная идея – держать в памяти только те инструкции программы, которые нужны в данный момент. </a:t>
            </a:r>
          </a:p>
        </p:txBody>
      </p:sp>
      <p:sp>
        <p:nvSpPr>
          <p:cNvPr id="3" name="TextBox 2">
            <a:extLst>
              <a:ext uri="{FF2B5EF4-FFF2-40B4-BE49-F238E27FC236}">
                <a16:creationId xmlns:a16="http://schemas.microsoft.com/office/drawing/2014/main" id="{4EB581AC-7015-4746-4499-7BCE8F8785E8}"/>
              </a:ext>
            </a:extLst>
          </p:cNvPr>
          <p:cNvSpPr txBox="1"/>
          <p:nvPr/>
        </p:nvSpPr>
        <p:spPr>
          <a:xfrm>
            <a:off x="4389120" y="4108010"/>
            <a:ext cx="4754880" cy="430887"/>
          </a:xfrm>
          <a:prstGeom prst="rect">
            <a:avLst/>
          </a:prstGeom>
          <a:noFill/>
        </p:spPr>
        <p:txBody>
          <a:bodyPr wrap="square">
            <a:spAutoFit/>
          </a:bodyPr>
          <a:lstStyle/>
          <a:p>
            <a:r>
              <a:rPr lang="ru-RU" sz="1100" b="1" dirty="0"/>
              <a:t>Рис. 8.</a:t>
            </a:r>
            <a:r>
              <a:rPr lang="en-US" sz="1100" b="1" dirty="0"/>
              <a:t>5</a:t>
            </a:r>
            <a:r>
              <a:rPr lang="ru-RU" sz="1100" b="1" dirty="0"/>
              <a:t>. </a:t>
            </a:r>
            <a:r>
              <a:rPr lang="ru-RU" sz="1100" dirty="0"/>
              <a:t>Организация структуры с перекрытием. Можно поочередно загружать в память ветви A-B, A-C-D и A-C-E программы</a:t>
            </a:r>
          </a:p>
        </p:txBody>
      </p:sp>
      <p:pic>
        <p:nvPicPr>
          <p:cNvPr id="7" name="Рисунок 6">
            <a:extLst>
              <a:ext uri="{FF2B5EF4-FFF2-40B4-BE49-F238E27FC236}">
                <a16:creationId xmlns:a16="http://schemas.microsoft.com/office/drawing/2014/main" id="{AA9CCB09-70C6-A3AE-690B-06431A1373D0}"/>
              </a:ext>
            </a:extLst>
          </p:cNvPr>
          <p:cNvPicPr>
            <a:picLocks noChangeAspect="1"/>
          </p:cNvPicPr>
          <p:nvPr/>
        </p:nvPicPr>
        <p:blipFill>
          <a:blip r:embed="rId2"/>
          <a:stretch>
            <a:fillRect/>
          </a:stretch>
        </p:blipFill>
        <p:spPr>
          <a:xfrm>
            <a:off x="4605836" y="2652049"/>
            <a:ext cx="4219818" cy="1455961"/>
          </a:xfrm>
          <a:prstGeom prst="rect">
            <a:avLst/>
          </a:prstGeom>
        </p:spPr>
      </p:pic>
    </p:spTree>
    <p:extLst>
      <p:ext uri="{BB962C8B-B14F-4D97-AF65-F5344CB8AC3E}">
        <p14:creationId xmlns:p14="http://schemas.microsoft.com/office/powerpoint/2010/main" val="1658848171"/>
      </p:ext>
    </p:extLst>
  </p:cSld>
  <p:clrMapOvr>
    <a:masterClrMapping/>
  </p:clrMapOvr>
  <p:transition spd="slow">
    <p:push dir="u"/>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2A03B7-95F1-C7F4-3724-A9E8BA32C402}"/>
            </a:ext>
          </a:extLst>
        </p:cNvPr>
        <p:cNvGrpSpPr/>
        <p:nvPr/>
      </p:nvGrpSpPr>
      <p:grpSpPr>
        <a:xfrm>
          <a:off x="0" y="0"/>
          <a:ext cx="0" cy="0"/>
          <a:chOff x="0" y="0"/>
          <a:chExt cx="0" cy="0"/>
        </a:xfrm>
      </p:grpSpPr>
      <p:sp>
        <p:nvSpPr>
          <p:cNvPr id="5" name="Google Shape;54;p13">
            <a:extLst>
              <a:ext uri="{FF2B5EF4-FFF2-40B4-BE49-F238E27FC236}">
                <a16:creationId xmlns:a16="http://schemas.microsoft.com/office/drawing/2014/main" id="{E458B104-1FE2-757B-2693-E14B6685899B}"/>
              </a:ext>
            </a:extLst>
          </p:cNvPr>
          <p:cNvSpPr/>
          <p:nvPr/>
        </p:nvSpPr>
        <p:spPr>
          <a:xfrm>
            <a:off x="0" y="170019"/>
            <a:ext cx="9144000" cy="934034"/>
          </a:xfrm>
          <a:prstGeom prst="rect">
            <a:avLst/>
          </a:prstGeom>
          <a:solidFill>
            <a:srgbClr val="B6D7A8">
              <a:alpha val="61961"/>
            </a:srgbClr>
          </a:solidFill>
          <a:ln>
            <a:noFill/>
          </a:ln>
          <a:effectLst>
            <a:outerShdw blurRad="57150" dist="19050" dir="5400000" algn="bl" rotWithShape="0">
              <a:srgbClr val="000000">
                <a:alpha val="50000"/>
              </a:srgbClr>
            </a:outerShdw>
            <a:reflection endPos="30000" dist="38100" dir="5400000" fadeDir="5400012" sy="-100000" algn="bl" rotWithShape="0"/>
          </a:effectLst>
        </p:spPr>
        <p:txBody>
          <a:bodyPr spcFirstLastPara="1" wrap="square" lIns="91425" tIns="91425" rIns="91425" bIns="91425" anchor="ctr" anchorCtr="0">
            <a:noAutofit/>
          </a:bodyPr>
          <a:lstStyle/>
          <a:p>
            <a:pPr lvl="0" algn="ctr"/>
            <a:r>
              <a:rPr lang="ru-RU" sz="1800" b="1" dirty="0"/>
              <a:t>Организация памяти компьютера</a:t>
            </a:r>
          </a:p>
        </p:txBody>
      </p:sp>
      <p:sp>
        <p:nvSpPr>
          <p:cNvPr id="4" name="TextBox 3">
            <a:extLst>
              <a:ext uri="{FF2B5EF4-FFF2-40B4-BE49-F238E27FC236}">
                <a16:creationId xmlns:a16="http://schemas.microsoft.com/office/drawing/2014/main" id="{4301E24A-B50D-BC10-1FB0-146034161022}"/>
              </a:ext>
            </a:extLst>
          </p:cNvPr>
          <p:cNvSpPr txBox="1"/>
          <p:nvPr/>
        </p:nvSpPr>
        <p:spPr>
          <a:xfrm>
            <a:off x="318347" y="1331384"/>
            <a:ext cx="3969144" cy="3539430"/>
          </a:xfrm>
          <a:prstGeom prst="rect">
            <a:avLst/>
          </a:prstGeom>
          <a:noFill/>
        </p:spPr>
        <p:txBody>
          <a:bodyPr wrap="square">
            <a:spAutoFit/>
          </a:bodyPr>
          <a:lstStyle/>
          <a:p>
            <a:r>
              <a:rPr lang="ru-RU" b="1" dirty="0"/>
              <a:t>Простейшие схемы управления памятью</a:t>
            </a:r>
          </a:p>
          <a:p>
            <a:endParaRPr lang="ru-RU" b="1" dirty="0"/>
          </a:p>
          <a:p>
            <a:r>
              <a:rPr lang="ru-RU" b="1" dirty="0"/>
              <a:t>Динамическое распределение. Свопинг</a:t>
            </a:r>
            <a:endParaRPr lang="en-US" b="1" dirty="0"/>
          </a:p>
          <a:p>
            <a:r>
              <a:rPr lang="ru-RU" dirty="0"/>
              <a:t>Имея дело с пакетными системами, можно обходиться фиксированными разделами и не использовать ничего более сложного. В системах с разделением времени возможна ситуация, когда память не в состоянии содержать все пользовательские процессы. Приходится прибегать к свопингу (</a:t>
            </a:r>
            <a:r>
              <a:rPr lang="ru-RU" dirty="0" err="1"/>
              <a:t>swapping</a:t>
            </a:r>
            <a:r>
              <a:rPr lang="ru-RU" dirty="0"/>
              <a:t>) – перемещению процессов из главной памяти на диск и обратно целиком. Частичная выгрузка процессов на диск осуществляется в системах со страничной организацией (</a:t>
            </a:r>
            <a:r>
              <a:rPr lang="ru-RU" dirty="0" err="1"/>
              <a:t>paging</a:t>
            </a:r>
            <a:r>
              <a:rPr lang="ru-RU" dirty="0"/>
              <a:t>) и будет рассмотрена ниже. </a:t>
            </a:r>
          </a:p>
        </p:txBody>
      </p:sp>
      <p:pic>
        <p:nvPicPr>
          <p:cNvPr id="7170" name="Picture 2" descr="Understanding Swap Space in Linux: A Practical Guide - NashTech Blog">
            <a:extLst>
              <a:ext uri="{FF2B5EF4-FFF2-40B4-BE49-F238E27FC236}">
                <a16:creationId xmlns:a16="http://schemas.microsoft.com/office/drawing/2014/main" id="{EE847A7A-D74F-4239-2BE9-DAAAB64EA332}"/>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9986" t="11732" r="11406" b="10052"/>
          <a:stretch>
            <a:fillRect/>
          </a:stretch>
        </p:blipFill>
        <p:spPr bwMode="auto">
          <a:xfrm>
            <a:off x="4572000" y="2086187"/>
            <a:ext cx="4158827" cy="216746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07433309"/>
      </p:ext>
    </p:extLst>
  </p:cSld>
  <p:clrMapOvr>
    <a:masterClrMapping/>
  </p:clrMapOvr>
  <p:transition spd="slow">
    <p:push dir="u"/>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58B87C-F756-318D-7A53-A1E3FC315C42}"/>
            </a:ext>
          </a:extLst>
        </p:cNvPr>
        <p:cNvGrpSpPr/>
        <p:nvPr/>
      </p:nvGrpSpPr>
      <p:grpSpPr>
        <a:xfrm>
          <a:off x="0" y="0"/>
          <a:ext cx="0" cy="0"/>
          <a:chOff x="0" y="0"/>
          <a:chExt cx="0" cy="0"/>
        </a:xfrm>
      </p:grpSpPr>
      <p:sp>
        <p:nvSpPr>
          <p:cNvPr id="5" name="Google Shape;54;p13">
            <a:extLst>
              <a:ext uri="{FF2B5EF4-FFF2-40B4-BE49-F238E27FC236}">
                <a16:creationId xmlns:a16="http://schemas.microsoft.com/office/drawing/2014/main" id="{ACBCB65F-0406-5095-2B3D-D4EC7C3370E4}"/>
              </a:ext>
            </a:extLst>
          </p:cNvPr>
          <p:cNvSpPr/>
          <p:nvPr/>
        </p:nvSpPr>
        <p:spPr>
          <a:xfrm>
            <a:off x="0" y="170019"/>
            <a:ext cx="9144000" cy="934034"/>
          </a:xfrm>
          <a:prstGeom prst="rect">
            <a:avLst/>
          </a:prstGeom>
          <a:solidFill>
            <a:srgbClr val="B6D7A8">
              <a:alpha val="61961"/>
            </a:srgbClr>
          </a:solidFill>
          <a:ln>
            <a:noFill/>
          </a:ln>
          <a:effectLst>
            <a:outerShdw blurRad="57150" dist="19050" dir="5400000" algn="bl" rotWithShape="0">
              <a:srgbClr val="000000">
                <a:alpha val="50000"/>
              </a:srgbClr>
            </a:outerShdw>
            <a:reflection endPos="30000" dist="38100" dir="5400000" fadeDir="5400012" sy="-100000" algn="bl" rotWithShape="0"/>
          </a:effectLst>
        </p:spPr>
        <p:txBody>
          <a:bodyPr spcFirstLastPara="1" wrap="square" lIns="91425" tIns="91425" rIns="91425" bIns="91425" anchor="ctr" anchorCtr="0">
            <a:noAutofit/>
          </a:bodyPr>
          <a:lstStyle/>
          <a:p>
            <a:pPr lvl="0" algn="ctr"/>
            <a:r>
              <a:rPr lang="ru-RU" sz="1800" b="1" dirty="0"/>
              <a:t>Организация памяти компьютера</a:t>
            </a:r>
          </a:p>
        </p:txBody>
      </p:sp>
      <p:sp>
        <p:nvSpPr>
          <p:cNvPr id="4" name="TextBox 3">
            <a:extLst>
              <a:ext uri="{FF2B5EF4-FFF2-40B4-BE49-F238E27FC236}">
                <a16:creationId xmlns:a16="http://schemas.microsoft.com/office/drawing/2014/main" id="{5F991A50-01C1-E178-A742-D77828F97436}"/>
              </a:ext>
            </a:extLst>
          </p:cNvPr>
          <p:cNvSpPr txBox="1"/>
          <p:nvPr/>
        </p:nvSpPr>
        <p:spPr>
          <a:xfrm>
            <a:off x="67732" y="1173182"/>
            <a:ext cx="5073228" cy="3754874"/>
          </a:xfrm>
          <a:prstGeom prst="rect">
            <a:avLst/>
          </a:prstGeom>
          <a:noFill/>
        </p:spPr>
        <p:txBody>
          <a:bodyPr wrap="square">
            <a:spAutoFit/>
          </a:bodyPr>
          <a:lstStyle/>
          <a:p>
            <a:r>
              <a:rPr lang="ru-RU" b="1" dirty="0"/>
              <a:t>Простейшие схемы управления памятью</a:t>
            </a:r>
          </a:p>
          <a:p>
            <a:endParaRPr lang="ru-RU" b="1" dirty="0"/>
          </a:p>
          <a:p>
            <a:r>
              <a:rPr lang="ru-RU" b="1" dirty="0"/>
              <a:t>Схема с переменными разделами</a:t>
            </a:r>
            <a:endParaRPr lang="en-US" b="1" dirty="0"/>
          </a:p>
          <a:p>
            <a:r>
              <a:rPr lang="ru-RU" dirty="0"/>
              <a:t>система свопинга может базироваться на фиксированных разделах. Более эффективной, однако, представляется схема динамического распределения или схема с переменными разделами, которая может использоваться и в тех случаях, когда все процессы целиком помещаются в памяти, то есть в отсутствие свопинга. В этом случае вначале вся память свободна и не разделена заранее на разделы. Вновь поступающей задаче выделяется строго необходимое количество памяти, не более. После выгрузки процесса память временно освобождается. По истечении некоторого времени память представляет собой переменное число разделов разного размера (рис. 8.6). Смежные свободные участки могут быть объединены.</a:t>
            </a:r>
          </a:p>
        </p:txBody>
      </p:sp>
      <p:sp>
        <p:nvSpPr>
          <p:cNvPr id="3" name="TextBox 2">
            <a:extLst>
              <a:ext uri="{FF2B5EF4-FFF2-40B4-BE49-F238E27FC236}">
                <a16:creationId xmlns:a16="http://schemas.microsoft.com/office/drawing/2014/main" id="{60636B1B-3835-EB2A-2F19-72F2D0A34815}"/>
              </a:ext>
            </a:extLst>
          </p:cNvPr>
          <p:cNvSpPr txBox="1"/>
          <p:nvPr/>
        </p:nvSpPr>
        <p:spPr>
          <a:xfrm>
            <a:off x="5251313" y="4038881"/>
            <a:ext cx="3824955" cy="600164"/>
          </a:xfrm>
          <a:prstGeom prst="rect">
            <a:avLst/>
          </a:prstGeom>
          <a:noFill/>
        </p:spPr>
        <p:txBody>
          <a:bodyPr wrap="square">
            <a:spAutoFit/>
          </a:bodyPr>
          <a:lstStyle/>
          <a:p>
            <a:r>
              <a:rPr lang="ru-RU" sz="1100" b="1" dirty="0"/>
              <a:t>Рис. 8.</a:t>
            </a:r>
            <a:r>
              <a:rPr lang="en-US" sz="1100" b="1" dirty="0"/>
              <a:t>6</a:t>
            </a:r>
            <a:r>
              <a:rPr lang="ru-RU" sz="1100" b="1" dirty="0"/>
              <a:t>. </a:t>
            </a:r>
            <a:r>
              <a:rPr lang="ru-RU" sz="1100" dirty="0"/>
              <a:t>Динамика распределения памяти между процессами (серым цветом показана неиспользуемая память) </a:t>
            </a:r>
          </a:p>
        </p:txBody>
      </p:sp>
      <p:pic>
        <p:nvPicPr>
          <p:cNvPr id="6" name="Рисунок 5">
            <a:extLst>
              <a:ext uri="{FF2B5EF4-FFF2-40B4-BE49-F238E27FC236}">
                <a16:creationId xmlns:a16="http://schemas.microsoft.com/office/drawing/2014/main" id="{2FB7DEBB-D087-A27C-B5A3-EB6D8800ECAE}"/>
              </a:ext>
            </a:extLst>
          </p:cNvPr>
          <p:cNvPicPr>
            <a:picLocks noChangeAspect="1"/>
          </p:cNvPicPr>
          <p:nvPr/>
        </p:nvPicPr>
        <p:blipFill>
          <a:blip r:embed="rId2"/>
          <a:stretch>
            <a:fillRect/>
          </a:stretch>
        </p:blipFill>
        <p:spPr>
          <a:xfrm>
            <a:off x="5140960" y="2291128"/>
            <a:ext cx="3824954" cy="1747753"/>
          </a:xfrm>
          <a:prstGeom prst="rect">
            <a:avLst/>
          </a:prstGeom>
        </p:spPr>
      </p:pic>
    </p:spTree>
    <p:extLst>
      <p:ext uri="{BB962C8B-B14F-4D97-AF65-F5344CB8AC3E}">
        <p14:creationId xmlns:p14="http://schemas.microsoft.com/office/powerpoint/2010/main" val="1342303793"/>
      </p:ext>
    </p:extLst>
  </p:cSld>
  <p:clrMapOvr>
    <a:masterClrMapping/>
  </p:clrMapOvr>
  <p:transition spd="slow">
    <p:push dir="u"/>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1E3C98-02DC-77C2-CAE2-277BB54C959C}"/>
            </a:ext>
          </a:extLst>
        </p:cNvPr>
        <p:cNvGrpSpPr/>
        <p:nvPr/>
      </p:nvGrpSpPr>
      <p:grpSpPr>
        <a:xfrm>
          <a:off x="0" y="0"/>
          <a:ext cx="0" cy="0"/>
          <a:chOff x="0" y="0"/>
          <a:chExt cx="0" cy="0"/>
        </a:xfrm>
      </p:grpSpPr>
      <p:sp>
        <p:nvSpPr>
          <p:cNvPr id="5" name="Google Shape;54;p13">
            <a:extLst>
              <a:ext uri="{FF2B5EF4-FFF2-40B4-BE49-F238E27FC236}">
                <a16:creationId xmlns:a16="http://schemas.microsoft.com/office/drawing/2014/main" id="{B048E7AB-0415-C701-98EB-ED5162AA7A6D}"/>
              </a:ext>
            </a:extLst>
          </p:cNvPr>
          <p:cNvSpPr/>
          <p:nvPr/>
        </p:nvSpPr>
        <p:spPr>
          <a:xfrm>
            <a:off x="0" y="170019"/>
            <a:ext cx="9144000" cy="934034"/>
          </a:xfrm>
          <a:prstGeom prst="rect">
            <a:avLst/>
          </a:prstGeom>
          <a:solidFill>
            <a:srgbClr val="B6D7A8">
              <a:alpha val="61961"/>
            </a:srgbClr>
          </a:solidFill>
          <a:ln>
            <a:noFill/>
          </a:ln>
          <a:effectLst>
            <a:outerShdw blurRad="57150" dist="19050" dir="5400000" algn="bl" rotWithShape="0">
              <a:srgbClr val="000000">
                <a:alpha val="50000"/>
              </a:srgbClr>
            </a:outerShdw>
            <a:reflection endPos="30000" dist="38100" dir="5400000" fadeDir="5400012" sy="-100000" algn="bl" rotWithShape="0"/>
          </a:effectLst>
        </p:spPr>
        <p:txBody>
          <a:bodyPr spcFirstLastPara="1" wrap="square" lIns="91425" tIns="91425" rIns="91425" bIns="91425" anchor="ctr" anchorCtr="0">
            <a:noAutofit/>
          </a:bodyPr>
          <a:lstStyle/>
          <a:p>
            <a:pPr lvl="0" algn="ctr"/>
            <a:r>
              <a:rPr lang="ru-RU" sz="1800" b="1" dirty="0"/>
              <a:t>Организация памяти компьютера</a:t>
            </a:r>
          </a:p>
        </p:txBody>
      </p:sp>
      <p:sp>
        <p:nvSpPr>
          <p:cNvPr id="4" name="TextBox 3">
            <a:extLst>
              <a:ext uri="{FF2B5EF4-FFF2-40B4-BE49-F238E27FC236}">
                <a16:creationId xmlns:a16="http://schemas.microsoft.com/office/drawing/2014/main" id="{2219826B-66EC-C112-8127-4F95986ED28D}"/>
              </a:ext>
            </a:extLst>
          </p:cNvPr>
          <p:cNvSpPr txBox="1"/>
          <p:nvPr/>
        </p:nvSpPr>
        <p:spPr>
          <a:xfrm>
            <a:off x="67732" y="1173182"/>
            <a:ext cx="5073228" cy="3754874"/>
          </a:xfrm>
          <a:prstGeom prst="rect">
            <a:avLst/>
          </a:prstGeom>
          <a:noFill/>
        </p:spPr>
        <p:txBody>
          <a:bodyPr wrap="square">
            <a:spAutoFit/>
          </a:bodyPr>
          <a:lstStyle/>
          <a:p>
            <a:r>
              <a:rPr lang="ru-RU" b="1" dirty="0"/>
              <a:t>Страничная память</a:t>
            </a:r>
          </a:p>
          <a:p>
            <a:endParaRPr lang="en-US" b="1" dirty="0"/>
          </a:p>
          <a:p>
            <a:r>
              <a:rPr lang="ru-RU" dirty="0"/>
              <a:t>В самом простом и наиболее распространенном случае страничной организации памяти (или </a:t>
            </a:r>
            <a:r>
              <a:rPr lang="ru-RU" dirty="0" err="1"/>
              <a:t>paging</a:t>
            </a:r>
            <a:r>
              <a:rPr lang="ru-RU" dirty="0"/>
              <a:t>) как логическое адресное пространство, так и физическое представляются состоящими из наборов блоков или страниц одинакового размера. При этом образуются логические страницы (</a:t>
            </a:r>
            <a:r>
              <a:rPr lang="ru-RU" dirty="0" err="1"/>
              <a:t>page</a:t>
            </a:r>
            <a:r>
              <a:rPr lang="ru-RU" dirty="0"/>
              <a:t>), а соответствующие единицы в физической памяти называют физическими страницами или страничными кадрами (</a:t>
            </a:r>
            <a:r>
              <a:rPr lang="ru-RU" dirty="0" err="1"/>
              <a:t>page</a:t>
            </a:r>
            <a:r>
              <a:rPr lang="ru-RU" dirty="0"/>
              <a:t> </a:t>
            </a:r>
            <a:r>
              <a:rPr lang="ru-RU" dirty="0" err="1"/>
              <a:t>frames</a:t>
            </a:r>
            <a:r>
              <a:rPr lang="ru-RU" dirty="0"/>
              <a:t>). Страницы (и страничные кадры) имеют фиксированную длину, обычно являющуюся степенью числа 2, и не могут перекрываться. Каждый кадр содержит одну страницу данных. При такой организации внешняя фрагментация отсутствует, а потери из-за внутренней фрагментации, поскольку процесс занимает целое число страниц, ограничены частью последней страницы процесса. </a:t>
            </a:r>
          </a:p>
        </p:txBody>
      </p:sp>
      <p:sp>
        <p:nvSpPr>
          <p:cNvPr id="3" name="TextBox 2">
            <a:extLst>
              <a:ext uri="{FF2B5EF4-FFF2-40B4-BE49-F238E27FC236}">
                <a16:creationId xmlns:a16="http://schemas.microsoft.com/office/drawing/2014/main" id="{B059F2B5-CE10-8398-A643-11B52DD08D91}"/>
              </a:ext>
            </a:extLst>
          </p:cNvPr>
          <p:cNvSpPr txBox="1"/>
          <p:nvPr/>
        </p:nvSpPr>
        <p:spPr>
          <a:xfrm>
            <a:off x="5140960" y="4343413"/>
            <a:ext cx="3824955" cy="430887"/>
          </a:xfrm>
          <a:prstGeom prst="rect">
            <a:avLst/>
          </a:prstGeom>
          <a:noFill/>
        </p:spPr>
        <p:txBody>
          <a:bodyPr wrap="square">
            <a:spAutoFit/>
          </a:bodyPr>
          <a:lstStyle/>
          <a:p>
            <a:r>
              <a:rPr lang="ru-RU" sz="1100" b="1" dirty="0"/>
              <a:t>Рис. 8.</a:t>
            </a:r>
            <a:r>
              <a:rPr lang="en-US" sz="1100" b="1" dirty="0"/>
              <a:t>7</a:t>
            </a:r>
            <a:r>
              <a:rPr lang="ru-RU" sz="1100" b="1" dirty="0"/>
              <a:t>. </a:t>
            </a:r>
            <a:r>
              <a:rPr lang="ru-RU" sz="1100" dirty="0"/>
              <a:t>Связь логического и физического адресов при страничной организации памяти </a:t>
            </a:r>
          </a:p>
        </p:txBody>
      </p:sp>
      <p:pic>
        <p:nvPicPr>
          <p:cNvPr id="9" name="Рисунок 8">
            <a:extLst>
              <a:ext uri="{FF2B5EF4-FFF2-40B4-BE49-F238E27FC236}">
                <a16:creationId xmlns:a16="http://schemas.microsoft.com/office/drawing/2014/main" id="{37BFE49F-1CCA-0BB0-F098-A5DA13EFBE42}"/>
              </a:ext>
            </a:extLst>
          </p:cNvPr>
          <p:cNvPicPr>
            <a:picLocks noChangeAspect="1"/>
          </p:cNvPicPr>
          <p:nvPr/>
        </p:nvPicPr>
        <p:blipFill>
          <a:blip r:embed="rId2"/>
          <a:stretch>
            <a:fillRect/>
          </a:stretch>
        </p:blipFill>
        <p:spPr>
          <a:xfrm>
            <a:off x="5140960" y="1664003"/>
            <a:ext cx="3649067" cy="2610281"/>
          </a:xfrm>
          <a:prstGeom prst="rect">
            <a:avLst/>
          </a:prstGeom>
        </p:spPr>
      </p:pic>
    </p:spTree>
    <p:extLst>
      <p:ext uri="{BB962C8B-B14F-4D97-AF65-F5344CB8AC3E}">
        <p14:creationId xmlns:p14="http://schemas.microsoft.com/office/powerpoint/2010/main" val="2827290030"/>
      </p:ext>
    </p:extLst>
  </p:cSld>
  <p:clrMapOvr>
    <a:masterClrMapping/>
  </p:clrMapOvr>
  <p:transition spd="slow">
    <p:push dir="u"/>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DE14BA-5A3A-8EC8-777D-E76DA56EE855}"/>
            </a:ext>
          </a:extLst>
        </p:cNvPr>
        <p:cNvGrpSpPr/>
        <p:nvPr/>
      </p:nvGrpSpPr>
      <p:grpSpPr>
        <a:xfrm>
          <a:off x="0" y="0"/>
          <a:ext cx="0" cy="0"/>
          <a:chOff x="0" y="0"/>
          <a:chExt cx="0" cy="0"/>
        </a:xfrm>
      </p:grpSpPr>
      <p:sp>
        <p:nvSpPr>
          <p:cNvPr id="5" name="Google Shape;54;p13">
            <a:extLst>
              <a:ext uri="{FF2B5EF4-FFF2-40B4-BE49-F238E27FC236}">
                <a16:creationId xmlns:a16="http://schemas.microsoft.com/office/drawing/2014/main" id="{BC4A83D6-F879-39D8-F8A6-4E4F7833B084}"/>
              </a:ext>
            </a:extLst>
          </p:cNvPr>
          <p:cNvSpPr/>
          <p:nvPr/>
        </p:nvSpPr>
        <p:spPr>
          <a:xfrm>
            <a:off x="0" y="170019"/>
            <a:ext cx="9144000" cy="934034"/>
          </a:xfrm>
          <a:prstGeom prst="rect">
            <a:avLst/>
          </a:prstGeom>
          <a:solidFill>
            <a:srgbClr val="B6D7A8">
              <a:alpha val="61961"/>
            </a:srgbClr>
          </a:solidFill>
          <a:ln>
            <a:noFill/>
          </a:ln>
          <a:effectLst>
            <a:outerShdw blurRad="57150" dist="19050" dir="5400000" algn="bl" rotWithShape="0">
              <a:srgbClr val="000000">
                <a:alpha val="50000"/>
              </a:srgbClr>
            </a:outerShdw>
            <a:reflection endPos="30000" dist="38100" dir="5400000" fadeDir="5400012" sy="-100000" algn="bl" rotWithShape="0"/>
          </a:effectLst>
        </p:spPr>
        <p:txBody>
          <a:bodyPr spcFirstLastPara="1" wrap="square" lIns="91425" tIns="91425" rIns="91425" bIns="91425" anchor="ctr" anchorCtr="0">
            <a:noAutofit/>
          </a:bodyPr>
          <a:lstStyle/>
          <a:p>
            <a:pPr lvl="0" algn="ctr"/>
            <a:r>
              <a:rPr lang="ru-RU" sz="1800" b="1" dirty="0"/>
              <a:t>Организация памяти компьютера</a:t>
            </a:r>
          </a:p>
        </p:txBody>
      </p:sp>
      <p:sp>
        <p:nvSpPr>
          <p:cNvPr id="4" name="TextBox 3">
            <a:extLst>
              <a:ext uri="{FF2B5EF4-FFF2-40B4-BE49-F238E27FC236}">
                <a16:creationId xmlns:a16="http://schemas.microsoft.com/office/drawing/2014/main" id="{5C3AA4A5-6EB0-1330-4CD1-0E4749AC0B91}"/>
              </a:ext>
            </a:extLst>
          </p:cNvPr>
          <p:cNvSpPr txBox="1"/>
          <p:nvPr/>
        </p:nvSpPr>
        <p:spPr>
          <a:xfrm>
            <a:off x="311572" y="1437342"/>
            <a:ext cx="6658188" cy="2893100"/>
          </a:xfrm>
          <a:prstGeom prst="rect">
            <a:avLst/>
          </a:prstGeom>
          <a:noFill/>
        </p:spPr>
        <p:txBody>
          <a:bodyPr wrap="square">
            <a:spAutoFit/>
          </a:bodyPr>
          <a:lstStyle/>
          <a:p>
            <a:r>
              <a:rPr lang="ru-RU" b="1" dirty="0"/>
              <a:t>Сегментная и сегментно-страничная организация памяти</a:t>
            </a:r>
            <a:endParaRPr lang="en-US" b="1" dirty="0"/>
          </a:p>
          <a:p>
            <a:br>
              <a:rPr lang="en-US" b="1" dirty="0"/>
            </a:br>
            <a:r>
              <a:rPr lang="ru-RU" dirty="0"/>
              <a:t>Существуют две другие схемы организации управления памятью: </a:t>
            </a:r>
            <a:r>
              <a:rPr lang="ru-RU" b="1" dirty="0"/>
              <a:t>сегментная и сегментно-страничная</a:t>
            </a:r>
            <a:r>
              <a:rPr lang="ru-RU" dirty="0"/>
              <a:t>. Сегменты, в отличие от страниц, могут иметь переменный размер. Идея сегментации изложена во введении. При сегментной организации виртуальный адрес является двумерным как для программиста, так и для операционной системы, и состоит из двух полей – номера сегмента и смещения внутри сегмента. Подчеркнем, что в отличие от страничной организации, где линейный адрес преобразован в двумерный операционной системой для удобства отображения, здесь </a:t>
            </a:r>
            <a:r>
              <a:rPr lang="ru-RU" dirty="0" err="1"/>
              <a:t>двумерность</a:t>
            </a:r>
            <a:r>
              <a:rPr lang="ru-RU" dirty="0"/>
              <a:t> адреса является следствием представления пользователя о процессе не в виде линейного массива байтов, а как набор сегментов переменного размера (данные, код, стек...). </a:t>
            </a:r>
            <a:endParaRPr lang="en-US" b="1" dirty="0"/>
          </a:p>
        </p:txBody>
      </p:sp>
    </p:spTree>
    <p:extLst>
      <p:ext uri="{BB962C8B-B14F-4D97-AF65-F5344CB8AC3E}">
        <p14:creationId xmlns:p14="http://schemas.microsoft.com/office/powerpoint/2010/main" val="4259677065"/>
      </p:ext>
    </p:extLst>
  </p:cSld>
  <p:clrMapOvr>
    <a:masterClrMapping/>
  </p:clrMapOvr>
  <p:transition spd="slow">
    <p:push dir="u"/>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DF5222-401B-CE5D-0906-AE61D6DF7E03}"/>
            </a:ext>
          </a:extLst>
        </p:cNvPr>
        <p:cNvGrpSpPr/>
        <p:nvPr/>
      </p:nvGrpSpPr>
      <p:grpSpPr>
        <a:xfrm>
          <a:off x="0" y="0"/>
          <a:ext cx="0" cy="0"/>
          <a:chOff x="0" y="0"/>
          <a:chExt cx="0" cy="0"/>
        </a:xfrm>
      </p:grpSpPr>
      <p:sp>
        <p:nvSpPr>
          <p:cNvPr id="5" name="Google Shape;54;p13">
            <a:extLst>
              <a:ext uri="{FF2B5EF4-FFF2-40B4-BE49-F238E27FC236}">
                <a16:creationId xmlns:a16="http://schemas.microsoft.com/office/drawing/2014/main" id="{0BDDB345-62DB-B416-B2E3-203D89B7D791}"/>
              </a:ext>
            </a:extLst>
          </p:cNvPr>
          <p:cNvSpPr/>
          <p:nvPr/>
        </p:nvSpPr>
        <p:spPr>
          <a:xfrm>
            <a:off x="0" y="170019"/>
            <a:ext cx="9144000" cy="934034"/>
          </a:xfrm>
          <a:prstGeom prst="rect">
            <a:avLst/>
          </a:prstGeom>
          <a:solidFill>
            <a:srgbClr val="B6D7A8">
              <a:alpha val="61961"/>
            </a:srgbClr>
          </a:solidFill>
          <a:ln>
            <a:noFill/>
          </a:ln>
          <a:effectLst>
            <a:outerShdw blurRad="57150" dist="19050" dir="5400000" algn="bl" rotWithShape="0">
              <a:srgbClr val="000000">
                <a:alpha val="50000"/>
              </a:srgbClr>
            </a:outerShdw>
            <a:reflection endPos="30000" dist="38100" dir="5400000" fadeDir="5400012" sy="-100000" algn="bl" rotWithShape="0"/>
          </a:effectLst>
        </p:spPr>
        <p:txBody>
          <a:bodyPr spcFirstLastPara="1" wrap="square" lIns="91425" tIns="91425" rIns="91425" bIns="91425" anchor="ctr" anchorCtr="0">
            <a:noAutofit/>
          </a:bodyPr>
          <a:lstStyle/>
          <a:p>
            <a:pPr lvl="0" algn="ctr"/>
            <a:r>
              <a:rPr lang="ru-RU" sz="1800" b="1" dirty="0"/>
              <a:t>Организация памяти компьютера</a:t>
            </a:r>
          </a:p>
        </p:txBody>
      </p:sp>
      <p:sp>
        <p:nvSpPr>
          <p:cNvPr id="4" name="TextBox 3">
            <a:extLst>
              <a:ext uri="{FF2B5EF4-FFF2-40B4-BE49-F238E27FC236}">
                <a16:creationId xmlns:a16="http://schemas.microsoft.com/office/drawing/2014/main" id="{B1569DB7-430C-D235-C7F2-C1EFD7FD144E}"/>
              </a:ext>
            </a:extLst>
          </p:cNvPr>
          <p:cNvSpPr txBox="1"/>
          <p:nvPr/>
        </p:nvSpPr>
        <p:spPr>
          <a:xfrm>
            <a:off x="67733" y="1173182"/>
            <a:ext cx="4517618" cy="3693319"/>
          </a:xfrm>
          <a:prstGeom prst="rect">
            <a:avLst/>
          </a:prstGeom>
          <a:noFill/>
        </p:spPr>
        <p:txBody>
          <a:bodyPr wrap="square">
            <a:spAutoFit/>
          </a:bodyPr>
          <a:lstStyle/>
          <a:p>
            <a:r>
              <a:rPr lang="ru-RU" b="1" dirty="0"/>
              <a:t>Сегментная и сегментно-страничная организация памяти</a:t>
            </a:r>
            <a:endParaRPr lang="en-US" b="1" dirty="0"/>
          </a:p>
          <a:p>
            <a:endParaRPr lang="en-US" b="1" dirty="0"/>
          </a:p>
          <a:p>
            <a:r>
              <a:rPr lang="ru-RU" sz="1200" dirty="0"/>
              <a:t>Аппаратная поддержка сегментов распространена мало (главным образом на процессорах Intel). В большинстве ОС сегментация реализуется на уровне, не зависящем от аппаратуры.</a:t>
            </a:r>
            <a:endParaRPr lang="en-US" sz="1200" dirty="0"/>
          </a:p>
          <a:p>
            <a:r>
              <a:rPr lang="ru-RU" sz="1200" dirty="0"/>
              <a:t>Хранить в памяти сегменты большого размера целиком так же неудобно, как и хранить процесс непрерывным блоком. Напрашивается идея разбиения сегментов на страницы. При сегментно-страничной организации памяти происходит двухуровневая трансляция виртуального адреса в физический. В этом случае логический адрес состоит из трех полей: номера сегмента логической памяти, номера страницы внутри сегмента и смещения внутри страницы. Соответственно, используются две таблицы отображения – таблица сегментов, связывающая номер сегмента с таблицей страниц, и отдельная таблица страниц для каждого сегмента. </a:t>
            </a:r>
          </a:p>
        </p:txBody>
      </p:sp>
      <p:sp>
        <p:nvSpPr>
          <p:cNvPr id="3" name="TextBox 2">
            <a:extLst>
              <a:ext uri="{FF2B5EF4-FFF2-40B4-BE49-F238E27FC236}">
                <a16:creationId xmlns:a16="http://schemas.microsoft.com/office/drawing/2014/main" id="{079973CF-459E-A5C2-40B1-5F1D71999320}"/>
              </a:ext>
            </a:extLst>
          </p:cNvPr>
          <p:cNvSpPr txBox="1"/>
          <p:nvPr/>
        </p:nvSpPr>
        <p:spPr>
          <a:xfrm>
            <a:off x="5029325" y="4343413"/>
            <a:ext cx="3824955" cy="430887"/>
          </a:xfrm>
          <a:prstGeom prst="rect">
            <a:avLst/>
          </a:prstGeom>
          <a:noFill/>
        </p:spPr>
        <p:txBody>
          <a:bodyPr wrap="square">
            <a:spAutoFit/>
          </a:bodyPr>
          <a:lstStyle/>
          <a:p>
            <a:r>
              <a:rPr lang="ru-RU" sz="1100" b="1" dirty="0"/>
              <a:t>Рис. 8.</a:t>
            </a:r>
            <a:r>
              <a:rPr lang="en-US" sz="1100" b="1" dirty="0"/>
              <a:t>8</a:t>
            </a:r>
            <a:r>
              <a:rPr lang="ru-RU" sz="1100" b="1" dirty="0"/>
              <a:t>. </a:t>
            </a:r>
            <a:r>
              <a:rPr lang="ru-RU" sz="1100" dirty="0"/>
              <a:t>Преобразование логического адреса при сегментной организации памяти</a:t>
            </a:r>
          </a:p>
        </p:txBody>
      </p:sp>
      <p:pic>
        <p:nvPicPr>
          <p:cNvPr id="6" name="Рисунок 5">
            <a:extLst>
              <a:ext uri="{FF2B5EF4-FFF2-40B4-BE49-F238E27FC236}">
                <a16:creationId xmlns:a16="http://schemas.microsoft.com/office/drawing/2014/main" id="{619F0E92-614C-320E-81A5-BC2EB746C54C}"/>
              </a:ext>
            </a:extLst>
          </p:cNvPr>
          <p:cNvPicPr>
            <a:picLocks noChangeAspect="1"/>
          </p:cNvPicPr>
          <p:nvPr/>
        </p:nvPicPr>
        <p:blipFill>
          <a:blip r:embed="rId2"/>
          <a:stretch>
            <a:fillRect/>
          </a:stretch>
        </p:blipFill>
        <p:spPr>
          <a:xfrm>
            <a:off x="4807338" y="1802085"/>
            <a:ext cx="4268930" cy="2541328"/>
          </a:xfrm>
          <a:prstGeom prst="rect">
            <a:avLst/>
          </a:prstGeom>
        </p:spPr>
      </p:pic>
    </p:spTree>
    <p:extLst>
      <p:ext uri="{BB962C8B-B14F-4D97-AF65-F5344CB8AC3E}">
        <p14:creationId xmlns:p14="http://schemas.microsoft.com/office/powerpoint/2010/main" val="775443840"/>
      </p:ext>
    </p:extLst>
  </p:cSld>
  <p:clrMapOvr>
    <a:masterClrMapping/>
  </p:clrMapOvr>
  <p:transition spd="slow">
    <p:push dir="u"/>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DA59BC-70C1-1D7D-72DE-870340F62C03}"/>
            </a:ext>
          </a:extLst>
        </p:cNvPr>
        <p:cNvGrpSpPr/>
        <p:nvPr/>
      </p:nvGrpSpPr>
      <p:grpSpPr>
        <a:xfrm>
          <a:off x="0" y="0"/>
          <a:ext cx="0" cy="0"/>
          <a:chOff x="0" y="0"/>
          <a:chExt cx="0" cy="0"/>
        </a:xfrm>
      </p:grpSpPr>
      <p:sp>
        <p:nvSpPr>
          <p:cNvPr id="5" name="Google Shape;54;p13">
            <a:extLst>
              <a:ext uri="{FF2B5EF4-FFF2-40B4-BE49-F238E27FC236}">
                <a16:creationId xmlns:a16="http://schemas.microsoft.com/office/drawing/2014/main" id="{0E30F208-C038-35F1-52C0-E3522C576FF8}"/>
              </a:ext>
            </a:extLst>
          </p:cNvPr>
          <p:cNvSpPr/>
          <p:nvPr/>
        </p:nvSpPr>
        <p:spPr>
          <a:xfrm>
            <a:off x="0" y="170019"/>
            <a:ext cx="9144000" cy="934034"/>
          </a:xfrm>
          <a:prstGeom prst="rect">
            <a:avLst/>
          </a:prstGeom>
          <a:solidFill>
            <a:srgbClr val="B6D7A8">
              <a:alpha val="61961"/>
            </a:srgbClr>
          </a:solidFill>
          <a:ln>
            <a:noFill/>
          </a:ln>
          <a:effectLst>
            <a:outerShdw blurRad="57150" dist="19050" dir="5400000" algn="bl" rotWithShape="0">
              <a:srgbClr val="000000">
                <a:alpha val="50000"/>
              </a:srgbClr>
            </a:outerShdw>
            <a:reflection endPos="30000" dist="38100" dir="5400000" fadeDir="5400012" sy="-100000" algn="bl" rotWithShape="0"/>
          </a:effectLst>
        </p:spPr>
        <p:txBody>
          <a:bodyPr spcFirstLastPara="1" wrap="square" lIns="91425" tIns="91425" rIns="91425" bIns="91425" anchor="ctr" anchorCtr="0">
            <a:noAutofit/>
          </a:bodyPr>
          <a:lstStyle/>
          <a:p>
            <a:pPr lvl="0" algn="ctr"/>
            <a:r>
              <a:rPr lang="ru-RU" sz="1800" b="1" dirty="0"/>
              <a:t>Организация памяти компьютера</a:t>
            </a:r>
          </a:p>
        </p:txBody>
      </p:sp>
      <p:sp>
        <p:nvSpPr>
          <p:cNvPr id="4" name="TextBox 3">
            <a:extLst>
              <a:ext uri="{FF2B5EF4-FFF2-40B4-BE49-F238E27FC236}">
                <a16:creationId xmlns:a16="http://schemas.microsoft.com/office/drawing/2014/main" id="{E1596F54-1FBA-A3BC-D0B0-C660B555030B}"/>
              </a:ext>
            </a:extLst>
          </p:cNvPr>
          <p:cNvSpPr txBox="1"/>
          <p:nvPr/>
        </p:nvSpPr>
        <p:spPr>
          <a:xfrm>
            <a:off x="331893" y="1615737"/>
            <a:ext cx="3813387" cy="2215991"/>
          </a:xfrm>
          <a:prstGeom prst="rect">
            <a:avLst/>
          </a:prstGeom>
          <a:noFill/>
        </p:spPr>
        <p:txBody>
          <a:bodyPr wrap="square">
            <a:spAutoFit/>
          </a:bodyPr>
          <a:lstStyle/>
          <a:p>
            <a:r>
              <a:rPr lang="ru-RU" b="1" dirty="0"/>
              <a:t>Сегментная и сегментно-страничная организация памяти</a:t>
            </a:r>
            <a:endParaRPr lang="en-US" b="1" dirty="0"/>
          </a:p>
          <a:p>
            <a:endParaRPr lang="en-US" b="1" dirty="0"/>
          </a:p>
          <a:p>
            <a:r>
              <a:rPr lang="ru-RU" sz="1200" dirty="0"/>
              <a:t>Сегментно-страничная и страничная организация памяти позволяет легко организовать совместное использование одних и тех же данных и программного кода разными задачами. Для этого различные логические блоки памяти разных процессов отображают в один и тот же блок физической памяти, где размещается разделяемый фрагмент кода или данных. </a:t>
            </a:r>
          </a:p>
        </p:txBody>
      </p:sp>
      <p:sp>
        <p:nvSpPr>
          <p:cNvPr id="3" name="TextBox 2">
            <a:extLst>
              <a:ext uri="{FF2B5EF4-FFF2-40B4-BE49-F238E27FC236}">
                <a16:creationId xmlns:a16="http://schemas.microsoft.com/office/drawing/2014/main" id="{C79AD223-B46A-F066-DE44-542BB15C4C07}"/>
              </a:ext>
            </a:extLst>
          </p:cNvPr>
          <p:cNvSpPr txBox="1"/>
          <p:nvPr/>
        </p:nvSpPr>
        <p:spPr>
          <a:xfrm>
            <a:off x="4663565" y="4343414"/>
            <a:ext cx="3999528" cy="430887"/>
          </a:xfrm>
          <a:prstGeom prst="rect">
            <a:avLst/>
          </a:prstGeom>
          <a:noFill/>
        </p:spPr>
        <p:txBody>
          <a:bodyPr wrap="square">
            <a:spAutoFit/>
          </a:bodyPr>
          <a:lstStyle/>
          <a:p>
            <a:r>
              <a:rPr lang="ru-RU" sz="1100" b="1" dirty="0"/>
              <a:t>Рис. 8.</a:t>
            </a:r>
            <a:r>
              <a:rPr lang="en-US" sz="1100" b="1" dirty="0"/>
              <a:t>9</a:t>
            </a:r>
            <a:r>
              <a:rPr lang="ru-RU" sz="1100" b="1" dirty="0"/>
              <a:t>. </a:t>
            </a:r>
            <a:r>
              <a:rPr lang="ru-RU" sz="1100" dirty="0"/>
              <a:t>Упрощенная схема формирования физического адреса при сегментно-страничной организации памяти</a:t>
            </a:r>
          </a:p>
        </p:txBody>
      </p:sp>
      <p:pic>
        <p:nvPicPr>
          <p:cNvPr id="7" name="Рисунок 6">
            <a:extLst>
              <a:ext uri="{FF2B5EF4-FFF2-40B4-BE49-F238E27FC236}">
                <a16:creationId xmlns:a16="http://schemas.microsoft.com/office/drawing/2014/main" id="{683798AE-AB72-2C1C-04F4-CF02FE417E99}"/>
              </a:ext>
            </a:extLst>
          </p:cNvPr>
          <p:cNvPicPr>
            <a:picLocks noChangeAspect="1"/>
          </p:cNvPicPr>
          <p:nvPr/>
        </p:nvPicPr>
        <p:blipFill>
          <a:blip r:embed="rId2"/>
          <a:stretch>
            <a:fillRect/>
          </a:stretch>
        </p:blipFill>
        <p:spPr>
          <a:xfrm>
            <a:off x="4518279" y="1862668"/>
            <a:ext cx="4093231" cy="2480746"/>
          </a:xfrm>
          <a:prstGeom prst="rect">
            <a:avLst/>
          </a:prstGeom>
        </p:spPr>
      </p:pic>
    </p:spTree>
    <p:extLst>
      <p:ext uri="{BB962C8B-B14F-4D97-AF65-F5344CB8AC3E}">
        <p14:creationId xmlns:p14="http://schemas.microsoft.com/office/powerpoint/2010/main" val="3692170109"/>
      </p:ext>
    </p:extLst>
  </p:cSld>
  <p:clrMapOvr>
    <a:masterClrMapping/>
  </p:clrMapOvr>
  <p:transition spd="slow">
    <p:push dir="u"/>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CDA4B9-234D-F571-0307-9DED9B739976}"/>
            </a:ext>
          </a:extLst>
        </p:cNvPr>
        <p:cNvGrpSpPr/>
        <p:nvPr/>
      </p:nvGrpSpPr>
      <p:grpSpPr>
        <a:xfrm>
          <a:off x="0" y="0"/>
          <a:ext cx="0" cy="0"/>
          <a:chOff x="0" y="0"/>
          <a:chExt cx="0" cy="0"/>
        </a:xfrm>
      </p:grpSpPr>
      <p:sp>
        <p:nvSpPr>
          <p:cNvPr id="5" name="Google Shape;54;p13">
            <a:extLst>
              <a:ext uri="{FF2B5EF4-FFF2-40B4-BE49-F238E27FC236}">
                <a16:creationId xmlns:a16="http://schemas.microsoft.com/office/drawing/2014/main" id="{05E5F597-8C61-9FA2-95B9-87E9796FA8FC}"/>
              </a:ext>
            </a:extLst>
          </p:cNvPr>
          <p:cNvSpPr/>
          <p:nvPr/>
        </p:nvSpPr>
        <p:spPr>
          <a:xfrm>
            <a:off x="0" y="170019"/>
            <a:ext cx="9144000" cy="934034"/>
          </a:xfrm>
          <a:prstGeom prst="rect">
            <a:avLst/>
          </a:prstGeom>
          <a:solidFill>
            <a:srgbClr val="B6D7A8">
              <a:alpha val="61961"/>
            </a:srgbClr>
          </a:solidFill>
          <a:ln>
            <a:noFill/>
          </a:ln>
          <a:effectLst>
            <a:outerShdw blurRad="57150" dist="19050" dir="5400000" algn="bl" rotWithShape="0">
              <a:srgbClr val="000000">
                <a:alpha val="50000"/>
              </a:srgbClr>
            </a:outerShdw>
            <a:reflection endPos="30000" dist="38100" dir="5400000" fadeDir="5400012" sy="-100000" algn="bl" rotWithShape="0"/>
          </a:effectLst>
        </p:spPr>
        <p:txBody>
          <a:bodyPr spcFirstLastPara="1" wrap="square" lIns="91425" tIns="91425" rIns="91425" bIns="91425" anchor="ctr" anchorCtr="0">
            <a:noAutofit/>
          </a:bodyPr>
          <a:lstStyle/>
          <a:p>
            <a:pPr lvl="0" algn="ctr"/>
            <a:r>
              <a:rPr lang="ru-RU" sz="1800" b="1"/>
              <a:t>Итоги лекции</a:t>
            </a:r>
            <a:endParaRPr lang="ru-RU" sz="1800" b="1" dirty="0"/>
          </a:p>
        </p:txBody>
      </p:sp>
      <p:sp>
        <p:nvSpPr>
          <p:cNvPr id="3" name="TextBox 2">
            <a:extLst>
              <a:ext uri="{FF2B5EF4-FFF2-40B4-BE49-F238E27FC236}">
                <a16:creationId xmlns:a16="http://schemas.microsoft.com/office/drawing/2014/main" id="{B03DD625-0ED6-34E4-4205-2025C83662A0}"/>
              </a:ext>
            </a:extLst>
          </p:cNvPr>
          <p:cNvSpPr txBox="1"/>
          <p:nvPr/>
        </p:nvSpPr>
        <p:spPr>
          <a:xfrm>
            <a:off x="304799" y="1669965"/>
            <a:ext cx="4632960" cy="2031325"/>
          </a:xfrm>
          <a:prstGeom prst="rect">
            <a:avLst/>
          </a:prstGeom>
          <a:noFill/>
        </p:spPr>
        <p:txBody>
          <a:bodyPr wrap="square">
            <a:spAutoFit/>
          </a:bodyPr>
          <a:lstStyle/>
          <a:p>
            <a:r>
              <a:rPr lang="ru-RU" dirty="0"/>
              <a:t>В данной лекции были описаны простейшие способы управления памятью в ОС. Физическая память компьютера имеет иерархическую структуру. Программа представляет собой набор сегментов в логическом адресном пространстве. ОС осуществляет связывание логических и физических адресных пространств. В последующих лекциях будут рассматриваться современные решения, связанные с поддержкой виртуальной памяти. </a:t>
            </a:r>
          </a:p>
        </p:txBody>
      </p:sp>
      <p:pic>
        <p:nvPicPr>
          <p:cNvPr id="7" name="Рисунок 6">
            <a:extLst>
              <a:ext uri="{FF2B5EF4-FFF2-40B4-BE49-F238E27FC236}">
                <a16:creationId xmlns:a16="http://schemas.microsoft.com/office/drawing/2014/main" id="{F9723E0E-5D2A-FCFA-56D2-767E1474EC83}"/>
              </a:ext>
            </a:extLst>
          </p:cNvPr>
          <p:cNvPicPr>
            <a:picLocks noChangeAspect="1"/>
          </p:cNvPicPr>
          <p:nvPr/>
        </p:nvPicPr>
        <p:blipFill>
          <a:blip r:embed="rId2"/>
          <a:stretch>
            <a:fillRect/>
          </a:stretch>
        </p:blipFill>
        <p:spPr>
          <a:xfrm>
            <a:off x="5084213" y="2431627"/>
            <a:ext cx="3754988" cy="2285325"/>
          </a:xfrm>
          <a:prstGeom prst="rect">
            <a:avLst/>
          </a:prstGeom>
        </p:spPr>
      </p:pic>
    </p:spTree>
    <p:extLst>
      <p:ext uri="{BB962C8B-B14F-4D97-AF65-F5344CB8AC3E}">
        <p14:creationId xmlns:p14="http://schemas.microsoft.com/office/powerpoint/2010/main" val="3972813255"/>
      </p:ext>
    </p:extLst>
  </p:cSld>
  <p:clrMapOvr>
    <a:masterClrMapping/>
  </p:clrMapOvr>
  <p:transition spd="slow">
    <p:push dir="u"/>
  </p:transition>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7827</TotalTime>
  <Words>1514</Words>
  <Application>Microsoft Office PowerPoint</Application>
  <PresentationFormat>Экран (16:9)</PresentationFormat>
  <Paragraphs>91</Paragraphs>
  <Slides>18</Slides>
  <Notes>1</Notes>
  <HiddenSlides>0</HiddenSlides>
  <MMClips>0</MMClips>
  <ScaleCrop>false</ScaleCrop>
  <HeadingPairs>
    <vt:vector size="6" baseType="variant">
      <vt:variant>
        <vt:lpstr>Использованные шрифты</vt:lpstr>
      </vt:variant>
      <vt:variant>
        <vt:i4>2</vt:i4>
      </vt:variant>
      <vt:variant>
        <vt:lpstr>Тема</vt:lpstr>
      </vt:variant>
      <vt:variant>
        <vt:i4>1</vt:i4>
      </vt:variant>
      <vt:variant>
        <vt:lpstr>Заголовки слайдов</vt:lpstr>
      </vt:variant>
      <vt:variant>
        <vt:i4>18</vt:i4>
      </vt:variant>
    </vt:vector>
  </HeadingPairs>
  <TitlesOfParts>
    <vt:vector size="21" baseType="lpstr">
      <vt:lpstr>Arial</vt:lpstr>
      <vt:lpstr>Comfortaa Medium</vt:lpstr>
      <vt:lpstr>Simple Light</vt:lpstr>
      <vt:lpstr>Организация памяти компьютера</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Безопасность операционных систем, системное программирование</dc:title>
  <cp:lastModifiedBy>Pavel Shevelkov</cp:lastModifiedBy>
  <cp:revision>27</cp:revision>
  <dcterms:modified xsi:type="dcterms:W3CDTF">2026-03-22T16:47:28Z</dcterms:modified>
</cp:coreProperties>
</file>
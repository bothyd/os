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8" r:id="rId2"/>
    <p:sldId id="271" r:id="rId3"/>
    <p:sldId id="259" r:id="rId4"/>
    <p:sldId id="283" r:id="rId5"/>
    <p:sldId id="284" r:id="rId6"/>
    <p:sldId id="285" r:id="rId7"/>
    <p:sldId id="286" r:id="rId8"/>
    <p:sldId id="287" r:id="rId9"/>
    <p:sldId id="297" r:id="rId10"/>
    <p:sldId id="298" r:id="rId11"/>
    <p:sldId id="295" r:id="rId12"/>
  </p:sldIdLst>
  <p:sldSz cx="9144000" cy="5143500" type="screen16x9"/>
  <p:notesSz cx="6858000" cy="9144000"/>
  <p:embeddedFontLst>
    <p:embeddedFont>
      <p:font typeface="Comfortaa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3"/>
    <p:restoredTop sz="94660"/>
  </p:normalViewPr>
  <p:slideViewPr>
    <p:cSldViewPr snapToGrid="0">
      <p:cViewPr varScale="1">
        <p:scale>
          <a:sx n="141" d="100"/>
          <a:sy n="141" d="100"/>
        </p:scale>
        <p:origin x="96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62173" y="20445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8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73746" y="1413932"/>
            <a:ext cx="7193280" cy="110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b="1" dirty="0"/>
              <a:t>Механизмы синхронизации</a:t>
            </a: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607-1631-82D8-7457-05E5C0F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71F027-B27D-C065-FCF6-F234572F096E}"/>
              </a:ext>
            </a:extLst>
          </p:cNvPr>
          <p:cNvSpPr/>
          <p:nvPr/>
        </p:nvSpPr>
        <p:spPr>
          <a:xfrm>
            <a:off x="0" y="347705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65677A4-6169-0E64-0FB8-6DD395CB6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B45124-FCC0-6C58-34A9-CB732EDD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25" y="3252441"/>
            <a:ext cx="82792" cy="1098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2B522-AA3C-E5B6-D8F7-DA39C1A1729C}"/>
              </a:ext>
            </a:extLst>
          </p:cNvPr>
          <p:cNvSpPr txBox="1"/>
          <p:nvPr/>
        </p:nvSpPr>
        <p:spPr>
          <a:xfrm>
            <a:off x="1083733" y="1910110"/>
            <a:ext cx="46329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Содержание:</a:t>
            </a:r>
          </a:p>
          <a:p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Семафоры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Мониторы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Сообщения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Эквивалентность семафоров, мониторов и сообщений </a:t>
            </a:r>
          </a:p>
        </p:txBody>
      </p:sp>
    </p:spTree>
    <p:extLst>
      <p:ext uri="{BB962C8B-B14F-4D97-AF65-F5344CB8AC3E}">
        <p14:creationId xmlns:p14="http://schemas.microsoft.com/office/powerpoint/2010/main" val="613418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2A0B4-CBC8-3AC9-EBD4-77BEB1196E0D}"/>
              </a:ext>
            </a:extLst>
          </p:cNvPr>
          <p:cNvSpPr txBox="1"/>
          <p:nvPr/>
        </p:nvSpPr>
        <p:spPr>
          <a:xfrm>
            <a:off x="507998" y="1650008"/>
            <a:ext cx="283079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Семафор</a:t>
            </a:r>
            <a:r>
              <a:rPr lang="ru-RU" dirty="0"/>
              <a:t> — это механизм синхронизации, основанный на использовании целочисленной переменной-счетчика для управления доступом к общему ресурсу нескольких потоков или процессов.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C738B-5E0F-0D0C-FD7F-A20943B1BA40}"/>
              </a:ext>
            </a:extLst>
          </p:cNvPr>
          <p:cNvSpPr txBox="1"/>
          <p:nvPr/>
        </p:nvSpPr>
        <p:spPr>
          <a:xfrm>
            <a:off x="4137124" y="1589048"/>
            <a:ext cx="46343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Основные характеристики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b="1" dirty="0"/>
              <a:t>Счетчик</a:t>
            </a:r>
            <a:r>
              <a:rPr lang="ru-RU" dirty="0"/>
              <a:t>: Переменная хранит количество доступных единиц ресурса.</a:t>
            </a:r>
          </a:p>
          <a:p>
            <a:r>
              <a:rPr lang="ru-RU" b="1" dirty="0"/>
              <a:t>Атомарность</a:t>
            </a:r>
            <a:r>
              <a:rPr lang="ru-RU" dirty="0"/>
              <a:t>: Операции изменения счетчика выполняются неделимо, что исключает состояние гонки при проверке доступности ресурса.</a:t>
            </a:r>
          </a:p>
          <a:p>
            <a:r>
              <a:rPr lang="ru-RU" b="1" dirty="0"/>
              <a:t>Очередь</a:t>
            </a:r>
            <a:r>
              <a:rPr lang="ru-RU" dirty="0"/>
              <a:t>: Если значение счетчика равно нулю, поток, запрашивающий ресурс, блокируется и помещается в очередь ожидания до освобождения ресурса другим потоком.</a:t>
            </a: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9A34-75C9-CE2C-CFCB-42F5D2AD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39133717-28F0-D367-D536-B64FD3E48C33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624D5-2DC3-8C46-84C6-C9AE04CC2008}"/>
              </a:ext>
            </a:extLst>
          </p:cNvPr>
          <p:cNvSpPr txBox="1"/>
          <p:nvPr/>
        </p:nvSpPr>
        <p:spPr>
          <a:xfrm>
            <a:off x="453813" y="1752806"/>
            <a:ext cx="46329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Решение проблемы </a:t>
            </a:r>
            <a:r>
              <a:rPr lang="ru-RU" b="1" dirty="0" err="1"/>
              <a:t>producer-consumer</a:t>
            </a:r>
            <a:r>
              <a:rPr lang="ru-RU" b="1" dirty="0"/>
              <a:t> с помощью семафоров:</a:t>
            </a:r>
          </a:p>
          <a:p>
            <a:endParaRPr lang="ru-RU" b="1" dirty="0">
              <a:highlight>
                <a:srgbClr val="C0C0C0"/>
              </a:highlight>
            </a:endParaRPr>
          </a:p>
          <a:p>
            <a:r>
              <a:rPr lang="ru-RU" dirty="0"/>
              <a:t>Одной из типовых задач, требующих организации взаимодействия процессов, является задача </a:t>
            </a:r>
            <a:r>
              <a:rPr lang="ru-RU" dirty="0" err="1"/>
              <a:t>producer-consumer</a:t>
            </a:r>
            <a:r>
              <a:rPr lang="ru-RU" dirty="0"/>
              <a:t> (производитель-потребитель). Пусть два процесса обмениваются информацией через буфер ограниченного размера. Производитель закладывает информацию в буфер, а потребитель извлекает ее оттуда. На этом уровне деятельность потребителя и производителя можно описать следующим образом. 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5709-ED57-663F-1A9B-CDE10CB24603}"/>
              </a:ext>
            </a:extLst>
          </p:cNvPr>
          <p:cNvSpPr txBox="1"/>
          <p:nvPr/>
        </p:nvSpPr>
        <p:spPr>
          <a:xfrm>
            <a:off x="5161280" y="1752806"/>
            <a:ext cx="40910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Producer:</a:t>
            </a:r>
            <a:r>
              <a:rPr lang="ru-RU" dirty="0">
                <a:highlight>
                  <a:srgbClr val="C0C0C0"/>
                </a:highlight>
              </a:rPr>
              <a:t>	</a:t>
            </a:r>
            <a:r>
              <a:rPr lang="en-US" dirty="0">
                <a:highlight>
                  <a:srgbClr val="C0C0C0"/>
                </a:highlight>
              </a:rPr>
              <a:t>while(1) {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ru-RU" dirty="0">
                <a:highlight>
                  <a:srgbClr val="C0C0C0"/>
                </a:highlight>
              </a:rPr>
              <a:t>		</a:t>
            </a:r>
            <a:r>
              <a:rPr lang="en-US" dirty="0" err="1">
                <a:highlight>
                  <a:srgbClr val="C0C0C0"/>
                </a:highlight>
              </a:rPr>
              <a:t>produce_item</a:t>
            </a:r>
            <a:r>
              <a:rPr lang="en-US" dirty="0">
                <a:highlight>
                  <a:srgbClr val="C0C0C0"/>
                </a:highlight>
              </a:rPr>
              <a:t>;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ru-RU" dirty="0">
                <a:highlight>
                  <a:srgbClr val="C0C0C0"/>
                </a:highlight>
              </a:rPr>
              <a:t>		</a:t>
            </a:r>
            <a:r>
              <a:rPr lang="en-US" dirty="0" err="1">
                <a:highlight>
                  <a:srgbClr val="C0C0C0"/>
                </a:highlight>
              </a:rPr>
              <a:t>put_item</a:t>
            </a:r>
            <a:r>
              <a:rPr lang="en-US" dirty="0">
                <a:highlight>
                  <a:srgbClr val="C0C0C0"/>
                </a:highlight>
              </a:rPr>
              <a:t>;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ru-RU" dirty="0">
                <a:highlight>
                  <a:srgbClr val="C0C0C0"/>
                </a:highlight>
              </a:rPr>
              <a:t>	</a:t>
            </a:r>
            <a:r>
              <a:rPr lang="en-US" dirty="0">
                <a:highlight>
                  <a:srgbClr val="C0C0C0"/>
                </a:highlight>
              </a:rPr>
              <a:t>}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Consumer: while(1) {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ru-RU" dirty="0">
                <a:highlight>
                  <a:srgbClr val="C0C0C0"/>
                </a:highlight>
              </a:rPr>
              <a:t>		</a:t>
            </a:r>
            <a:r>
              <a:rPr lang="en-US" dirty="0" err="1">
                <a:highlight>
                  <a:srgbClr val="C0C0C0"/>
                </a:highlight>
              </a:rPr>
              <a:t>get_item</a:t>
            </a:r>
            <a:r>
              <a:rPr lang="en-US" dirty="0">
                <a:highlight>
                  <a:srgbClr val="C0C0C0"/>
                </a:highlight>
              </a:rPr>
              <a:t>;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ru-RU" dirty="0">
                <a:highlight>
                  <a:srgbClr val="C0C0C0"/>
                </a:highlight>
              </a:rPr>
              <a:t>		</a:t>
            </a:r>
            <a:r>
              <a:rPr lang="en-US" dirty="0" err="1">
                <a:highlight>
                  <a:srgbClr val="C0C0C0"/>
                </a:highlight>
              </a:rPr>
              <a:t>consume_item</a:t>
            </a:r>
            <a:r>
              <a:rPr lang="en-US" dirty="0">
                <a:highlight>
                  <a:srgbClr val="C0C0C0"/>
                </a:highlight>
              </a:rPr>
              <a:t>; </a:t>
            </a:r>
            <a:endParaRPr lang="ru-RU" dirty="0">
              <a:highlight>
                <a:srgbClr val="C0C0C0"/>
              </a:highlight>
            </a:endParaRPr>
          </a:p>
          <a:p>
            <a:r>
              <a:rPr lang="ru-RU" dirty="0">
                <a:highlight>
                  <a:srgbClr val="C0C0C0"/>
                </a:highlight>
              </a:rPr>
              <a:t>	</a:t>
            </a:r>
            <a:r>
              <a:rPr lang="en-US" dirty="0">
                <a:highlight>
                  <a:srgbClr val="C0C0C0"/>
                </a:highlight>
              </a:rPr>
              <a:t>} </a:t>
            </a:r>
            <a:endParaRPr lang="ru-RU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6277160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AF30-7C69-DDA7-1A6F-1FA06620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40F4C9F2-8166-E71A-C316-7DB9DF397F7F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0F2F2-ECB7-6272-7977-6359F470F44A}"/>
              </a:ext>
            </a:extLst>
          </p:cNvPr>
          <p:cNvSpPr txBox="1"/>
          <p:nvPr/>
        </p:nvSpPr>
        <p:spPr>
          <a:xfrm>
            <a:off x="243840" y="1381574"/>
            <a:ext cx="49783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Монитор</a:t>
            </a:r>
            <a:r>
              <a:rPr lang="ru-RU" dirty="0"/>
              <a:t> — это механизм синхронизации в операционных системах и параллельном программировании, который объединяет </a:t>
            </a:r>
            <a:r>
              <a:rPr lang="ru-RU" b="1" dirty="0"/>
              <a:t>данные и методы для работы с ними</a:t>
            </a:r>
            <a:r>
              <a:rPr lang="ru-RU" dirty="0"/>
              <a:t> и автоматически обеспечивает </a:t>
            </a:r>
            <a:r>
              <a:rPr lang="ru-RU" b="1" dirty="0"/>
              <a:t>взаимное исключение (</a:t>
            </a:r>
            <a:r>
              <a:rPr lang="ru-RU" b="1" dirty="0" err="1"/>
              <a:t>mutual</a:t>
            </a:r>
            <a:r>
              <a:rPr lang="ru-RU" b="1" dirty="0"/>
              <a:t> </a:t>
            </a:r>
            <a:r>
              <a:rPr lang="ru-RU" b="1" dirty="0" err="1"/>
              <a:t>exclusion</a:t>
            </a:r>
            <a:r>
              <a:rPr lang="ru-RU" b="1" dirty="0"/>
              <a:t>)</a:t>
            </a:r>
            <a:r>
              <a:rPr lang="ru-RU" dirty="0"/>
              <a:t> при доступе к этим данным.</a:t>
            </a:r>
          </a:p>
          <a:p>
            <a:pPr>
              <a:buNone/>
            </a:pPr>
            <a:endParaRPr lang="ru-RU" b="1" dirty="0"/>
          </a:p>
          <a:p>
            <a:r>
              <a:rPr lang="ru-RU" b="1" dirty="0"/>
              <a:t>Идея</a:t>
            </a:r>
          </a:p>
          <a:p>
            <a:r>
              <a:rPr lang="ru-RU" dirty="0"/>
              <a:t>Монитор нужен, чтобы </a:t>
            </a:r>
            <a:r>
              <a:rPr lang="ru-RU" b="1" dirty="0"/>
              <a:t>безопасно работать с общими ресурсами</a:t>
            </a:r>
            <a:r>
              <a:rPr lang="ru-RU" dirty="0"/>
              <a:t> в многопоточной программе, не управляя вручную семафорами.</a:t>
            </a:r>
          </a:p>
          <a:p>
            <a:r>
              <a:rPr lang="ru-RU" b="1" dirty="0"/>
              <a:t>Коротко</a:t>
            </a:r>
          </a:p>
          <a:p>
            <a:r>
              <a:rPr lang="ru-RU" dirty="0"/>
              <a:t>Монитор = </a:t>
            </a:r>
            <a:r>
              <a:rPr lang="ru-RU" b="1" dirty="0"/>
              <a:t>общие данные + методы + автоматическая синхронизация доступа.</a:t>
            </a:r>
            <a:endParaRPr lang="ru-RU" dirty="0"/>
          </a:p>
          <a:p>
            <a:pPr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2436763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6084-5517-E021-16FA-BEB152A0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0834E0D-EA36-9C03-2123-99D93689364B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08A83-0FAE-44F3-46EA-0258D7153207}"/>
              </a:ext>
            </a:extLst>
          </p:cNvPr>
          <p:cNvSpPr txBox="1"/>
          <p:nvPr/>
        </p:nvSpPr>
        <p:spPr>
          <a:xfrm>
            <a:off x="358987" y="1663809"/>
            <a:ext cx="33341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Передача сообщений</a:t>
            </a:r>
            <a:r>
              <a:rPr lang="ru-RU" dirty="0"/>
              <a:t> — это способ взаимодействия процессов, при котором процессы </a:t>
            </a:r>
            <a:r>
              <a:rPr lang="ru-RU" b="1" dirty="0"/>
              <a:t>обмениваются данными с помощью операций </a:t>
            </a:r>
            <a:r>
              <a:rPr lang="ru-RU" b="1" dirty="0" err="1"/>
              <a:t>send</a:t>
            </a:r>
            <a:r>
              <a:rPr lang="ru-RU" b="1" dirty="0"/>
              <a:t> и </a:t>
            </a:r>
            <a:r>
              <a:rPr lang="ru-RU" b="1" dirty="0" err="1"/>
              <a:t>receive</a:t>
            </a:r>
            <a:r>
              <a:rPr lang="ru-RU" dirty="0"/>
              <a:t>, а не через общую память.</a:t>
            </a:r>
          </a:p>
          <a:p>
            <a:r>
              <a:rPr lang="ru-RU" b="1" dirty="0"/>
              <a:t>Основные примитивы</a:t>
            </a:r>
          </a:p>
          <a:p>
            <a:r>
              <a:rPr lang="ru-RU" b="1" dirty="0" err="1"/>
              <a:t>send</a:t>
            </a:r>
            <a:r>
              <a:rPr lang="ru-RU" dirty="0"/>
              <a:t> — отправляет сообщение</a:t>
            </a:r>
          </a:p>
          <a:p>
            <a:r>
              <a:rPr lang="ru-RU" b="1" dirty="0" err="1"/>
              <a:t>receive</a:t>
            </a:r>
            <a:r>
              <a:rPr lang="ru-RU" dirty="0"/>
              <a:t> — принимает сообщение</a:t>
            </a:r>
          </a:p>
        </p:txBody>
      </p:sp>
      <p:sp>
        <p:nvSpPr>
          <p:cNvPr id="4" name="AutoShape 2" descr="Paging - GeeksforGeeks">
            <a:extLst>
              <a:ext uri="{FF2B5EF4-FFF2-40B4-BE49-F238E27FC236}">
                <a16:creationId xmlns:a16="http://schemas.microsoft.com/office/drawing/2014/main" id="{A5547BBC-957C-E04A-6167-0FD71B984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Paging - GeeksforGeeks">
            <a:extLst>
              <a:ext uri="{FF2B5EF4-FFF2-40B4-BE49-F238E27FC236}">
                <a16:creationId xmlns:a16="http://schemas.microsoft.com/office/drawing/2014/main" id="{76B192BA-A028-5A40-0F3B-19C26B39AF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AD976-F038-5B42-AAE0-04F997AEAE92}"/>
              </a:ext>
            </a:extLst>
          </p:cNvPr>
          <p:cNvSpPr txBox="1"/>
          <p:nvPr/>
        </p:nvSpPr>
        <p:spPr>
          <a:xfrm>
            <a:off x="4226560" y="1663809"/>
            <a:ext cx="4632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Важная особенность</a:t>
            </a:r>
          </a:p>
          <a:p>
            <a:pPr>
              <a:buNone/>
            </a:pPr>
            <a:r>
              <a:rPr lang="ru-RU" dirty="0"/>
              <a:t>Операции </a:t>
            </a:r>
            <a:r>
              <a:rPr lang="ru-RU" dirty="0" err="1">
                <a:latin typeface="Courier New" panose="02070309020205020404" pitchFamily="49" charset="0"/>
              </a:rPr>
              <a:t>send</a:t>
            </a:r>
            <a:r>
              <a:rPr lang="ru-RU" dirty="0"/>
              <a:t> и </a:t>
            </a:r>
            <a:r>
              <a:rPr lang="ru-RU" dirty="0" err="1">
                <a:latin typeface="Courier New" panose="02070309020205020404" pitchFamily="49" charset="0"/>
              </a:rPr>
              <a:t>receive</a:t>
            </a:r>
            <a:r>
              <a:rPr lang="ru-RU" dirty="0"/>
              <a:t> </a:t>
            </a:r>
            <a:r>
              <a:rPr lang="ru-RU" b="1" dirty="0"/>
              <a:t>уже содержат внутри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механизм </a:t>
            </a:r>
            <a:r>
              <a:rPr lang="ru-RU" b="1" dirty="0"/>
              <a:t>взаимоисключения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блокировку</a:t>
            </a:r>
            <a:r>
              <a:rPr lang="ru-RU" dirty="0"/>
              <a:t>, если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буфер пуст (при </a:t>
            </a:r>
            <a:r>
              <a:rPr lang="ru-RU" dirty="0" err="1"/>
              <a:t>receive</a:t>
            </a:r>
            <a:r>
              <a:rPr lang="ru-RU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буфер переполнен (при </a:t>
            </a:r>
            <a:r>
              <a:rPr lang="ru-RU" dirty="0" err="1"/>
              <a:t>send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846794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1F76-5F8C-DC18-6D2F-CD07A5F7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92E727F0-C418-511E-04E3-EA215F9751C7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8A594-1600-580F-AAEF-492A235E3B03}"/>
              </a:ext>
            </a:extLst>
          </p:cNvPr>
          <p:cNvSpPr txBox="1"/>
          <p:nvPr/>
        </p:nvSpPr>
        <p:spPr>
          <a:xfrm>
            <a:off x="291254" y="1617154"/>
            <a:ext cx="34205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Эквивалентность семафоров, мониторов и передачи сообщений</a:t>
            </a:r>
            <a:r>
              <a:rPr lang="ru-RU" dirty="0"/>
              <a:t> — это свойство механизмов синхронизации, согласно которому </a:t>
            </a:r>
            <a:r>
              <a:rPr lang="ru-RU" b="1" dirty="0"/>
              <a:t>каждый из них может быть реализован с помощью других</a:t>
            </a:r>
            <a:r>
              <a:rPr lang="ru-RU" dirty="0"/>
              <a:t>, если процессы имеют доступ к </a:t>
            </a:r>
            <a:r>
              <a:rPr lang="ru-RU" b="1" dirty="0"/>
              <a:t>разделяемой памяти</a:t>
            </a:r>
            <a:r>
              <a:rPr lang="ru-RU" dirty="0"/>
              <a:t>.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D756B-993B-7F1F-A567-09CD530962EB}"/>
              </a:ext>
            </a:extLst>
          </p:cNvPr>
          <p:cNvSpPr txBox="1"/>
          <p:nvPr/>
        </p:nvSpPr>
        <p:spPr>
          <a:xfrm>
            <a:off x="4158826" y="1617154"/>
            <a:ext cx="4632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Смысл</a:t>
            </a:r>
          </a:p>
          <a:p>
            <a:pPr>
              <a:buNone/>
            </a:pPr>
            <a:r>
              <a:rPr lang="ru-RU" dirty="0"/>
              <a:t>Это означает, что: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мониторы можно реализовать через семафоры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передачу сообщений можно реализовать через семафоры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семафоры можно реализовать через передачу сообщений</a:t>
            </a:r>
            <a:endParaRPr lang="ru-RU" dirty="0"/>
          </a:p>
          <a:p>
            <a:pPr>
              <a:buNone/>
            </a:pPr>
            <a:r>
              <a:rPr lang="ru-RU" dirty="0"/>
              <a:t>Разница между ними в основном </a:t>
            </a:r>
            <a:r>
              <a:rPr lang="ru-RU" b="1" dirty="0"/>
              <a:t>в уровне абстракции и удобстве программирования</a:t>
            </a:r>
            <a:r>
              <a:rPr lang="ru-RU" dirty="0"/>
              <a:t>, а не в возможностях.</a:t>
            </a:r>
          </a:p>
        </p:txBody>
      </p:sp>
    </p:spTree>
    <p:extLst>
      <p:ext uri="{BB962C8B-B14F-4D97-AF65-F5344CB8AC3E}">
        <p14:creationId xmlns:p14="http://schemas.microsoft.com/office/powerpoint/2010/main" val="13049220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63129-683B-4CE6-2CFA-624C75BC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966A904-CB57-B449-1468-822CCDD39FE8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60748-C1FA-9A05-9046-D68070C861EF}"/>
              </a:ext>
            </a:extLst>
          </p:cNvPr>
          <p:cNvSpPr txBox="1"/>
          <p:nvPr/>
        </p:nvSpPr>
        <p:spPr>
          <a:xfrm>
            <a:off x="277707" y="1401363"/>
            <a:ext cx="388789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Реализация мониторов с помощью семафоров</a:t>
            </a:r>
            <a:r>
              <a:rPr lang="ru-RU" dirty="0"/>
              <a:t> — это способ построения механизма </a:t>
            </a:r>
            <a:r>
              <a:rPr lang="ru-RU" b="1" dirty="0"/>
              <a:t>монитора</a:t>
            </a:r>
            <a:r>
              <a:rPr lang="ru-RU" dirty="0"/>
              <a:t>, используя </a:t>
            </a:r>
            <a:r>
              <a:rPr lang="ru-RU" b="1" dirty="0"/>
              <a:t>семафоры для обеспечения взаимного исключения и ожидания событий</a:t>
            </a:r>
            <a:r>
              <a:rPr lang="ru-R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3D0BA-93B0-F745-A2C5-E86C457B7425}"/>
              </a:ext>
            </a:extLst>
          </p:cNvPr>
          <p:cNvSpPr txBox="1"/>
          <p:nvPr/>
        </p:nvSpPr>
        <p:spPr>
          <a:xfrm>
            <a:off x="277707" y="2570914"/>
            <a:ext cx="46329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Основная идея</a:t>
            </a:r>
          </a:p>
          <a:p>
            <a:pPr>
              <a:buNone/>
            </a:pPr>
            <a:r>
              <a:rPr lang="ru-RU" dirty="0"/>
              <a:t>Семафоры выполняют две задачи: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Контроль входа в монитор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 err="1">
                <a:latin typeface="Courier New" panose="02070309020205020404" pitchFamily="49" charset="0"/>
              </a:rPr>
              <a:t>mutex</a:t>
            </a:r>
            <a:r>
              <a:rPr lang="ru-RU" dirty="0"/>
              <a:t> гарантирует, что </a:t>
            </a:r>
            <a:r>
              <a:rPr lang="ru-RU" b="1" dirty="0"/>
              <a:t>только один процесс находится внутри монитора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Ожидание и сигнализация условий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процессы могут </a:t>
            </a:r>
            <a:r>
              <a:rPr lang="ru-RU" b="1" dirty="0"/>
              <a:t>ждать события (</a:t>
            </a:r>
            <a:r>
              <a:rPr lang="ru-RU" b="1" dirty="0" err="1">
                <a:latin typeface="Courier New" panose="02070309020205020404" pitchFamily="49" charset="0"/>
              </a:rPr>
              <a:t>wait</a:t>
            </a:r>
            <a:r>
              <a:rPr lang="ru-RU" b="1" dirty="0"/>
              <a:t>)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другой процесс может </a:t>
            </a:r>
            <a:r>
              <a:rPr lang="ru-RU" b="1" dirty="0"/>
              <a:t>разбудить их (</a:t>
            </a:r>
            <a:r>
              <a:rPr lang="ru-RU" b="1" dirty="0" err="1">
                <a:latin typeface="Courier New" panose="02070309020205020404" pitchFamily="49" charset="0"/>
              </a:rPr>
              <a:t>signal</a:t>
            </a:r>
            <a:r>
              <a:rPr lang="ru-RU" b="1" dirty="0"/>
              <a:t>)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7C9AA3-AAA1-4505-47F0-B30A4C9A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509" y="1401363"/>
            <a:ext cx="1838582" cy="34485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F23F42-8AA3-1B57-59F0-CEFC77E88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509" y="4754375"/>
            <a:ext cx="228632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8451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5CB3-56B9-CC22-9D8D-E696EA1B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A935C49D-26F7-47DE-B98A-EDA5756937D0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8AB09-B4FC-383A-2D34-D546594B1EFB}"/>
              </a:ext>
            </a:extLst>
          </p:cNvPr>
          <p:cNvSpPr txBox="1"/>
          <p:nvPr/>
        </p:nvSpPr>
        <p:spPr>
          <a:xfrm>
            <a:off x="223520" y="1767004"/>
            <a:ext cx="38878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Реализация семафоров с помощью мониторов</a:t>
            </a:r>
            <a:r>
              <a:rPr lang="ru-RU" dirty="0"/>
              <a:t> — это способ построения </a:t>
            </a:r>
            <a:r>
              <a:rPr lang="ru-RU" b="1" dirty="0"/>
              <a:t>семафора</a:t>
            </a:r>
            <a:r>
              <a:rPr lang="ru-RU" dirty="0"/>
              <a:t>, используя </a:t>
            </a:r>
            <a:r>
              <a:rPr lang="ru-RU" b="1" dirty="0"/>
              <a:t>монитор, его внутренние переменные и условные переменные для блокировки и пробуждения процессов</a:t>
            </a:r>
            <a:r>
              <a:rPr lang="ru-R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B7DE3-A83A-526B-EEF7-374D94165522}"/>
              </a:ext>
            </a:extLst>
          </p:cNvPr>
          <p:cNvSpPr txBox="1"/>
          <p:nvPr/>
        </p:nvSpPr>
        <p:spPr>
          <a:xfrm>
            <a:off x="4287520" y="1767004"/>
            <a:ext cx="463296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Основная идея</a:t>
            </a:r>
          </a:p>
          <a:p>
            <a:r>
              <a:rPr lang="ru-RU" dirty="0"/>
              <a:t>Внутри монитора реализуются операции семафора:</a:t>
            </a:r>
          </a:p>
          <a:p>
            <a:r>
              <a:rPr lang="ru-RU" b="1" dirty="0"/>
              <a:t>Операция P (</a:t>
            </a:r>
            <a:r>
              <a:rPr lang="ru-RU" b="1" dirty="0" err="1"/>
              <a:t>wait</a:t>
            </a:r>
            <a:r>
              <a:rPr lang="ru-RU" b="1" dirty="0"/>
              <a:t>):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счётчик </a:t>
            </a:r>
            <a:r>
              <a:rPr lang="ru-RU" b="1" dirty="0"/>
              <a:t>&gt; 0</a:t>
            </a:r>
            <a:r>
              <a:rPr lang="ru-RU" dirty="0"/>
              <a:t> → уменьшается на 1, процесс продолжает работу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счётчик </a:t>
            </a:r>
            <a:r>
              <a:rPr lang="ru-RU" b="1" dirty="0"/>
              <a:t>= 0</a:t>
            </a:r>
            <a:r>
              <a:rPr lang="ru-RU" dirty="0"/>
              <a:t> → процесс помещается в очередь ожидания и блокируется (</a:t>
            </a:r>
            <a:r>
              <a:rPr lang="ru-RU" dirty="0" err="1"/>
              <a:t>wait</a:t>
            </a:r>
            <a:r>
              <a:rPr lang="ru-RU" dirty="0"/>
              <a:t>)</a:t>
            </a:r>
          </a:p>
          <a:p>
            <a:r>
              <a:rPr lang="ru-RU" b="1" dirty="0"/>
              <a:t>Операция V (</a:t>
            </a:r>
            <a:r>
              <a:rPr lang="ru-RU" b="1" dirty="0" err="1"/>
              <a:t>signal</a:t>
            </a:r>
            <a:r>
              <a:rPr lang="ru-RU" b="1" dirty="0"/>
              <a:t>):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счётчик </a:t>
            </a:r>
            <a:r>
              <a:rPr lang="ru-RU" b="1" dirty="0"/>
              <a:t>увеличивается на 1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есть ожидающие процессы → один из них </a:t>
            </a:r>
            <a:r>
              <a:rPr lang="ru-RU" b="1" dirty="0"/>
              <a:t>разблокируется (</a:t>
            </a:r>
            <a:r>
              <a:rPr lang="ru-RU" b="1" dirty="0" err="1"/>
              <a:t>signal</a:t>
            </a:r>
            <a:r>
              <a:rPr lang="ru-RU" b="1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78678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4A423-995E-CC1C-EABE-0C8E8C06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39B36C3E-16D9-B35F-3222-6D852265CEC8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Механизмы 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A14EA-6E35-CD9C-863B-2D9F1C6AE223}"/>
              </a:ext>
            </a:extLst>
          </p:cNvPr>
          <p:cNvSpPr txBox="1"/>
          <p:nvPr/>
        </p:nvSpPr>
        <p:spPr>
          <a:xfrm>
            <a:off x="209974" y="1313191"/>
            <a:ext cx="32782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Реализация семафоров и мониторов с помощью очередей сообщений</a:t>
            </a:r>
            <a:r>
              <a:rPr lang="ru-RU" dirty="0"/>
              <a:t> — это способ организации синхронизации процессов, при котором </a:t>
            </a:r>
            <a:r>
              <a:rPr lang="ru-RU" b="1" dirty="0"/>
              <a:t>операции семафора выполняются через обмен сообщениями с отдельным синхронизирующим процессом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87828-324A-4B8B-FA82-6359EA9B6632}"/>
              </a:ext>
            </a:extLst>
          </p:cNvPr>
          <p:cNvSpPr txBox="1"/>
          <p:nvPr/>
        </p:nvSpPr>
        <p:spPr>
          <a:xfrm>
            <a:off x="3752427" y="1313191"/>
            <a:ext cx="527642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Основная идея</a:t>
            </a:r>
          </a:p>
          <a:p>
            <a:r>
              <a:rPr lang="ru-RU" b="1" dirty="0"/>
              <a:t>1. Синхронизирующий процесс</a:t>
            </a:r>
            <a:r>
              <a:rPr lang="ru-RU" dirty="0"/>
              <a:t> хранит: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/>
              <a:t>счётчик семафора</a:t>
            </a:r>
            <a:endParaRPr lang="ru-RU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/>
              <a:t>очередь заблокированных процессов</a:t>
            </a:r>
            <a:endParaRPr lang="ru-RU" dirty="0"/>
          </a:p>
          <a:p>
            <a:r>
              <a:rPr lang="ru-RU" dirty="0"/>
              <a:t>2. Другие процессы: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/>
              <a:t>отправляют сообщения с запросом на операции </a:t>
            </a:r>
            <a:r>
              <a:rPr lang="ru-RU" b="1" dirty="0"/>
              <a:t>P</a:t>
            </a:r>
            <a:r>
              <a:rPr lang="ru-RU" dirty="0"/>
              <a:t> или </a:t>
            </a:r>
            <a:r>
              <a:rPr lang="ru-RU" b="1" dirty="0"/>
              <a:t>V</a:t>
            </a:r>
            <a:endParaRPr lang="ru-RU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/>
              <a:t>ждут </a:t>
            </a:r>
            <a:r>
              <a:rPr lang="ru-RU" b="1" dirty="0"/>
              <a:t>подтверждения</a:t>
            </a:r>
            <a:r>
              <a:rPr lang="ru-RU" dirty="0"/>
              <a:t> от синхронизирующего процесса.</a:t>
            </a:r>
          </a:p>
          <a:p>
            <a:r>
              <a:rPr lang="ru-RU" dirty="0"/>
              <a:t>3. Работа операций: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/>
              <a:t>V</a:t>
            </a:r>
            <a:r>
              <a:rPr lang="ru-RU" dirty="0"/>
              <a:t> — всегда выполняется, счётчик увеличивается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/>
              <a:t>P</a:t>
            </a:r>
            <a:r>
              <a:rPr lang="ru-RU" dirty="0"/>
              <a:t> — если счётчик &gt; 0, операция выполняется; если нет — процесс помещается в очередь ожидания.</a:t>
            </a:r>
          </a:p>
          <a:p>
            <a:r>
              <a:rPr lang="ru-RU" dirty="0"/>
              <a:t>4. Когда появляется возможность продолжить работу, синхронизирующий процесс </a:t>
            </a:r>
            <a:r>
              <a:rPr lang="ru-RU" b="1" dirty="0"/>
              <a:t>отправляет подтверждение одному из ожидающих процессов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92399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AEA7-9C6C-DBCE-6D64-3C387DB3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8CD086CD-B1A1-2A38-A51F-E2E4D9402BCF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/>
              <a:t>Итоги лекции</a:t>
            </a:r>
            <a:endParaRPr lang="ru-RU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7CCA0-C0D7-B917-F82F-C863354CABD4}"/>
              </a:ext>
            </a:extLst>
          </p:cNvPr>
          <p:cNvSpPr txBox="1"/>
          <p:nvPr/>
        </p:nvSpPr>
        <p:spPr>
          <a:xfrm>
            <a:off x="528319" y="1649730"/>
            <a:ext cx="41859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организации синхронизации процессов могут применяться специальные механизмы высокого уровня, блокирующие процесс, ожидающий входа в критическую секцию или наступления своей очереди для использования совместного ресурса. К таким механизмам относятся, например, семафоры, мониторы и сообщения. Все эти конструкции являются эквивалентными, т. е., используя любую из них, можно реализовать две оставшиеся. </a:t>
            </a:r>
          </a:p>
        </p:txBody>
      </p:sp>
    </p:spTree>
    <p:extLst>
      <p:ext uri="{BB962C8B-B14F-4D97-AF65-F5344CB8AC3E}">
        <p14:creationId xmlns:p14="http://schemas.microsoft.com/office/powerpoint/2010/main" val="13035585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7589</TotalTime>
  <Words>733</Words>
  <Application>Microsoft Office PowerPoint</Application>
  <PresentationFormat>Экран (16:9)</PresentationFormat>
  <Paragraphs>88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Comfortaa Medium</vt:lpstr>
      <vt:lpstr>Simple Light</vt:lpstr>
      <vt:lpstr>Механизмы синхронизации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20</cp:revision>
  <dcterms:modified xsi:type="dcterms:W3CDTF">2026-03-16T16:49:26Z</dcterms:modified>
</cp:coreProperties>
</file>
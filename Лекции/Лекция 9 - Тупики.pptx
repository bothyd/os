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6"/>
  </p:notesMasterIdLst>
  <p:sldIdLst>
    <p:sldId id="258" r:id="rId2"/>
    <p:sldId id="271" r:id="rId3"/>
    <p:sldId id="259" r:id="rId4"/>
    <p:sldId id="283" r:id="rId5"/>
    <p:sldId id="284" r:id="rId6"/>
    <p:sldId id="285" r:id="rId7"/>
    <p:sldId id="286" r:id="rId8"/>
    <p:sldId id="287" r:id="rId9"/>
    <p:sldId id="296" r:id="rId10"/>
    <p:sldId id="288" r:id="rId11"/>
    <p:sldId id="289" r:id="rId12"/>
    <p:sldId id="291" r:id="rId13"/>
    <p:sldId id="292" r:id="rId14"/>
    <p:sldId id="295" r:id="rId15"/>
  </p:sldIdLst>
  <p:sldSz cx="9144000" cy="5143500" type="screen16x9"/>
  <p:notesSz cx="6858000" cy="9144000"/>
  <p:embeddedFontLst>
    <p:embeddedFont>
      <p:font typeface="Comfortaa Medium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C47D"/>
    <a:srgbClr val="B6D7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83"/>
    <p:restoredTop sz="94660"/>
  </p:normalViewPr>
  <p:slideViewPr>
    <p:cSldViewPr snapToGrid="0">
      <p:cViewPr varScale="1">
        <p:scale>
          <a:sx n="141" d="100"/>
          <a:sy n="141" d="100"/>
        </p:scale>
        <p:origin x="966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34f50e13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34f50e13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slow">
    <p:push dir="u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"/>
          <p:cNvSpPr txBox="1">
            <a:spLocks noGrp="1"/>
          </p:cNvSpPr>
          <p:nvPr>
            <p:ph type="subTitle" idx="4294967295"/>
          </p:nvPr>
        </p:nvSpPr>
        <p:spPr>
          <a:xfrm>
            <a:off x="4062173" y="2044550"/>
            <a:ext cx="10332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300" dirty="0">
                <a:latin typeface="Comfortaa Medium"/>
                <a:ea typeface="Comfortaa Medium"/>
                <a:cs typeface="Comfortaa Medium"/>
                <a:sym typeface="Comfortaa Medium"/>
              </a:rPr>
              <a:t>Тема 9</a:t>
            </a:r>
            <a:endParaRPr sz="2300" dirty="0">
              <a:latin typeface="Comfortaa Medium"/>
              <a:ea typeface="Comfortaa Medium"/>
              <a:cs typeface="Comfortaa Medium"/>
              <a:sym typeface="Comfortaa Medium"/>
            </a:endParaRPr>
          </a:p>
        </p:txBody>
      </p:sp>
      <p:sp>
        <p:nvSpPr>
          <p:cNvPr id="112" name="Google Shape;112;p15"/>
          <p:cNvSpPr txBox="1">
            <a:spLocks noGrp="1"/>
          </p:cNvSpPr>
          <p:nvPr>
            <p:ph type="title"/>
          </p:nvPr>
        </p:nvSpPr>
        <p:spPr>
          <a:xfrm>
            <a:off x="973746" y="1413932"/>
            <a:ext cx="7193280" cy="11074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ru-RU" b="1" dirty="0"/>
              <a:t> Тупики </a:t>
            </a:r>
          </a:p>
        </p:txBody>
      </p:sp>
      <p:sp>
        <p:nvSpPr>
          <p:cNvPr id="9" name="Google Shape;55;p13">
            <a:extLst>
              <a:ext uri="{FF2B5EF4-FFF2-40B4-BE49-F238E27FC236}">
                <a16:creationId xmlns:a16="http://schemas.microsoft.com/office/drawing/2014/main" id="{B9E0222C-93BA-6446-AB4F-A93CE3CB7494}"/>
              </a:ext>
            </a:extLst>
          </p:cNvPr>
          <p:cNvSpPr/>
          <p:nvPr/>
        </p:nvSpPr>
        <p:spPr>
          <a:xfrm>
            <a:off x="460375" y="2044575"/>
            <a:ext cx="1033200" cy="3098925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54;p13">
            <a:extLst>
              <a:ext uri="{FF2B5EF4-FFF2-40B4-BE49-F238E27FC236}">
                <a16:creationId xmlns:a16="http://schemas.microsoft.com/office/drawing/2014/main" id="{1009C77D-1156-8947-9FEF-DCE7A9010FE0}"/>
              </a:ext>
            </a:extLst>
          </p:cNvPr>
          <p:cNvSpPr/>
          <p:nvPr/>
        </p:nvSpPr>
        <p:spPr>
          <a:xfrm>
            <a:off x="0" y="1676400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" name="Google Shape;55;p13">
            <a:extLst>
              <a:ext uri="{FF2B5EF4-FFF2-40B4-BE49-F238E27FC236}">
                <a16:creationId xmlns:a16="http://schemas.microsoft.com/office/drawing/2014/main" id="{73CC8A6D-3B3C-7B47-9A21-9A4280CB9124}"/>
              </a:ext>
            </a:extLst>
          </p:cNvPr>
          <p:cNvSpPr/>
          <p:nvPr/>
        </p:nvSpPr>
        <p:spPr>
          <a:xfrm flipH="1" flipV="1">
            <a:off x="7650426" y="2044550"/>
            <a:ext cx="1033200" cy="3098924"/>
          </a:xfrm>
          <a:prstGeom prst="rect">
            <a:avLst/>
          </a:prstGeom>
          <a:solidFill>
            <a:srgbClr val="93C47D">
              <a:alpha val="58039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54;p13">
            <a:extLst>
              <a:ext uri="{FF2B5EF4-FFF2-40B4-BE49-F238E27FC236}">
                <a16:creationId xmlns:a16="http://schemas.microsoft.com/office/drawing/2014/main" id="{24FD86A3-3FD5-BD4F-A7AC-E0472CBDA64B}"/>
              </a:ext>
            </a:extLst>
          </p:cNvPr>
          <p:cNvSpPr/>
          <p:nvPr/>
        </p:nvSpPr>
        <p:spPr>
          <a:xfrm flipH="1" flipV="1">
            <a:off x="8227850" y="1676399"/>
            <a:ext cx="920750" cy="3467075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D3607-1631-82D8-7457-05E5C0FD8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771F027-B27D-C065-FCF6-F234572F096E}"/>
              </a:ext>
            </a:extLst>
          </p:cNvPr>
          <p:cNvSpPr/>
          <p:nvPr/>
        </p:nvSpPr>
        <p:spPr>
          <a:xfrm>
            <a:off x="0" y="347705"/>
            <a:ext cx="9144000" cy="805341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A65677A4-6169-0E64-0FB8-6DD395CB640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1B45124-FCC0-6C58-34A9-CB732EDD5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225" y="3252441"/>
            <a:ext cx="82792" cy="10988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52B522-AA3C-E5B6-D8F7-DA39C1A1729C}"/>
              </a:ext>
            </a:extLst>
          </p:cNvPr>
          <p:cNvSpPr txBox="1"/>
          <p:nvPr/>
        </p:nvSpPr>
        <p:spPr>
          <a:xfrm>
            <a:off x="1083733" y="1910110"/>
            <a:ext cx="4632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Содержание:</a:t>
            </a:r>
          </a:p>
          <a:p>
            <a:endParaRPr lang="ru-RU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Условия возникновения тупиков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Основные направления борьбы с тупиками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Игнорирование проблемы тупиков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Способы предотвращения тупиков</a:t>
            </a:r>
          </a:p>
        </p:txBody>
      </p:sp>
    </p:spTree>
    <p:extLst>
      <p:ext uri="{BB962C8B-B14F-4D97-AF65-F5344CB8AC3E}">
        <p14:creationId xmlns:p14="http://schemas.microsoft.com/office/powerpoint/2010/main" val="61341854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31F715F-EBDD-0A4D-AE11-8C32CE4B05E5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84F3BE-F384-9139-F6EA-CC973B530D38}"/>
              </a:ext>
            </a:extLst>
          </p:cNvPr>
          <p:cNvSpPr txBox="1"/>
          <p:nvPr/>
        </p:nvSpPr>
        <p:spPr>
          <a:xfrm>
            <a:off x="474133" y="1775081"/>
            <a:ext cx="463296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Тупик (</a:t>
            </a:r>
            <a:r>
              <a:rPr lang="ru-RU" b="1" dirty="0" err="1"/>
              <a:t>deadlock</a:t>
            </a:r>
            <a:r>
              <a:rPr lang="ru-RU" b="1" dirty="0"/>
              <a:t>)</a:t>
            </a:r>
            <a:r>
              <a:rPr lang="ru-RU" dirty="0"/>
              <a:t> — это ситуация в операционной системе, когда </a:t>
            </a:r>
            <a:r>
              <a:rPr lang="ru-RU" b="1" dirty="0"/>
              <a:t>несколько процессов бесконечно ждут ресурсы, занятые друг другом, и ни один из них не может продолжить выполнение</a:t>
            </a:r>
            <a:r>
              <a:rPr lang="ru-RU"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A2B952-30E1-51D5-ABF2-C53FB8AAECB3}"/>
              </a:ext>
            </a:extLst>
          </p:cNvPr>
          <p:cNvSpPr txBox="1"/>
          <p:nvPr/>
        </p:nvSpPr>
        <p:spPr>
          <a:xfrm>
            <a:off x="474133" y="3110730"/>
            <a:ext cx="46329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b="1" dirty="0"/>
              <a:t>Смысл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процессы </a:t>
            </a:r>
            <a:r>
              <a:rPr lang="ru-RU" b="1" dirty="0"/>
              <a:t>конкурируют за ресурсы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процесс </a:t>
            </a:r>
            <a:r>
              <a:rPr lang="ru-RU" b="1" dirty="0"/>
              <a:t>ждёт ресурс</a:t>
            </a:r>
            <a:r>
              <a:rPr lang="ru-RU" dirty="0"/>
              <a:t>, который удерживает другой процесс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из-за этого </a:t>
            </a:r>
            <a:r>
              <a:rPr lang="ru-RU" b="1" dirty="0"/>
              <a:t>все процессы остаются в состоянии ожидания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E21DD02-EA4A-D4D9-8D69-FC529F171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843" y="2959946"/>
            <a:ext cx="3679021" cy="14750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C145B4-3A87-CD2A-4105-292A948AFCE6}"/>
              </a:ext>
            </a:extLst>
          </p:cNvPr>
          <p:cNvSpPr txBox="1"/>
          <p:nvPr/>
        </p:nvSpPr>
        <p:spPr>
          <a:xfrm>
            <a:off x="5797286" y="4495725"/>
            <a:ext cx="25061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Рис. 7.1. </a:t>
            </a:r>
            <a:r>
              <a:rPr lang="ru-RU" sz="1000" dirty="0"/>
              <a:t>Пример тупиковой ситуации</a:t>
            </a:r>
          </a:p>
        </p:txBody>
      </p:sp>
    </p:spTree>
    <p:extLst>
      <p:ext uri="{BB962C8B-B14F-4D97-AF65-F5344CB8AC3E}">
        <p14:creationId xmlns:p14="http://schemas.microsoft.com/office/powerpoint/2010/main" val="4086255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A9A34-75C9-CE2C-CFCB-42F5D2AD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39133717-28F0-D367-D536-B64FD3E48C33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1624D5-2DC3-8C46-84C6-C9AE04CC2008}"/>
              </a:ext>
            </a:extLst>
          </p:cNvPr>
          <p:cNvSpPr txBox="1"/>
          <p:nvPr/>
        </p:nvSpPr>
        <p:spPr>
          <a:xfrm>
            <a:off x="453813" y="1752806"/>
            <a:ext cx="454490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Условия возникновения тупиков</a:t>
            </a:r>
          </a:p>
          <a:p>
            <a:endParaRPr lang="ru-RU" b="1" dirty="0"/>
          </a:p>
          <a:p>
            <a:r>
              <a:rPr lang="ru-RU" b="1" dirty="0"/>
              <a:t>Тупик возникает, если одновременно выполняются 4 условия: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взаимоисключение</a:t>
            </a:r>
            <a:r>
              <a:rPr lang="ru-RU" dirty="0"/>
              <a:t> — ресурс может использовать только один процесс;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удержание и ожидание</a:t>
            </a:r>
            <a:r>
              <a:rPr lang="ru-RU" dirty="0"/>
              <a:t> — процесс удерживает ресурсы и запрашивает новые;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 err="1"/>
              <a:t>неперераспределяемость</a:t>
            </a:r>
            <a:r>
              <a:rPr lang="ru-RU" dirty="0"/>
              <a:t> — ресурс нельзя принудительно забрать;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круговое ожидание</a:t>
            </a:r>
            <a:r>
              <a:rPr lang="ru-RU" dirty="0"/>
              <a:t> — процессы ждут ресурсы друг друга по кругу.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2184C8-51AA-0561-576F-D9D74CF878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123" y="1752806"/>
            <a:ext cx="3679021" cy="14750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24785-4301-CE57-7834-D55E1F7C90AA}"/>
              </a:ext>
            </a:extLst>
          </p:cNvPr>
          <p:cNvSpPr txBox="1"/>
          <p:nvPr/>
        </p:nvSpPr>
        <p:spPr>
          <a:xfrm>
            <a:off x="5878566" y="3227845"/>
            <a:ext cx="250613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Рис. 7.1. </a:t>
            </a:r>
            <a:r>
              <a:rPr lang="ru-RU" sz="1000" dirty="0"/>
              <a:t>Пример тупиковой ситуации</a:t>
            </a:r>
          </a:p>
        </p:txBody>
      </p:sp>
    </p:spTree>
    <p:extLst>
      <p:ext uri="{BB962C8B-B14F-4D97-AF65-F5344CB8AC3E}">
        <p14:creationId xmlns:p14="http://schemas.microsoft.com/office/powerpoint/2010/main" val="962771605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AF30-7C69-DDA7-1A6F-1FA066201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40F4C9F2-8166-E71A-C316-7DB9DF397F7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40F2F2-ECB7-6272-7977-6359F470F44A}"/>
              </a:ext>
            </a:extLst>
          </p:cNvPr>
          <p:cNvSpPr txBox="1"/>
          <p:nvPr/>
        </p:nvSpPr>
        <p:spPr>
          <a:xfrm>
            <a:off x="535094" y="1740561"/>
            <a:ext cx="42536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Основные направления борьбы с тупиками</a:t>
            </a:r>
          </a:p>
          <a:p>
            <a:endParaRPr lang="ru-RU" dirty="0"/>
          </a:p>
          <a:p>
            <a:r>
              <a:rPr lang="ru-RU" dirty="0"/>
              <a:t>Существует несколько основных подходов к решению проблемы тупиков: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Игнорирование проблемы</a:t>
            </a:r>
            <a:r>
              <a:rPr lang="ru-RU" dirty="0"/>
              <a:t> — система не принимает специальных мер против тупиков.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Предотвращение тупиков</a:t>
            </a:r>
            <a:r>
              <a:rPr lang="ru-RU" dirty="0"/>
              <a:t> — система организует распределение ресурсов так, чтобы тупик </a:t>
            </a:r>
            <a:r>
              <a:rPr lang="ru-RU" b="1" dirty="0"/>
              <a:t>не мог возникнуть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Обнаружение тупиков</a:t>
            </a:r>
            <a:r>
              <a:rPr lang="ru-RU" dirty="0"/>
              <a:t> — система периодически </a:t>
            </a:r>
            <a:r>
              <a:rPr lang="ru-RU" b="1" dirty="0"/>
              <a:t>проверяет наличие тупиков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Восстановление после тупиков</a:t>
            </a:r>
            <a:r>
              <a:rPr lang="ru-RU" dirty="0"/>
              <a:t> — если тупик найден, система </a:t>
            </a:r>
            <a:r>
              <a:rPr lang="ru-RU" b="1" dirty="0"/>
              <a:t>устраняет его</a:t>
            </a:r>
            <a:r>
              <a:rPr lang="ru-RU" dirty="0"/>
              <a:t>, например, завершая процессы.</a:t>
            </a:r>
          </a:p>
        </p:txBody>
      </p:sp>
    </p:spTree>
    <p:extLst>
      <p:ext uri="{BB962C8B-B14F-4D97-AF65-F5344CB8AC3E}">
        <p14:creationId xmlns:p14="http://schemas.microsoft.com/office/powerpoint/2010/main" val="3524367636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A6084-5517-E021-16FA-BEB152A0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10834E0D-EA36-9C03-2123-99D93689364B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608A83-0FAE-44F3-46EA-0258D7153207}"/>
              </a:ext>
            </a:extLst>
          </p:cNvPr>
          <p:cNvSpPr txBox="1"/>
          <p:nvPr/>
        </p:nvSpPr>
        <p:spPr>
          <a:xfrm>
            <a:off x="358987" y="1663809"/>
            <a:ext cx="5093546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Игнорирование проблемы тупиков</a:t>
            </a:r>
          </a:p>
          <a:p>
            <a:endParaRPr lang="ru-RU" b="1" dirty="0"/>
          </a:p>
          <a:p>
            <a:r>
              <a:rPr lang="ru-RU" dirty="0"/>
              <a:t>Самый простой подход — </a:t>
            </a:r>
            <a:r>
              <a:rPr lang="ru-RU" b="1" dirty="0"/>
              <a:t>не предпринимать никаких действий против тупиков</a:t>
            </a:r>
            <a:r>
              <a:rPr lang="ru-RU" dirty="0"/>
              <a:t>.</a:t>
            </a:r>
          </a:p>
          <a:p>
            <a:r>
              <a:rPr lang="ru-RU" dirty="0"/>
              <a:t>Многие операционные системы (например, </a:t>
            </a:r>
            <a:r>
              <a:rPr lang="ru-RU" b="1" dirty="0"/>
              <a:t>Unix и Windows</a:t>
            </a:r>
            <a:r>
              <a:rPr lang="ru-RU" dirty="0"/>
              <a:t>) используют именно этот подход, потому что:</a:t>
            </a:r>
          </a:p>
          <a:p>
            <a:r>
              <a:rPr lang="ru-RU" dirty="0"/>
              <a:t>вероятность возникновения тупиков </a:t>
            </a:r>
            <a:r>
              <a:rPr lang="ru-RU" b="1" dirty="0"/>
              <a:t>невелика</a:t>
            </a:r>
            <a:r>
              <a:rPr lang="ru-RU" dirty="0"/>
              <a:t>,</a:t>
            </a:r>
          </a:p>
          <a:p>
            <a:r>
              <a:rPr lang="ru-RU" dirty="0"/>
              <a:t>сложные механизмы борьбы с тупиками </a:t>
            </a:r>
            <a:r>
              <a:rPr lang="ru-RU" b="1" dirty="0"/>
              <a:t>снижают производительность</a:t>
            </a:r>
            <a:r>
              <a:rPr lang="ru-RU" dirty="0"/>
              <a:t> системы,</a:t>
            </a:r>
          </a:p>
          <a:p>
            <a:r>
              <a:rPr lang="ru-RU" dirty="0"/>
              <a:t>введение ограничений может </a:t>
            </a:r>
            <a:r>
              <a:rPr lang="ru-RU" b="1" dirty="0"/>
              <a:t>ухудшить удобство работы пользователей</a:t>
            </a:r>
            <a:r>
              <a:rPr lang="ru-RU" dirty="0"/>
              <a:t>.</a:t>
            </a:r>
          </a:p>
          <a:p>
            <a:r>
              <a:rPr lang="ru-RU" dirty="0"/>
              <a:t>Поэтому иногда проще </a:t>
            </a:r>
            <a:r>
              <a:rPr lang="ru-RU" b="1" dirty="0"/>
              <a:t>перезапустить программу или систему</a:t>
            </a:r>
            <a:r>
              <a:rPr lang="ru-RU" dirty="0"/>
              <a:t>, чем усложнять ОС.</a:t>
            </a:r>
          </a:p>
        </p:txBody>
      </p:sp>
      <p:sp>
        <p:nvSpPr>
          <p:cNvPr id="4" name="AutoShape 2" descr="Paging - GeeksforGeeks">
            <a:extLst>
              <a:ext uri="{FF2B5EF4-FFF2-40B4-BE49-F238E27FC236}">
                <a16:creationId xmlns:a16="http://schemas.microsoft.com/office/drawing/2014/main" id="{A5547BBC-957C-E04A-6167-0FD71B9846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Paging - GeeksforGeeks">
            <a:extLst>
              <a:ext uri="{FF2B5EF4-FFF2-40B4-BE49-F238E27FC236}">
                <a16:creationId xmlns:a16="http://schemas.microsoft.com/office/drawing/2014/main" id="{76B192BA-A028-5A40-0F3B-19C26B39AF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8467942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D1F76-5F8C-DC18-6D2F-CD07A5F74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92E727F0-C418-511E-04E3-EA215F9751C7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E8A594-1600-580F-AAEF-492A235E3B03}"/>
              </a:ext>
            </a:extLst>
          </p:cNvPr>
          <p:cNvSpPr txBox="1"/>
          <p:nvPr/>
        </p:nvSpPr>
        <p:spPr>
          <a:xfrm>
            <a:off x="245428" y="1273601"/>
            <a:ext cx="583025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Предотвращение тупиков</a:t>
            </a:r>
            <a:r>
              <a:rPr lang="ru-RU" dirty="0"/>
              <a:t> заключается в том, чтобы </a:t>
            </a:r>
            <a:r>
              <a:rPr lang="ru-RU" b="1" dirty="0"/>
              <a:t>создать такие правила распределения ресурсов, при которых тупик невозможен</a:t>
            </a:r>
            <a:r>
              <a:rPr lang="ru-RU" dirty="0"/>
              <a:t>.</a:t>
            </a:r>
          </a:p>
          <a:p>
            <a:r>
              <a:rPr lang="ru-RU" dirty="0"/>
              <a:t>Для этого система:</a:t>
            </a:r>
          </a:p>
          <a:p>
            <a:r>
              <a:rPr lang="ru-RU" dirty="0"/>
              <a:t>анализирует </a:t>
            </a:r>
            <a:r>
              <a:rPr lang="ru-RU" b="1" dirty="0"/>
              <a:t>запросы процессов на ресурсы</a:t>
            </a:r>
            <a:r>
              <a:rPr lang="ru-RU" dirty="0"/>
              <a:t>,</a:t>
            </a:r>
          </a:p>
          <a:p>
            <a:r>
              <a:rPr lang="ru-RU" dirty="0"/>
              <a:t>принимает решение, </a:t>
            </a:r>
            <a:r>
              <a:rPr lang="ru-RU" b="1" dirty="0"/>
              <a:t>безопасно ли выделять ресурс</a:t>
            </a:r>
            <a:r>
              <a:rPr lang="ru-RU" dirty="0"/>
              <a:t>.</a:t>
            </a:r>
          </a:p>
          <a:p>
            <a:r>
              <a:rPr lang="ru-RU" dirty="0"/>
              <a:t>Иногда для предотвращения тупиков требуется </a:t>
            </a:r>
            <a:r>
              <a:rPr lang="ru-RU" b="1" dirty="0"/>
              <a:t>заранее знать максимальные потребности процессов в ресурсах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49220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63129-683B-4CE6-2CFA-624C75BC0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0966A904-CB57-B449-1468-822CCDD39FE8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960748-C1FA-9A05-9046-D68070C861EF}"/>
              </a:ext>
            </a:extLst>
          </p:cNvPr>
          <p:cNvSpPr txBox="1"/>
          <p:nvPr/>
        </p:nvSpPr>
        <p:spPr>
          <a:xfrm>
            <a:off x="460586" y="1570577"/>
            <a:ext cx="6373708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Алгоритм банкира</a:t>
            </a:r>
          </a:p>
          <a:p>
            <a:r>
              <a:rPr lang="ru-RU" b="1" dirty="0"/>
              <a:t>Алгоритм банкира</a:t>
            </a:r>
            <a:r>
              <a:rPr lang="ru-RU" dirty="0"/>
              <a:t>, предложенный </a:t>
            </a:r>
            <a:r>
              <a:rPr lang="ru-RU" b="1" dirty="0" err="1"/>
              <a:t>Эдсгером</a:t>
            </a:r>
            <a:r>
              <a:rPr lang="ru-RU" b="1" dirty="0"/>
              <a:t> </a:t>
            </a:r>
            <a:r>
              <a:rPr lang="ru-RU" b="1" dirty="0" err="1"/>
              <a:t>Дейкстрой</a:t>
            </a:r>
            <a:r>
              <a:rPr lang="ru-RU" dirty="0"/>
              <a:t>, используется для предотвращения тупиков.</a:t>
            </a:r>
          </a:p>
          <a:p>
            <a:r>
              <a:rPr lang="ru-RU" dirty="0"/>
              <a:t>Идея алгоритма основана на понятии </a:t>
            </a:r>
            <a:r>
              <a:rPr lang="ru-RU" b="1" dirty="0"/>
              <a:t>безопасного состояния системы</a:t>
            </a:r>
            <a:r>
              <a:rPr lang="ru-RU" dirty="0"/>
              <a:t>.</a:t>
            </a:r>
          </a:p>
          <a:p>
            <a:r>
              <a:rPr lang="ru-RU" b="1" dirty="0"/>
              <a:t>Безопасное состояние</a:t>
            </a:r>
            <a:r>
              <a:rPr lang="ru-RU" dirty="0"/>
              <a:t> — это состояние, при котором существует </a:t>
            </a:r>
            <a:r>
              <a:rPr lang="ru-RU" b="1" dirty="0"/>
              <a:t>такая последовательность выполнения процессов, при которой все процессы смогут завершиться без тупика</a:t>
            </a:r>
            <a:r>
              <a:rPr lang="ru-RU" dirty="0"/>
              <a:t>.</a:t>
            </a:r>
          </a:p>
          <a:p>
            <a:r>
              <a:rPr lang="ru-RU" dirty="0"/>
              <a:t>Алгоритм работает следующим образом:</a:t>
            </a:r>
          </a:p>
          <a:p>
            <a:r>
              <a:rPr lang="ru-RU" dirty="0"/>
              <a:t>каждый процесс заранее сообщает </a:t>
            </a:r>
            <a:r>
              <a:rPr lang="ru-RU" b="1" dirty="0"/>
              <a:t>максимальное количество ресурсов</a:t>
            </a:r>
            <a:r>
              <a:rPr lang="ru-RU" dirty="0"/>
              <a:t>, которое ему может понадобиться;</a:t>
            </a:r>
          </a:p>
          <a:p>
            <a:r>
              <a:rPr lang="ru-RU" dirty="0"/>
              <a:t>ОС выделяет ресурсы </a:t>
            </a:r>
            <a:r>
              <a:rPr lang="ru-RU" b="1" dirty="0"/>
              <a:t>только если после этого система остаётся в безопасном состоянии</a:t>
            </a:r>
            <a:r>
              <a:rPr lang="ru-RU" dirty="0"/>
              <a:t>.</a:t>
            </a:r>
          </a:p>
          <a:p>
            <a:r>
              <a:rPr lang="ru-RU" dirty="0"/>
              <a:t>Если после выделения ресурсов система может попасть в тупик, </a:t>
            </a:r>
            <a:r>
              <a:rPr lang="ru-RU" b="1" dirty="0"/>
              <a:t>запрос отклоняется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0908451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0FF16-34C6-FF93-878A-0E642DD8C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CDC712B4-8568-69F3-B829-820DE93514A8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D33AA3-E23B-2C93-BF4B-5ED714609392}"/>
              </a:ext>
            </a:extLst>
          </p:cNvPr>
          <p:cNvSpPr txBox="1"/>
          <p:nvPr/>
        </p:nvSpPr>
        <p:spPr>
          <a:xfrm>
            <a:off x="612776" y="1579246"/>
            <a:ext cx="63737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Алгоритм банкира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9AB5553-6F84-AF8C-11EC-BBAC1FC9D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6" y="1945004"/>
            <a:ext cx="5239385" cy="16192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5894F8-2237-98D9-475D-C40D4FB89A00}"/>
              </a:ext>
            </a:extLst>
          </p:cNvPr>
          <p:cNvSpPr txBox="1"/>
          <p:nvPr/>
        </p:nvSpPr>
        <p:spPr>
          <a:xfrm>
            <a:off x="516363" y="3564254"/>
            <a:ext cx="583025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Рис. 7.2. </a:t>
            </a:r>
            <a:r>
              <a:rPr lang="ru-RU" sz="1000" dirty="0"/>
              <a:t>Пример надежного состояния для системы с 3 пользователями и 11 устройствами.</a:t>
            </a:r>
          </a:p>
        </p:txBody>
      </p:sp>
    </p:spTree>
    <p:extLst>
      <p:ext uri="{BB962C8B-B14F-4D97-AF65-F5344CB8AC3E}">
        <p14:creationId xmlns:p14="http://schemas.microsoft.com/office/powerpoint/2010/main" val="105574221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AE29-CC97-D11C-06F1-387519E44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AABEBCD5-7D73-331F-FD3D-1E94AA739E44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46DC1-8568-671A-DCF9-8660B8EA31AA}"/>
              </a:ext>
            </a:extLst>
          </p:cNvPr>
          <p:cNvSpPr txBox="1"/>
          <p:nvPr/>
        </p:nvSpPr>
        <p:spPr>
          <a:xfrm>
            <a:off x="548640" y="1753456"/>
            <a:ext cx="52222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Предотвращение тупиков через нарушение условий</a:t>
            </a:r>
          </a:p>
          <a:p>
            <a:r>
              <a:rPr lang="ru-RU" dirty="0"/>
              <a:t>Если заранее неизвестно, какие ресурсы будут запрашивать процессы, тупики можно предотвращать, </a:t>
            </a:r>
            <a:r>
              <a:rPr lang="ru-RU" b="1" dirty="0"/>
              <a:t>нарушая хотя бы одно из четырёх условий их возникновения</a:t>
            </a:r>
            <a:r>
              <a:rPr lang="ru-RU" dirty="0"/>
              <a:t>:</a:t>
            </a:r>
          </a:p>
          <a:p>
            <a:r>
              <a:rPr lang="ru-RU" dirty="0"/>
              <a:t>устранить взаимоисключение,</a:t>
            </a:r>
          </a:p>
          <a:p>
            <a:r>
              <a:rPr lang="ru-RU" dirty="0"/>
              <a:t>запретить удержание ресурсов при ожидании,</a:t>
            </a:r>
          </a:p>
          <a:p>
            <a:r>
              <a:rPr lang="ru-RU" dirty="0"/>
              <a:t>разрешить принудительное изъятие ресурсов,</a:t>
            </a:r>
          </a:p>
          <a:p>
            <a:r>
              <a:rPr lang="ru-RU" dirty="0"/>
              <a:t>предотвратить круговое ожидание.</a:t>
            </a:r>
          </a:p>
          <a:p>
            <a:endParaRPr lang="ru-RU" dirty="0"/>
          </a:p>
          <a:p>
            <a:r>
              <a:rPr lang="ru-RU" dirty="0"/>
              <a:t>Нарушение любого из этих условий </a:t>
            </a:r>
            <a:r>
              <a:rPr lang="ru-RU" b="1" dirty="0"/>
              <a:t>делает тупик невозможным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8402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2C3A2-B6CE-D4B4-821D-694638E5B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72B0C546-30F3-ED37-B477-63ACBE47BE8D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FE41B8-7318-EA83-DB7D-8085832BCCA2}"/>
              </a:ext>
            </a:extLst>
          </p:cNvPr>
          <p:cNvSpPr txBox="1"/>
          <p:nvPr/>
        </p:nvSpPr>
        <p:spPr>
          <a:xfrm>
            <a:off x="792480" y="1793446"/>
            <a:ext cx="512064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Нарушение условия взаимоисключения (</a:t>
            </a:r>
            <a:r>
              <a:rPr lang="ru-RU" b="1" dirty="0" err="1"/>
              <a:t>spooling</a:t>
            </a:r>
            <a:r>
              <a:rPr lang="ru-RU" b="1" dirty="0"/>
              <a:t>)</a:t>
            </a:r>
          </a:p>
          <a:p>
            <a:r>
              <a:rPr lang="ru-RU" dirty="0"/>
              <a:t>Иногда можно </a:t>
            </a:r>
            <a:r>
              <a:rPr lang="ru-RU" b="1" dirty="0"/>
              <a:t>сделать ресурс разделяемым</a:t>
            </a:r>
            <a:r>
              <a:rPr lang="ru-RU" dirty="0"/>
              <a:t>, чтобы несколько процессов могли пользоваться им одновременно.</a:t>
            </a:r>
          </a:p>
          <a:p>
            <a:r>
              <a:rPr lang="ru-RU" dirty="0"/>
              <a:t>Пример — </a:t>
            </a:r>
            <a:r>
              <a:rPr lang="ru-RU" b="1" dirty="0"/>
              <a:t>печать документов</a:t>
            </a:r>
            <a:r>
              <a:rPr lang="ru-RU" dirty="0"/>
              <a:t>.</a:t>
            </a:r>
          </a:p>
          <a:p>
            <a:r>
              <a:rPr lang="ru-RU" dirty="0"/>
              <a:t>Чтобы избежать конфликтов при работе с принтером, используется </a:t>
            </a:r>
            <a:r>
              <a:rPr lang="ru-RU" b="1" dirty="0" err="1"/>
              <a:t>spooling</a:t>
            </a:r>
            <a:r>
              <a:rPr lang="ru-RU" dirty="0"/>
              <a:t>:</a:t>
            </a:r>
          </a:p>
          <a:p>
            <a:r>
              <a:rPr lang="ru-RU" dirty="0"/>
              <a:t>процессы сначала записывают данные для печати </a:t>
            </a:r>
            <a:r>
              <a:rPr lang="ru-RU" b="1" dirty="0"/>
              <a:t>на диск</a:t>
            </a:r>
            <a:r>
              <a:rPr lang="ru-RU" dirty="0"/>
              <a:t>,</a:t>
            </a:r>
          </a:p>
          <a:p>
            <a:r>
              <a:rPr lang="ru-RU" dirty="0"/>
              <a:t>специальный системный процесс (демон печати) </a:t>
            </a:r>
            <a:r>
              <a:rPr lang="ru-RU" b="1" dirty="0"/>
              <a:t>по очереди отправляет задания на принтер</a:t>
            </a:r>
            <a:r>
              <a:rPr lang="ru-RU" dirty="0"/>
              <a:t>.</a:t>
            </a:r>
          </a:p>
          <a:p>
            <a:r>
              <a:rPr lang="ru-RU" dirty="0"/>
              <a:t>Таким образом, принтер </a:t>
            </a:r>
            <a:r>
              <a:rPr lang="ru-RU" b="1" dirty="0"/>
              <a:t>логически становится разделяемым ресурсом</a:t>
            </a:r>
            <a:r>
              <a:rPr lang="ru-RU" dirty="0"/>
              <a:t>, и вероятность тупика уменьшается.</a:t>
            </a:r>
          </a:p>
        </p:txBody>
      </p:sp>
    </p:spTree>
    <p:extLst>
      <p:ext uri="{BB962C8B-B14F-4D97-AF65-F5344CB8AC3E}">
        <p14:creationId xmlns:p14="http://schemas.microsoft.com/office/powerpoint/2010/main" val="97326400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C63E2-A556-951C-5BD4-734665CB8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8CA161E-D26F-3474-FDBE-0A13818295ED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68E001-EF06-4BB4-AA32-8F3E52DE5D21}"/>
              </a:ext>
            </a:extLst>
          </p:cNvPr>
          <p:cNvSpPr txBox="1"/>
          <p:nvPr/>
        </p:nvSpPr>
        <p:spPr>
          <a:xfrm>
            <a:off x="589280" y="1663809"/>
            <a:ext cx="3793067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Обнаружение тупиков</a:t>
            </a:r>
          </a:p>
          <a:p>
            <a:r>
              <a:rPr lang="ru-RU" dirty="0"/>
              <a:t>Обнаружение тупиков заключается в </a:t>
            </a:r>
            <a:r>
              <a:rPr lang="ru-RU" b="1" dirty="0"/>
              <a:t>выявлении процессов, которые находятся в состоянии взаимной блокировки</a:t>
            </a:r>
            <a:r>
              <a:rPr lang="ru-RU" dirty="0"/>
              <a:t>.</a:t>
            </a:r>
          </a:p>
          <a:p>
            <a:r>
              <a:rPr lang="ru-RU" dirty="0"/>
              <a:t>Для этого используется </a:t>
            </a:r>
            <a:r>
              <a:rPr lang="ru-RU" b="1" dirty="0"/>
              <a:t>граф распределения ресурсов</a:t>
            </a:r>
            <a:r>
              <a:rPr lang="ru-RU" dirty="0"/>
              <a:t>, где:</a:t>
            </a:r>
          </a:p>
          <a:p>
            <a:r>
              <a:rPr lang="ru-RU" b="1" dirty="0"/>
              <a:t>прямоугольники</a:t>
            </a:r>
            <a:r>
              <a:rPr lang="ru-RU" dirty="0"/>
              <a:t> — процессы,</a:t>
            </a:r>
          </a:p>
          <a:p>
            <a:r>
              <a:rPr lang="ru-RU" b="1" dirty="0"/>
              <a:t>эллипсы</a:t>
            </a:r>
            <a:r>
              <a:rPr lang="ru-RU" dirty="0"/>
              <a:t> — ресурсы.</a:t>
            </a:r>
          </a:p>
          <a:p>
            <a:r>
              <a:rPr lang="ru-RU" dirty="0"/>
              <a:t>Если в графе появляется </a:t>
            </a:r>
            <a:r>
              <a:rPr lang="ru-RU" b="1" dirty="0"/>
              <a:t>цикл</a:t>
            </a:r>
            <a:r>
              <a:rPr lang="ru-RU" dirty="0"/>
              <a:t>, это означает, что процессы </a:t>
            </a:r>
            <a:r>
              <a:rPr lang="ru-RU" b="1" dirty="0"/>
              <a:t>ожидают ресурсы друг друга</a:t>
            </a:r>
            <a:r>
              <a:rPr lang="ru-RU" dirty="0"/>
              <a:t>, и в системе возник тупик.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746A031-5D3F-9AD4-1D7F-9D9B7103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19596"/>
            <a:ext cx="4038069" cy="19163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8B3E099-B861-9F3D-9C64-F7D3A8CEEF3B}"/>
              </a:ext>
            </a:extLst>
          </p:cNvPr>
          <p:cNvSpPr txBox="1"/>
          <p:nvPr/>
        </p:nvSpPr>
        <p:spPr>
          <a:xfrm>
            <a:off x="5710500" y="3735984"/>
            <a:ext cx="176106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b="1" dirty="0"/>
              <a:t>Рис. 7.3. </a:t>
            </a:r>
            <a:r>
              <a:rPr lang="ru-RU" sz="1000" dirty="0"/>
              <a:t>Граф ресурсов</a:t>
            </a:r>
          </a:p>
        </p:txBody>
      </p:sp>
    </p:spTree>
    <p:extLst>
      <p:ext uri="{BB962C8B-B14F-4D97-AF65-F5344CB8AC3E}">
        <p14:creationId xmlns:p14="http://schemas.microsoft.com/office/powerpoint/2010/main" val="551224093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6FF411-FB46-A97A-C088-A72347243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EB78F03A-9E17-9C50-F616-23F174C1DA21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 dirty="0"/>
              <a:t> Тупики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4D0E2D-2368-5306-2EE3-0B5D54948801}"/>
              </a:ext>
            </a:extLst>
          </p:cNvPr>
          <p:cNvSpPr txBox="1"/>
          <p:nvPr/>
        </p:nvSpPr>
        <p:spPr>
          <a:xfrm>
            <a:off x="562186" y="1717939"/>
            <a:ext cx="480229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Восстановление после тупиков</a:t>
            </a:r>
          </a:p>
          <a:p>
            <a:r>
              <a:rPr lang="ru-RU" dirty="0"/>
              <a:t>После обнаружения тупика система должна </a:t>
            </a:r>
            <a:r>
              <a:rPr lang="ru-RU" b="1" dirty="0"/>
              <a:t>устранить взаимоблокировку</a:t>
            </a:r>
            <a:r>
              <a:rPr lang="ru-RU" dirty="0"/>
              <a:t>.</a:t>
            </a:r>
          </a:p>
          <a:p>
            <a:r>
              <a:rPr lang="ru-RU" dirty="0"/>
              <a:t>Основные способы:</a:t>
            </a:r>
          </a:p>
          <a:p>
            <a:r>
              <a:rPr lang="ru-RU" b="1" dirty="0"/>
              <a:t>Завершение процессов</a:t>
            </a:r>
            <a:r>
              <a:rPr lang="ru-RU" dirty="0"/>
              <a:t>, участвующих в тупике.</a:t>
            </a:r>
          </a:p>
          <a:p>
            <a:r>
              <a:rPr lang="ru-RU" b="1" dirty="0"/>
              <a:t>Изъятие ресурсов</a:t>
            </a:r>
            <a:r>
              <a:rPr lang="ru-RU" dirty="0"/>
              <a:t> у некоторых процессов.</a:t>
            </a:r>
          </a:p>
          <a:p>
            <a:r>
              <a:rPr lang="ru-RU" b="1" dirty="0"/>
              <a:t>Откат процессов</a:t>
            </a:r>
            <a:r>
              <a:rPr lang="ru-RU" dirty="0"/>
              <a:t> к предыдущему состоянию (контрольной точке).</a:t>
            </a:r>
          </a:p>
          <a:p>
            <a:r>
              <a:rPr lang="ru-RU" dirty="0"/>
              <a:t>Часто завершают те процессы, которые </a:t>
            </a:r>
            <a:r>
              <a:rPr lang="ru-RU" b="1" dirty="0"/>
              <a:t>можно легко перезапустить</a:t>
            </a:r>
            <a:r>
              <a:rPr lang="ru-RU" dirty="0"/>
              <a:t> (например, компиляцию программы).</a:t>
            </a:r>
          </a:p>
        </p:txBody>
      </p:sp>
    </p:spTree>
    <p:extLst>
      <p:ext uri="{BB962C8B-B14F-4D97-AF65-F5344CB8AC3E}">
        <p14:creationId xmlns:p14="http://schemas.microsoft.com/office/powerpoint/2010/main" val="2175803340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5AEA7-9C6C-DBCE-6D64-3C387DB36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8CD086CD-B1A1-2A38-A51F-E2E4D9402BCF}"/>
              </a:ext>
            </a:extLst>
          </p:cNvPr>
          <p:cNvSpPr/>
          <p:nvPr/>
        </p:nvSpPr>
        <p:spPr>
          <a:xfrm>
            <a:off x="0" y="170019"/>
            <a:ext cx="9144000" cy="934034"/>
          </a:xfrm>
          <a:prstGeom prst="rect">
            <a:avLst/>
          </a:prstGeom>
          <a:solidFill>
            <a:srgbClr val="B6D7A8">
              <a:alpha val="61961"/>
            </a:srgbClr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  <a:reflection endPos="30000" dist="38100" dir="5400000" fadeDir="5400012" sy="-100000" algn="bl" rotWithShape="0"/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800" b="1"/>
              <a:t>Итоги лекции</a:t>
            </a:r>
            <a:endParaRPr lang="ru-RU" sz="1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27CCA0-C0D7-B917-F82F-C863354CABD4}"/>
              </a:ext>
            </a:extLst>
          </p:cNvPr>
          <p:cNvSpPr txBox="1"/>
          <p:nvPr/>
        </p:nvSpPr>
        <p:spPr>
          <a:xfrm>
            <a:off x="508000" y="1480397"/>
            <a:ext cx="584538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Тупики — это ситуации, когда </a:t>
            </a:r>
            <a:r>
              <a:rPr lang="ru-RU" b="1" dirty="0"/>
              <a:t>группа процессов бесконечно ожидает ресурсы, занятые друг другом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Они могут возникнуть в любой операционной системе, где процессы используют </a:t>
            </a:r>
            <a:r>
              <a:rPr lang="ru-RU" b="1" dirty="0"/>
              <a:t>ограниченные ресурсы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Для борьбы с тупиками применяются различные методы: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предотвращение,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обнаружение,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восстановление.</a:t>
            </a:r>
          </a:p>
          <a:p>
            <a:endParaRPr lang="ru-RU" dirty="0"/>
          </a:p>
          <a:p>
            <a:r>
              <a:rPr lang="ru-RU" dirty="0"/>
              <a:t>Однако такие механизмы </a:t>
            </a:r>
            <a:r>
              <a:rPr lang="ru-RU" b="1" dirty="0"/>
              <a:t>увеличивают сложность системы</a:t>
            </a:r>
            <a:r>
              <a:rPr lang="ru-RU" dirty="0"/>
              <a:t>, поэтому иногда операционные системы предпочитают </a:t>
            </a:r>
            <a:r>
              <a:rPr lang="ru-RU" b="1" dirty="0"/>
              <a:t>просто игнорировать редкие тупиковые ситуации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03558514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7588</TotalTime>
  <Words>756</Words>
  <Application>Microsoft Office PowerPoint</Application>
  <PresentationFormat>Экран (16:9)</PresentationFormat>
  <Paragraphs>104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Comfortaa Medium</vt:lpstr>
      <vt:lpstr>Simple Light</vt:lpstr>
      <vt:lpstr> Тупики 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Безопасность операционных систем, системное программирование</dc:title>
  <cp:lastModifiedBy>Pavel Shevelkov</cp:lastModifiedBy>
  <cp:revision>24</cp:revision>
  <dcterms:modified xsi:type="dcterms:W3CDTF">2026-03-16T17:09:26Z</dcterms:modified>
</cp:coreProperties>
</file>
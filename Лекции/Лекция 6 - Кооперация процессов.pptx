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8" r:id="rId2"/>
    <p:sldId id="271" r:id="rId3"/>
    <p:sldId id="25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3" r:id="rId14"/>
    <p:sldId id="284" r:id="rId15"/>
    <p:sldId id="281" r:id="rId16"/>
    <p:sldId id="282" r:id="rId17"/>
  </p:sldIdLst>
  <p:sldSz cx="9144000" cy="5143500" type="screen16x9"/>
  <p:notesSz cx="6858000" cy="9144000"/>
  <p:embeddedFontLst>
    <p:embeddedFont>
      <p:font typeface="Comfortaa Medium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83"/>
    <p:restoredTop sz="94660"/>
  </p:normalViewPr>
  <p:slideViewPr>
    <p:cSldViewPr snapToGrid="0">
      <p:cViewPr varScale="1">
        <p:scale>
          <a:sx n="141" d="100"/>
          <a:sy n="141" d="100"/>
        </p:scale>
        <p:origin x="96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62173" y="20445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</a:t>
            </a:r>
            <a:r>
              <a:rPr lang="ru-RU" sz="2300" dirty="0">
                <a:latin typeface="Comfortaa Medium"/>
                <a:ea typeface="Comfortaa Medium"/>
                <a:cs typeface="Comfortaa Medium"/>
                <a:sym typeface="Comfortaa Medium"/>
              </a:rPr>
              <a:t>6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34721" y="1122679"/>
            <a:ext cx="7193280" cy="110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b="1" dirty="0"/>
              <a:t>Кооперация процессов и логическая организация взаимодействия</a:t>
            </a: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607-1631-82D8-7457-05E5C0F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71F027-B27D-C065-FCF6-F234572F096E}"/>
              </a:ext>
            </a:extLst>
          </p:cNvPr>
          <p:cNvSpPr/>
          <p:nvPr/>
        </p:nvSpPr>
        <p:spPr>
          <a:xfrm>
            <a:off x="0" y="347705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Кооперация процессов и основные аспекты ее логической организации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65677A4-6169-0E64-0FB8-6DD395CB6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9266B5-0788-9AE5-FB08-824210D7D53A}"/>
              </a:ext>
            </a:extLst>
          </p:cNvPr>
          <p:cNvSpPr txBox="1"/>
          <p:nvPr/>
        </p:nvSpPr>
        <p:spPr>
          <a:xfrm>
            <a:off x="1117602" y="1479788"/>
            <a:ext cx="1862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Содержание</a:t>
            </a:r>
            <a:r>
              <a:rPr lang="ru-RU" sz="1800" dirty="0"/>
              <a:t>: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7F51AA1-93F4-B8ED-7BDE-6D7AE5B93C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86" t="19890" r="23570" b="14255"/>
          <a:stretch>
            <a:fillRect/>
          </a:stretch>
        </p:blipFill>
        <p:spPr>
          <a:xfrm>
            <a:off x="694267" y="1849120"/>
            <a:ext cx="3725333" cy="2573867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B45124-FCC0-6C58-34A9-CB732EDD5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225" y="3252441"/>
            <a:ext cx="82792" cy="10988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E36BAFC-1AC8-C371-98C5-8C9B12C4A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380" y="3267118"/>
            <a:ext cx="70637" cy="9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18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Что такое взаимодействие процессов</a:t>
            </a: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8C332681-2AFC-BC16-2092-5A6536ACA08C}"/>
              </a:ext>
            </a:extLst>
          </p:cNvPr>
          <p:cNvSpPr txBox="1"/>
          <p:nvPr/>
        </p:nvSpPr>
        <p:spPr>
          <a:xfrm>
            <a:off x="393474" y="1367268"/>
            <a:ext cx="5266546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b="1" dirty="0"/>
              <a:t>Взаимодействующие процессы</a:t>
            </a:r>
            <a:r>
              <a:rPr lang="ru-RU" dirty="0"/>
              <a:t> — это процессы, которые</a:t>
            </a:r>
            <a:br>
              <a:rPr lang="ru-RU" dirty="0"/>
            </a:br>
            <a:r>
              <a:rPr lang="ru-RU" dirty="0"/>
              <a:t>влияют на поведение друг друга через обмен информацией.</a:t>
            </a:r>
          </a:p>
          <a:p>
            <a:endParaRPr lang="ru-RU" dirty="0"/>
          </a:p>
          <a:p>
            <a:r>
              <a:rPr lang="ru-RU" dirty="0"/>
              <a:t>Они могут выполняться: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псевдопараллельно на одном компьютере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параллельно на разных компьютерах</a:t>
            </a:r>
          </a:p>
          <a:p>
            <a:r>
              <a:rPr lang="ru-RU" dirty="0"/>
              <a:t>Операционная система должна: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изолировать процессы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обеспечивать безопасное взаимодействие</a:t>
            </a: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17872-E200-CF1C-0342-82789D57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27B1480C-50D8-89FF-9EA3-FFAE47B3E455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Независимые и кооперативные процессы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703E22E-B8A1-CE68-211C-BAC80446BD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88322-9FE8-69A5-1A0F-4781236AC7DC}"/>
              </a:ext>
            </a:extLst>
          </p:cNvPr>
          <p:cNvSpPr txBox="1"/>
          <p:nvPr/>
        </p:nvSpPr>
        <p:spPr>
          <a:xfrm>
            <a:off x="300941" y="1238491"/>
            <a:ext cx="38890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/>
              <a:t>Независимые процессы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/>
              <a:t>не влияют друг на друга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/>
              <a:t>не обмениваются информацией</a:t>
            </a:r>
          </a:p>
          <a:p>
            <a:r>
              <a:rPr lang="ru-RU" sz="1800" b="1" dirty="0"/>
              <a:t>Кооперативные процессы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/>
              <a:t>обмениваются данными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800" dirty="0"/>
              <a:t>изменяют поведение в зависимости от полученной информации</a:t>
            </a:r>
          </a:p>
        </p:txBody>
      </p:sp>
    </p:spTree>
    <p:extLst>
      <p:ext uri="{BB962C8B-B14F-4D97-AF65-F5344CB8AC3E}">
        <p14:creationId xmlns:p14="http://schemas.microsoft.com/office/powerpoint/2010/main" val="8662290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B5B5-0332-98D8-2884-BC2602B1D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B43A971C-B2B2-F2D0-E74F-D2C8209AEB49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Причины кооперации процессов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AC8297A-D493-8B22-415D-1670D64A6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C086C-BD01-9F69-0CE3-C3616DE2D7CA}"/>
              </a:ext>
            </a:extLst>
          </p:cNvPr>
          <p:cNvSpPr txBox="1"/>
          <p:nvPr/>
        </p:nvSpPr>
        <p:spPr>
          <a:xfrm>
            <a:off x="464819" y="1248311"/>
            <a:ext cx="538039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Процессы взаимодействуют по нескольким причинам:</a:t>
            </a:r>
          </a:p>
          <a:p>
            <a:r>
              <a:rPr lang="ru-RU" sz="1600" b="1" dirty="0"/>
              <a:t>1. Повышение скорости работы</a:t>
            </a:r>
            <a:endParaRPr lang="ru-RU" sz="1600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ru-RU" sz="1600" dirty="0"/>
              <a:t>параллельное выполнение задач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ru-RU" sz="1600" dirty="0"/>
              <a:t>использование нескольких процессоров</a:t>
            </a:r>
          </a:p>
          <a:p>
            <a:r>
              <a:rPr lang="ru-RU" sz="1600" b="1" dirty="0"/>
              <a:t>2. Совместное использование данных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общая база данных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общий файл</a:t>
            </a:r>
          </a:p>
          <a:p>
            <a:r>
              <a:rPr lang="ru-RU" sz="1600" b="1" dirty="0"/>
              <a:t>3. Модульная архитектура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система состоит из отдельных модулей</a:t>
            </a:r>
          </a:p>
          <a:p>
            <a:r>
              <a:rPr lang="ru-RU" sz="1600" b="1" dirty="0"/>
              <a:t>4. Удобство пользователя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одновременная работа редактора и отладчика</a:t>
            </a:r>
          </a:p>
        </p:txBody>
      </p:sp>
    </p:spTree>
    <p:extLst>
      <p:ext uri="{BB962C8B-B14F-4D97-AF65-F5344CB8AC3E}">
        <p14:creationId xmlns:p14="http://schemas.microsoft.com/office/powerpoint/2010/main" val="13919610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5D43-8FAE-0D9C-9A29-C60E32DC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99E6813A-62A4-6958-B7A5-60A1D094447B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Категории средств обмена информацией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40612761-8354-8727-8CAD-9B8462AECD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8344D-3290-0BA1-1723-3F619EC25CEA}"/>
              </a:ext>
            </a:extLst>
          </p:cNvPr>
          <p:cNvSpPr txBox="1"/>
          <p:nvPr/>
        </p:nvSpPr>
        <p:spPr>
          <a:xfrm>
            <a:off x="434049" y="1249799"/>
            <a:ext cx="649918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Существует </a:t>
            </a:r>
            <a:r>
              <a:rPr lang="ru-RU" b="1" dirty="0"/>
              <a:t>3 основных типа средств связи</a:t>
            </a:r>
            <a:r>
              <a:rPr lang="ru-RU" dirty="0"/>
              <a:t> между процессами.</a:t>
            </a:r>
          </a:p>
          <a:p>
            <a:r>
              <a:rPr lang="ru-RU" b="1" dirty="0"/>
              <a:t>1. Сигнальные средства</a:t>
            </a:r>
            <a:endParaRPr lang="ru-RU" dirty="0"/>
          </a:p>
          <a:p>
            <a:pPr lvl="0"/>
            <a:r>
              <a:rPr lang="ru-RU" dirty="0"/>
              <a:t>передают минимальную информацию</a:t>
            </a:r>
          </a:p>
          <a:p>
            <a:pPr lvl="0"/>
            <a:r>
              <a:rPr lang="ru-RU" dirty="0"/>
              <a:t>один бит: </a:t>
            </a:r>
            <a:r>
              <a:rPr lang="ru-RU" b="1" dirty="0"/>
              <a:t>да / нет</a:t>
            </a:r>
            <a:endParaRPr lang="ru-RU" dirty="0"/>
          </a:p>
          <a:p>
            <a:r>
              <a:rPr lang="ru-RU" dirty="0"/>
              <a:t>Используются для уведомлений о событиях.</a:t>
            </a:r>
          </a:p>
          <a:p>
            <a:r>
              <a:rPr lang="ru-RU" b="1" dirty="0"/>
              <a:t>2. Канальные средства</a:t>
            </a:r>
            <a:endParaRPr lang="ru-RU" dirty="0"/>
          </a:p>
          <a:p>
            <a:r>
              <a:rPr lang="ru-RU" dirty="0"/>
              <a:t>Передача информации через </a:t>
            </a:r>
            <a:r>
              <a:rPr lang="ru-RU" b="1" dirty="0"/>
              <a:t>каналы связи</a:t>
            </a:r>
            <a:endParaRPr lang="ru-RU" dirty="0"/>
          </a:p>
          <a:p>
            <a:r>
              <a:rPr lang="ru-RU" dirty="0"/>
              <a:t>Примеры: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err="1"/>
              <a:t>pipe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FIFO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err="1"/>
              <a:t>sockets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очереди сообщений</a:t>
            </a:r>
          </a:p>
          <a:p>
            <a:r>
              <a:rPr lang="ru-RU" dirty="0"/>
              <a:t>Объем передаваемых данных ограничен пропускной способностью канала.</a:t>
            </a:r>
          </a:p>
        </p:txBody>
      </p:sp>
    </p:spTree>
    <p:extLst>
      <p:ext uri="{BB962C8B-B14F-4D97-AF65-F5344CB8AC3E}">
        <p14:creationId xmlns:p14="http://schemas.microsoft.com/office/powerpoint/2010/main" val="161527488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5CD5E-2433-7D95-0120-4B995BBF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4349F81-A32F-E674-9A9A-CE471BC5D1CF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Категории средств обмена информацией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A06BDDC-94A8-05C7-1206-003ECCAD55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558AF-AA45-E477-A74E-56C96923754F}"/>
              </a:ext>
            </a:extLst>
          </p:cNvPr>
          <p:cNvSpPr txBox="1"/>
          <p:nvPr/>
        </p:nvSpPr>
        <p:spPr>
          <a:xfrm>
            <a:off x="457199" y="1363980"/>
            <a:ext cx="824484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3. Разделяемая память</a:t>
            </a:r>
          </a:p>
          <a:p>
            <a:r>
              <a:rPr lang="ru-RU" dirty="0"/>
              <a:t>Процессы используют общую область памяти.</a:t>
            </a:r>
          </a:p>
          <a:p>
            <a:r>
              <a:rPr lang="ru-RU" dirty="0"/>
              <a:t>Преимущества: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высокая скорость обмена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большой объем данных</a:t>
            </a:r>
          </a:p>
          <a:p>
            <a:r>
              <a:rPr lang="ru-RU" dirty="0"/>
              <a:t>Недостаток: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требуется синхронизация процессов</a:t>
            </a:r>
          </a:p>
          <a:p>
            <a:r>
              <a:rPr lang="ru-RU" dirty="0"/>
              <a:t>Это самый быстрый способ взаимодействия на одном компьютере.</a:t>
            </a:r>
          </a:p>
        </p:txBody>
      </p:sp>
    </p:spTree>
    <p:extLst>
      <p:ext uri="{BB962C8B-B14F-4D97-AF65-F5344CB8AC3E}">
        <p14:creationId xmlns:p14="http://schemas.microsoft.com/office/powerpoint/2010/main" val="418975468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E4166-3F0B-9164-F8E5-A793F0333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CECFB17-1584-07D7-741C-1EC5DE5B4B48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Адресация при обмене данными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2967CDF-C979-0497-6BD2-8E921D12B9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0FA4B-16C6-9867-7D9C-C6D18DDF1322}"/>
              </a:ext>
            </a:extLst>
          </p:cNvPr>
          <p:cNvSpPr txBox="1"/>
          <p:nvPr/>
        </p:nvSpPr>
        <p:spPr>
          <a:xfrm>
            <a:off x="445624" y="1218607"/>
            <a:ext cx="558478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передаче данных необходимо указать адрес получателя.</a:t>
            </a:r>
          </a:p>
          <a:p>
            <a:r>
              <a:rPr lang="ru-RU" dirty="0"/>
              <a:t>Существует два вида адресации:</a:t>
            </a:r>
          </a:p>
          <a:p>
            <a:r>
              <a:rPr lang="ru-RU" b="1" dirty="0"/>
              <a:t>Прямая адресация</a:t>
            </a:r>
          </a:p>
          <a:p>
            <a:r>
              <a:rPr lang="ru-RU" dirty="0"/>
              <a:t>процессы обращаются непосредственно друг к другу</a:t>
            </a:r>
          </a:p>
          <a:p>
            <a:r>
              <a:rPr lang="ru-RU" dirty="0"/>
              <a:t>Варианты: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симметричная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Асимметричная</a:t>
            </a:r>
          </a:p>
          <a:p>
            <a:r>
              <a:rPr lang="ru-RU" b="1" dirty="0"/>
              <a:t>Непрямая адресация</a:t>
            </a:r>
            <a:endParaRPr lang="ru-RU" dirty="0"/>
          </a:p>
          <a:p>
            <a:r>
              <a:rPr lang="ru-RU" dirty="0"/>
              <a:t>данные передаются через </a:t>
            </a:r>
            <a:r>
              <a:rPr lang="ru-RU" b="1" dirty="0"/>
              <a:t>промежуточный объект</a:t>
            </a:r>
            <a:endParaRPr lang="ru-RU" dirty="0"/>
          </a:p>
          <a:p>
            <a:r>
              <a:rPr lang="ru-RU" dirty="0"/>
              <a:t>Например: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очередь сообщений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буфер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доска объявлений</a:t>
            </a:r>
          </a:p>
          <a:p>
            <a:r>
              <a:rPr lang="ru-RU" dirty="0"/>
              <a:t>Преимущества: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гибкость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несколько процессов могут использовать один канал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437048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8F56D-5567-3711-2F2D-A452788D8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9FEA765-75E8-A445-FE2E-8000C04E95CF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Буферизация каналов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2EE6296C-FF91-C8A9-4453-60AD46C132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DADC5-6486-E5EE-1850-11038F624A75}"/>
              </a:ext>
            </a:extLst>
          </p:cNvPr>
          <p:cNvSpPr txBox="1"/>
          <p:nvPr/>
        </p:nvSpPr>
        <p:spPr>
          <a:xfrm>
            <a:off x="457199" y="1363980"/>
            <a:ext cx="42672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Канал связи может иметь буфер.</a:t>
            </a:r>
          </a:p>
          <a:p>
            <a:r>
              <a:rPr lang="ru-RU" sz="1600" dirty="0"/>
              <a:t>Типы буферов:</a:t>
            </a:r>
          </a:p>
          <a:p>
            <a:r>
              <a:rPr lang="ru-RU" sz="1600" dirty="0"/>
              <a:t>1. Нулевой буфер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отправитель ждёт получателя</a:t>
            </a:r>
          </a:p>
          <a:p>
            <a:r>
              <a:rPr lang="ru-RU" sz="1600" dirty="0"/>
              <a:t>2. Ограниченный буфер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хранит n сообщений</a:t>
            </a:r>
          </a:p>
          <a:p>
            <a:r>
              <a:rPr lang="ru-RU" sz="1600" dirty="0"/>
              <a:t>3. Неограниченный буфер (теоретически)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dirty="0"/>
              <a:t>отправитель никогда не ждёт</a:t>
            </a:r>
          </a:p>
        </p:txBody>
      </p:sp>
    </p:spTree>
    <p:extLst>
      <p:ext uri="{BB962C8B-B14F-4D97-AF65-F5344CB8AC3E}">
        <p14:creationId xmlns:p14="http://schemas.microsoft.com/office/powerpoint/2010/main" val="235119303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00E4-650E-A925-F2A8-3E6F7A8E5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8155938-BA10-FF29-518D-E1A390FFAEC5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Модели передачи данных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8357F5B2-6B6E-22BE-A871-3485FEBCE8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B7AE1B-97B1-B5FE-0BFC-035BB749ABB3}"/>
              </a:ext>
            </a:extLst>
          </p:cNvPr>
          <p:cNvSpPr txBox="1"/>
          <p:nvPr/>
        </p:nvSpPr>
        <p:spPr>
          <a:xfrm>
            <a:off x="445625" y="1248232"/>
            <a:ext cx="472825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Существует две модели передачи данных.</a:t>
            </a:r>
          </a:p>
          <a:p>
            <a:r>
              <a:rPr lang="ru-RU" b="1" dirty="0"/>
              <a:t>1. Поток данных (</a:t>
            </a:r>
            <a:r>
              <a:rPr lang="ru-RU" b="1" dirty="0" err="1"/>
              <a:t>stream</a:t>
            </a:r>
            <a:r>
              <a:rPr lang="ru-RU" b="1" dirty="0"/>
              <a:t>)</a:t>
            </a:r>
            <a:endParaRPr lang="ru-RU" dirty="0"/>
          </a:p>
          <a:p>
            <a:r>
              <a:rPr lang="ru-RU" dirty="0"/>
              <a:t>данные передаются как </a:t>
            </a:r>
            <a:r>
              <a:rPr lang="ru-RU" b="1" dirty="0"/>
              <a:t>последовательность байтов</a:t>
            </a:r>
            <a:endParaRPr lang="ru-RU" dirty="0"/>
          </a:p>
          <a:p>
            <a:r>
              <a:rPr lang="ru-RU" dirty="0"/>
              <a:t>Примеры: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err="1"/>
              <a:t>pipe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FIFO</a:t>
            </a:r>
          </a:p>
          <a:p>
            <a:r>
              <a:rPr lang="ru-RU" dirty="0"/>
              <a:t>Получатель не знает структуру данных.</a:t>
            </a:r>
          </a:p>
          <a:p>
            <a:r>
              <a:rPr lang="ru-RU" b="1" dirty="0"/>
              <a:t>2. Модель сообщений</a:t>
            </a:r>
            <a:endParaRPr lang="ru-RU" dirty="0"/>
          </a:p>
          <a:p>
            <a:r>
              <a:rPr lang="ru-RU" dirty="0"/>
              <a:t>данные разбиваются на </a:t>
            </a:r>
            <a:r>
              <a:rPr lang="ru-RU" b="1" dirty="0"/>
              <a:t>сообщения</a:t>
            </a:r>
            <a:endParaRPr lang="ru-RU" dirty="0"/>
          </a:p>
          <a:p>
            <a:r>
              <a:rPr lang="ru-RU" dirty="0"/>
              <a:t>Сообщение может содержать: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данные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отправителя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получателя</a:t>
            </a:r>
          </a:p>
          <a:p>
            <a:r>
              <a:rPr lang="ru-RU" dirty="0"/>
              <a:t>Примеры: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очереди сообщений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 err="1"/>
              <a:t>sockets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01621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548E4-1639-37BA-4435-71A83FBD4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FEF0B33-6C43-D071-5F93-1A6F9A52F72B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Надежность связи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A251490-63F8-9D4E-5B78-D5AEFA5DC9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B52EED-4200-C185-65D8-17648A042FE6}"/>
              </a:ext>
            </a:extLst>
          </p:cNvPr>
          <p:cNvSpPr txBox="1"/>
          <p:nvPr/>
        </p:nvSpPr>
        <p:spPr>
          <a:xfrm>
            <a:off x="347241" y="1385322"/>
            <a:ext cx="39816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Связь считается надежной, если: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нет потери информации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нет повреждения данных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не появляется лишняя информация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dirty="0"/>
              <a:t>сохраняется порядок сообщений</a:t>
            </a:r>
          </a:p>
          <a:p>
            <a:pPr lvl="0"/>
            <a:endParaRPr lang="ru-RU" dirty="0"/>
          </a:p>
          <a:p>
            <a:r>
              <a:rPr lang="ru-RU" dirty="0"/>
              <a:t>Методы повышения надежности: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контрольные суммы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подтверждение получения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повторная отправка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нумерация сообщений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50468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2BEDE-11A8-5019-2BCB-BE4F2C868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68C1898-ABFB-A876-F915-43AC07F0D230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Нити исполнения (</a:t>
            </a:r>
            <a:r>
              <a:rPr lang="en-US" sz="1800" b="1" dirty="0"/>
              <a:t>Threads)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F0032C52-FDDF-FBC9-AD34-28244ABB2F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27730F-EFAA-F6F8-70A0-418AB3C13F2A}"/>
              </a:ext>
            </a:extLst>
          </p:cNvPr>
          <p:cNvSpPr txBox="1"/>
          <p:nvPr/>
        </p:nvSpPr>
        <p:spPr>
          <a:xfrm>
            <a:off x="297180" y="1264920"/>
            <a:ext cx="44272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Нить исполнения (</a:t>
            </a:r>
            <a:r>
              <a:rPr lang="ru-RU" b="1" dirty="0" err="1"/>
              <a:t>thread</a:t>
            </a:r>
            <a:r>
              <a:rPr lang="ru-RU" b="1" dirty="0"/>
              <a:t>)</a:t>
            </a:r>
            <a:r>
              <a:rPr lang="ru-RU" dirty="0"/>
              <a:t> — это часть процесса.</a:t>
            </a:r>
          </a:p>
          <a:p>
            <a:r>
              <a:rPr lang="ru-RU" dirty="0"/>
              <a:t>Нити одного процесса: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используют общий код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используют общую память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используют общие ресурсы</a:t>
            </a:r>
          </a:p>
          <a:p>
            <a:r>
              <a:rPr lang="ru-RU" dirty="0"/>
              <a:t>Но каждая нить имеет: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свой стек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свой счетчик команд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свои регистры</a:t>
            </a:r>
          </a:p>
        </p:txBody>
      </p:sp>
    </p:spTree>
    <p:extLst>
      <p:ext uri="{BB962C8B-B14F-4D97-AF65-F5344CB8AC3E}">
        <p14:creationId xmlns:p14="http://schemas.microsoft.com/office/powerpoint/2010/main" val="389908036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0DB4E-1B46-FE9E-3681-2BDA8C35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81A6E89-E771-38F3-02DF-18CF5E9A4C2D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Нити исполнения (</a:t>
            </a:r>
            <a:r>
              <a:rPr lang="en-US" sz="1800" b="1" dirty="0"/>
              <a:t>Threads)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4C9FAC6-E351-B330-3875-EDEBB4A2CB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2C99BC-3A8D-5951-1B5A-9E8B2D340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67" y="1360365"/>
            <a:ext cx="1804543" cy="28165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8AD60B-B171-D36D-BE0D-D0838BCBA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15875"/>
            <a:ext cx="4248743" cy="29055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712659-C394-D2ED-CC58-8D1AB626729E}"/>
              </a:ext>
            </a:extLst>
          </p:cNvPr>
          <p:cNvSpPr txBox="1"/>
          <p:nvPr/>
        </p:nvSpPr>
        <p:spPr>
          <a:xfrm>
            <a:off x="568267" y="4459669"/>
            <a:ext cx="1111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1.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032B8-9A5B-E54A-90CA-2ABD69964D85}"/>
              </a:ext>
            </a:extLst>
          </p:cNvPr>
          <p:cNvSpPr txBox="1"/>
          <p:nvPr/>
        </p:nvSpPr>
        <p:spPr>
          <a:xfrm>
            <a:off x="4572000" y="4459670"/>
            <a:ext cx="1111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2.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7B583E60-1856-682F-9224-A2725C75053E}"/>
              </a:ext>
            </a:extLst>
          </p:cNvPr>
          <p:cNvCxnSpPr/>
          <p:nvPr/>
        </p:nvCxnSpPr>
        <p:spPr>
          <a:xfrm>
            <a:off x="7511627" y="1360365"/>
            <a:ext cx="0" cy="28165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86795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DFCAA-41E0-1441-3DEC-40858529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DFB1717E-2833-B3E2-4141-D9C853CFCB66}"/>
              </a:ext>
            </a:extLst>
          </p:cNvPr>
          <p:cNvSpPr/>
          <p:nvPr/>
        </p:nvSpPr>
        <p:spPr>
          <a:xfrm>
            <a:off x="555585" y="132361"/>
            <a:ext cx="4572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Нити исполнения (</a:t>
            </a:r>
            <a:r>
              <a:rPr lang="en-US" sz="1800" b="1" dirty="0"/>
              <a:t>Threads)</a:t>
            </a:r>
            <a:endParaRPr lang="ru-RU" sz="1800" b="1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B16F40C-6422-F506-B991-B1AE64896F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DD0E8-01BE-40CD-E2A0-130593A98E07}"/>
              </a:ext>
            </a:extLst>
          </p:cNvPr>
          <p:cNvSpPr txBox="1"/>
          <p:nvPr/>
        </p:nvSpPr>
        <p:spPr>
          <a:xfrm>
            <a:off x="555585" y="4640121"/>
            <a:ext cx="1111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3.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8D617-74A4-46DA-28DA-0DBB9BEDA70C}"/>
              </a:ext>
            </a:extLst>
          </p:cNvPr>
          <p:cNvSpPr txBox="1"/>
          <p:nvPr/>
        </p:nvSpPr>
        <p:spPr>
          <a:xfrm>
            <a:off x="5404715" y="4640122"/>
            <a:ext cx="1111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Пример 4.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55A25A-91B1-95B5-4026-466F6F2FE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585" y="1300238"/>
            <a:ext cx="4289840" cy="3214190"/>
          </a:xfrm>
          <a:prstGeom prst="rect">
            <a:avLst/>
          </a:prstGeom>
        </p:spPr>
      </p:pic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3309C346-2A85-5C70-3508-C346DC39B829}"/>
              </a:ext>
            </a:extLst>
          </p:cNvPr>
          <p:cNvCxnSpPr/>
          <p:nvPr/>
        </p:nvCxnSpPr>
        <p:spPr>
          <a:xfrm>
            <a:off x="2939627" y="1327573"/>
            <a:ext cx="0" cy="31868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40FA2FE-FFB8-1021-3A56-F40F23BB0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714" y="132361"/>
            <a:ext cx="2919711" cy="4534720"/>
          </a:xfrm>
          <a:prstGeom prst="rect">
            <a:avLst/>
          </a:prstGeom>
        </p:spPr>
      </p:pic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F32CF42-23B7-4AD9-1437-20A85B4277B3}"/>
              </a:ext>
            </a:extLst>
          </p:cNvPr>
          <p:cNvCxnSpPr>
            <a:cxnSpLocks/>
          </p:cNvCxnSpPr>
          <p:nvPr/>
        </p:nvCxnSpPr>
        <p:spPr>
          <a:xfrm flipH="1">
            <a:off x="7129137" y="132361"/>
            <a:ext cx="3183" cy="504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E35DF65E-08BA-F2D6-1317-CB100682B3C8}"/>
              </a:ext>
            </a:extLst>
          </p:cNvPr>
          <p:cNvCxnSpPr/>
          <p:nvPr/>
        </p:nvCxnSpPr>
        <p:spPr>
          <a:xfrm>
            <a:off x="7132320" y="778933"/>
            <a:ext cx="0" cy="5486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B3D96240-0908-31E7-9D3A-F772BEAB0A13}"/>
              </a:ext>
            </a:extLst>
          </p:cNvPr>
          <p:cNvCxnSpPr/>
          <p:nvPr/>
        </p:nvCxnSpPr>
        <p:spPr>
          <a:xfrm>
            <a:off x="7132320" y="1535430"/>
            <a:ext cx="0" cy="1767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6CF1A818-D515-B577-0591-65B58D89767C}"/>
              </a:ext>
            </a:extLst>
          </p:cNvPr>
          <p:cNvCxnSpPr/>
          <p:nvPr/>
        </p:nvCxnSpPr>
        <p:spPr>
          <a:xfrm>
            <a:off x="7139093" y="3454400"/>
            <a:ext cx="0" cy="3251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BD7419A-8007-2D29-30C3-687A602F5C9E}"/>
              </a:ext>
            </a:extLst>
          </p:cNvPr>
          <p:cNvCxnSpPr/>
          <p:nvPr/>
        </p:nvCxnSpPr>
        <p:spPr>
          <a:xfrm>
            <a:off x="7139093" y="3935307"/>
            <a:ext cx="0" cy="7048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899162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167A-C9FD-BDA3-AE7D-AAFFE9108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ADD3C15-ADA1-C067-B02C-C4FF1B57474E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Преимущества нитей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0EB89E0-497F-B411-8DAE-8DC2EEDD52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52377-5A77-2470-86C8-F1E4A2EE4FD0}"/>
              </a:ext>
            </a:extLst>
          </p:cNvPr>
          <p:cNvSpPr txBox="1"/>
          <p:nvPr/>
        </p:nvSpPr>
        <p:spPr>
          <a:xfrm>
            <a:off x="281940" y="1178462"/>
            <a:ext cx="41376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Нити позволяют: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выполнять задачи параллельно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ускорять выполнение программ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уменьшать время ожидания</a:t>
            </a:r>
          </a:p>
          <a:p>
            <a:r>
              <a:rPr lang="ru-RU" dirty="0"/>
              <a:t>Преимущества: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быстрое создание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быстрое переключение контекста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эффективное использование процессора</a:t>
            </a:r>
          </a:p>
        </p:txBody>
      </p:sp>
    </p:spTree>
    <p:extLst>
      <p:ext uri="{BB962C8B-B14F-4D97-AF65-F5344CB8AC3E}">
        <p14:creationId xmlns:p14="http://schemas.microsoft.com/office/powerpoint/2010/main" val="254298323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4219-7F5B-273F-349A-E77C6ED6A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1D410C9-4F2A-73A2-D76E-D7EC2A451992}"/>
              </a:ext>
            </a:extLst>
          </p:cNvPr>
          <p:cNvSpPr/>
          <p:nvPr/>
        </p:nvSpPr>
        <p:spPr>
          <a:xfrm>
            <a:off x="0" y="170019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Заключение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70F1A1EF-31B8-DD61-47B2-A9E1D48804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E4AFE-791B-ED5E-92FB-A7FAFD35E13B}"/>
              </a:ext>
            </a:extLst>
          </p:cNvPr>
          <p:cNvSpPr txBox="1"/>
          <p:nvPr/>
        </p:nvSpPr>
        <p:spPr>
          <a:xfrm>
            <a:off x="464819" y="1323241"/>
            <a:ext cx="50447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Кооперация процессов необходима для: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ускорения вычислений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совместного использования данных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удобства работы</a:t>
            </a:r>
          </a:p>
          <a:p>
            <a:r>
              <a:rPr lang="ru-RU" dirty="0"/>
              <a:t>Основные способы взаимодействия: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сигналы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каналы связи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разделяемая память</a:t>
            </a:r>
          </a:p>
          <a:p>
            <a:r>
              <a:rPr lang="ru-RU" dirty="0"/>
              <a:t>Для повышения эффективности используются </a:t>
            </a:r>
            <a:r>
              <a:rPr lang="ru-RU" b="1" dirty="0"/>
              <a:t>нити исполнения</a:t>
            </a:r>
            <a:r>
              <a:rPr lang="ru-RU" dirty="0"/>
              <a:t>, позволяющие параллельно выполнять части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val="322147656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7515</TotalTime>
  <Words>518</Words>
  <Application>Microsoft Office PowerPoint</Application>
  <PresentationFormat>Экран (16:9)</PresentationFormat>
  <Paragraphs>145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Arial</vt:lpstr>
      <vt:lpstr>Comfortaa Medium</vt:lpstr>
      <vt:lpstr>Simple Light</vt:lpstr>
      <vt:lpstr>Кооперация процессов и логическая организация взаимодействия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12</cp:revision>
  <dcterms:modified xsi:type="dcterms:W3CDTF">2026-03-09T18:35:12Z</dcterms:modified>
</cp:coreProperties>
</file>
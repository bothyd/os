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8" r:id="rId2"/>
    <p:sldId id="271" r:id="rId3"/>
    <p:sldId id="259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295" r:id="rId12"/>
  </p:sldIdLst>
  <p:sldSz cx="9144000" cy="5143500" type="screen16x9"/>
  <p:notesSz cx="6858000" cy="9144000"/>
  <p:embeddedFontLst>
    <p:embeddedFont>
      <p:font typeface="Comfortaa Medium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C47D"/>
    <a:srgbClr val="B6D7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83"/>
    <p:restoredTop sz="94660"/>
  </p:normalViewPr>
  <p:slideViewPr>
    <p:cSldViewPr snapToGrid="0">
      <p:cViewPr varScale="1">
        <p:scale>
          <a:sx n="141" d="100"/>
          <a:sy n="141" d="100"/>
        </p:scale>
        <p:origin x="96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34f50e132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34f50e132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slow">
    <p:push dir="u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subTitle" idx="4294967295"/>
          </p:nvPr>
        </p:nvSpPr>
        <p:spPr>
          <a:xfrm>
            <a:off x="4062173" y="2044550"/>
            <a:ext cx="1085560" cy="7731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300" dirty="0">
                <a:latin typeface="Comfortaa Medium"/>
                <a:ea typeface="Comfortaa Medium"/>
                <a:cs typeface="Comfortaa Medium"/>
                <a:sym typeface="Comfortaa Medium"/>
              </a:rPr>
              <a:t>Тема </a:t>
            </a:r>
            <a:r>
              <a:rPr lang="en-US" sz="2300" dirty="0">
                <a:latin typeface="Comfortaa Medium"/>
                <a:ea typeface="Comfortaa Medium"/>
                <a:cs typeface="Comfortaa Medium"/>
                <a:sym typeface="Comfortaa Medium"/>
              </a:rPr>
              <a:t>11</a:t>
            </a:r>
            <a:endParaRPr sz="2300" dirty="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12" name="Google Shape;112;p15"/>
          <p:cNvSpPr txBox="1">
            <a:spLocks noGrp="1"/>
          </p:cNvSpPr>
          <p:nvPr>
            <p:ph type="title"/>
          </p:nvPr>
        </p:nvSpPr>
        <p:spPr>
          <a:xfrm>
            <a:off x="973746" y="1413932"/>
            <a:ext cx="7193280" cy="1107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ru-RU" b="1" dirty="0"/>
              <a:t>Виртуальная память</a:t>
            </a:r>
          </a:p>
        </p:txBody>
      </p:sp>
      <p:sp>
        <p:nvSpPr>
          <p:cNvPr id="9" name="Google Shape;55;p13">
            <a:extLst>
              <a:ext uri="{FF2B5EF4-FFF2-40B4-BE49-F238E27FC236}">
                <a16:creationId xmlns:a16="http://schemas.microsoft.com/office/drawing/2014/main" id="{B9E0222C-93BA-6446-AB4F-A93CE3CB7494}"/>
              </a:ext>
            </a:extLst>
          </p:cNvPr>
          <p:cNvSpPr/>
          <p:nvPr/>
        </p:nvSpPr>
        <p:spPr>
          <a:xfrm>
            <a:off x="460375" y="2044575"/>
            <a:ext cx="1033200" cy="3098925"/>
          </a:xfrm>
          <a:prstGeom prst="rect">
            <a:avLst/>
          </a:prstGeom>
          <a:solidFill>
            <a:srgbClr val="93C47D">
              <a:alpha val="58039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54;p13">
            <a:extLst>
              <a:ext uri="{FF2B5EF4-FFF2-40B4-BE49-F238E27FC236}">
                <a16:creationId xmlns:a16="http://schemas.microsoft.com/office/drawing/2014/main" id="{1009C77D-1156-8947-9FEF-DCE7A9010FE0}"/>
              </a:ext>
            </a:extLst>
          </p:cNvPr>
          <p:cNvSpPr/>
          <p:nvPr/>
        </p:nvSpPr>
        <p:spPr>
          <a:xfrm>
            <a:off x="0" y="1676400"/>
            <a:ext cx="920750" cy="3467075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55;p13">
            <a:extLst>
              <a:ext uri="{FF2B5EF4-FFF2-40B4-BE49-F238E27FC236}">
                <a16:creationId xmlns:a16="http://schemas.microsoft.com/office/drawing/2014/main" id="{73CC8A6D-3B3C-7B47-9A21-9A4280CB9124}"/>
              </a:ext>
            </a:extLst>
          </p:cNvPr>
          <p:cNvSpPr/>
          <p:nvPr/>
        </p:nvSpPr>
        <p:spPr>
          <a:xfrm flipH="1" flipV="1">
            <a:off x="7650426" y="2044550"/>
            <a:ext cx="1033200" cy="3098924"/>
          </a:xfrm>
          <a:prstGeom prst="rect">
            <a:avLst/>
          </a:prstGeom>
          <a:solidFill>
            <a:srgbClr val="93C47D">
              <a:alpha val="58039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54;p13">
            <a:extLst>
              <a:ext uri="{FF2B5EF4-FFF2-40B4-BE49-F238E27FC236}">
                <a16:creationId xmlns:a16="http://schemas.microsoft.com/office/drawing/2014/main" id="{24FD86A3-3FD5-BD4F-A7AC-E0472CBDA64B}"/>
              </a:ext>
            </a:extLst>
          </p:cNvPr>
          <p:cNvSpPr/>
          <p:nvPr/>
        </p:nvSpPr>
        <p:spPr>
          <a:xfrm flipH="1" flipV="1">
            <a:off x="8227850" y="1676399"/>
            <a:ext cx="920750" cy="3467075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D3607-1631-82D8-7457-05E5C0FD8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E771F027-B27D-C065-FCF6-F234572F096E}"/>
              </a:ext>
            </a:extLst>
          </p:cNvPr>
          <p:cNvSpPr/>
          <p:nvPr/>
        </p:nvSpPr>
        <p:spPr>
          <a:xfrm>
            <a:off x="0" y="347705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Виртуальная память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A65677A4-6169-0E64-0FB8-6DD395CB64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1B45124-FCC0-6C58-34A9-CB732EDD5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225" y="3252441"/>
            <a:ext cx="82792" cy="1098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52B522-AA3C-E5B6-D8F7-DA39C1A1729C}"/>
              </a:ext>
            </a:extLst>
          </p:cNvPr>
          <p:cNvSpPr txBox="1"/>
          <p:nvPr/>
        </p:nvSpPr>
        <p:spPr>
          <a:xfrm>
            <a:off x="1083733" y="1910110"/>
            <a:ext cx="554225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Содержание:</a:t>
            </a:r>
          </a:p>
          <a:p>
            <a:endParaRPr lang="ru-RU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Понятие виртуальной памяти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Архитектурные средства поддержки виртуальной памяти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61341854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C31F715F-EBDD-0A4D-AE11-8C32CE4B05E5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Виртуальная память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84F3BE-F384-9139-F6EA-CC973B530D38}"/>
              </a:ext>
            </a:extLst>
          </p:cNvPr>
          <p:cNvSpPr txBox="1"/>
          <p:nvPr/>
        </p:nvSpPr>
        <p:spPr>
          <a:xfrm>
            <a:off x="128692" y="1448737"/>
            <a:ext cx="4741335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200" b="1" dirty="0"/>
              <a:t>Понятие виртуальной памяти</a:t>
            </a:r>
            <a:endParaRPr lang="en-US" sz="1200" b="1" dirty="0"/>
          </a:p>
          <a:p>
            <a:pPr>
              <a:buNone/>
            </a:pPr>
            <a:endParaRPr lang="en-US" sz="1200" b="1" dirty="0"/>
          </a:p>
          <a:p>
            <a:pPr>
              <a:buNone/>
            </a:pPr>
            <a:r>
              <a:rPr lang="ru-RU" sz="1200" dirty="0"/>
              <a:t>Суть концепции </a:t>
            </a:r>
            <a:r>
              <a:rPr lang="ru-RU" sz="1200" b="1" dirty="0"/>
              <a:t>виртуальной памяти </a:t>
            </a:r>
            <a:r>
              <a:rPr lang="ru-RU" sz="1200" dirty="0"/>
              <a:t>заключается в следующем. Информация, с которой работает активный процесс, должна располагаться в оперативной памяти. В схемах виртуальной памяти у процесса создается иллюзия того, что вся необходимая ему информация имеется в основной памяти. Для этого, во</a:t>
            </a:r>
            <a:r>
              <a:rPr lang="en-US" sz="1200"/>
              <a:t>-</a:t>
            </a:r>
            <a:r>
              <a:rPr lang="ru-RU" sz="1200"/>
              <a:t>первых</a:t>
            </a:r>
            <a:r>
              <a:rPr lang="ru-RU" sz="1200" dirty="0"/>
              <a:t>, занимаемая процессом память разбивается на несколько частей, например страниц. Во-вторых, логический адрес (логическая страница), к которому обращается процесс, динамически транслируется в физический адрес (физическую страницу). И, наконец, в тех случаях, когда страница, к которой обращается процесс, не находится в физической памяти, нужно организовать ее подкачку с диска. Для контроля наличия страницы в памяти вводится специальный бит присутствия, входящий в состав атрибутов страницы в таблице страниц.</a:t>
            </a:r>
          </a:p>
        </p:txBody>
      </p:sp>
      <p:pic>
        <p:nvPicPr>
          <p:cNvPr id="1026" name="Picture 2" descr="2. Организация управления виртуальной памятью">
            <a:extLst>
              <a:ext uri="{FF2B5EF4-FFF2-40B4-BE49-F238E27FC236}">
                <a16:creationId xmlns:a16="http://schemas.microsoft.com/office/drawing/2014/main" id="{7FD4EFFF-D924-5A0F-AB60-9BF3D30F7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933" y="1673013"/>
            <a:ext cx="3561644" cy="2671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625501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57A77-F7AF-E472-4798-68B44BD07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DAA1BFE6-57C5-DD9D-9997-1C2891EEB88D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Виртуальная память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BE7916-8E88-ECFC-FE9B-D82F03F63009}"/>
              </a:ext>
            </a:extLst>
          </p:cNvPr>
          <p:cNvSpPr txBox="1"/>
          <p:nvPr/>
        </p:nvSpPr>
        <p:spPr>
          <a:xfrm>
            <a:off x="128692" y="1448737"/>
            <a:ext cx="474133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200" dirty="0"/>
              <a:t>Возможность выполнения программы, находящейся в памяти лишь частично, имеет ряд вполне очевидных преимуществ. </a:t>
            </a:r>
          </a:p>
          <a:p>
            <a:pPr>
              <a:buNone/>
            </a:pP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Программа не ограничена объемом физической памяти. Упрощается разработка программ, поскольку можно задействовать большие виртуальные пространства, не заботясь о размере используемой памяти.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Поскольку появляется возможность частичного помещения программы (процесса) в память и гибкого перераспределения памяти между программами, можно разместить в памяти больше программ, что увеличивает загрузку процессора и пропускную способность системы.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Объем ввода-вывода для выгрузки части программы на диск может быть меньше, чем в варианте классического свопинга, в итоге каждая программа будет работать быстрее. </a:t>
            </a:r>
          </a:p>
        </p:txBody>
      </p:sp>
      <p:pic>
        <p:nvPicPr>
          <p:cNvPr id="1026" name="Picture 2" descr="2. Организация управления виртуальной памятью">
            <a:extLst>
              <a:ext uri="{FF2B5EF4-FFF2-40B4-BE49-F238E27FC236}">
                <a16:creationId xmlns:a16="http://schemas.microsoft.com/office/drawing/2014/main" id="{AD018AAB-F384-498C-DD8B-07E8F6979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933" y="1673013"/>
            <a:ext cx="3561644" cy="2671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234263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442FC-1494-3C70-4E39-96F9F6C9E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E79FD7E1-3CA6-6B25-013A-F0CB62609A28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Виртуальная память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0B316E-A00E-310E-9FE5-5108972C5D22}"/>
              </a:ext>
            </a:extLst>
          </p:cNvPr>
          <p:cNvSpPr txBox="1"/>
          <p:nvPr/>
        </p:nvSpPr>
        <p:spPr>
          <a:xfrm>
            <a:off x="128692" y="1448737"/>
            <a:ext cx="474133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200" b="1" dirty="0"/>
              <a:t>Архитектурные средства поддержки виртуальной памяти</a:t>
            </a:r>
          </a:p>
          <a:p>
            <a:pPr>
              <a:buNone/>
            </a:pPr>
            <a:endParaRPr lang="ru-RU" sz="1200" dirty="0"/>
          </a:p>
          <a:p>
            <a:r>
              <a:rPr lang="ru-RU" sz="1200" b="1" dirty="0"/>
              <a:t>Страничная виртуальная память</a:t>
            </a:r>
          </a:p>
          <a:p>
            <a:r>
              <a:rPr lang="ru-RU" sz="1200" dirty="0"/>
              <a:t>Как и в случае простой страничной организации, страничная виртуальная память и физическая память представляются состоящими из наборов блоков или страниц одинакового размера. Виртуальные адреса делятся на страницы (</a:t>
            </a:r>
            <a:r>
              <a:rPr lang="ru-RU" sz="1200" dirty="0" err="1"/>
              <a:t>page</a:t>
            </a:r>
            <a:r>
              <a:rPr lang="ru-RU" sz="1200" dirty="0"/>
              <a:t>), соответствующие единицы в физической памяти образуют страничные кадры (</a:t>
            </a:r>
            <a:r>
              <a:rPr lang="ru-RU" sz="1200" dirty="0" err="1"/>
              <a:t>page</a:t>
            </a:r>
            <a:r>
              <a:rPr lang="ru-RU" sz="1200" dirty="0"/>
              <a:t> </a:t>
            </a:r>
            <a:r>
              <a:rPr lang="ru-RU" sz="1200" dirty="0" err="1"/>
              <a:t>frames</a:t>
            </a:r>
            <a:r>
              <a:rPr lang="ru-RU" sz="1200" dirty="0"/>
              <a:t>), а в целом система поддержки страничной виртуальной памяти называется пейджингом (</a:t>
            </a:r>
            <a:r>
              <a:rPr lang="ru-RU" sz="1200" dirty="0" err="1"/>
              <a:t>paging</a:t>
            </a:r>
            <a:r>
              <a:rPr lang="ru-RU" sz="1200" dirty="0"/>
              <a:t>). Передача информации между памятью и диском всегда осуществляется целыми страницами. </a:t>
            </a:r>
            <a:r>
              <a:rPr lang="ru-RU" sz="1200" b="1" dirty="0"/>
              <a:t> </a:t>
            </a:r>
          </a:p>
        </p:txBody>
      </p:sp>
      <p:pic>
        <p:nvPicPr>
          <p:cNvPr id="7170" name="Picture 2" descr="Сегментно-страничная организация памяти">
            <a:extLst>
              <a:ext uri="{FF2B5EF4-FFF2-40B4-BE49-F238E27FC236}">
                <a16:creationId xmlns:a16="http://schemas.microsoft.com/office/drawing/2014/main" id="{0597D010-11D3-5554-938A-FAD85F999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141" y="2810933"/>
            <a:ext cx="4085186" cy="2090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93042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3E10F-6B12-556D-1579-0A9180670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27031902-B50B-3C31-5ECC-7C2AEA5958F6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Виртуальная память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DD882F-8A24-0937-1668-C1142C64C3FD}"/>
              </a:ext>
            </a:extLst>
          </p:cNvPr>
          <p:cNvSpPr txBox="1"/>
          <p:nvPr/>
        </p:nvSpPr>
        <p:spPr>
          <a:xfrm>
            <a:off x="128692" y="1448737"/>
            <a:ext cx="474133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200" b="1" dirty="0"/>
              <a:t>Архитектурные средства поддержки виртуальной памяти</a:t>
            </a:r>
          </a:p>
          <a:p>
            <a:pPr>
              <a:buNone/>
            </a:pPr>
            <a:endParaRPr lang="ru-RU" sz="1200" dirty="0"/>
          </a:p>
          <a:p>
            <a:r>
              <a:rPr lang="ru-RU" sz="1200" b="1" dirty="0"/>
              <a:t>Сегментно-страничная организации виртуальной памяти</a:t>
            </a:r>
          </a:p>
          <a:p>
            <a:r>
              <a:rPr lang="ru-RU" sz="1200" dirty="0"/>
              <a:t>Как и в случае простой сегментации, в схемах виртуальной памяти сегмент – это линейная последовательность адресов, начинающаяся с 0. При организации виртуальной памяти размер сегмента может быть велик, например, может превышать размер оперативной памяти. Повторяя все ранее приведенные рассуждения о размещении в памяти больших программ, приходим к разбиению сегментов на страницы и необходимости поддержки своей таблицы страниц для каждого сегмента. </a:t>
            </a:r>
            <a:endParaRPr lang="ru-RU" sz="1200" b="1" dirty="0"/>
          </a:p>
        </p:txBody>
      </p:sp>
      <p:pic>
        <p:nvPicPr>
          <p:cNvPr id="2" name="Picture 2" descr="Сегментно-страничная организация памяти">
            <a:extLst>
              <a:ext uri="{FF2B5EF4-FFF2-40B4-BE49-F238E27FC236}">
                <a16:creationId xmlns:a16="http://schemas.microsoft.com/office/drawing/2014/main" id="{8AC6F740-D2E7-BB1D-C836-0B26AE740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141" y="2810933"/>
            <a:ext cx="4085186" cy="2090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012467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D1EF4-60F3-D46F-D672-9C5C5C28C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235141A6-B736-CA2B-98A9-1D19FA924C86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Виртуальная память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E3EF13-DE2A-B178-E001-5D21A0F56C70}"/>
              </a:ext>
            </a:extLst>
          </p:cNvPr>
          <p:cNvSpPr txBox="1"/>
          <p:nvPr/>
        </p:nvSpPr>
        <p:spPr>
          <a:xfrm>
            <a:off x="128692" y="1448737"/>
            <a:ext cx="5608321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200" b="1" dirty="0"/>
              <a:t>Архитектурные средства поддержки виртуальной памяти</a:t>
            </a:r>
          </a:p>
          <a:p>
            <a:pPr>
              <a:buNone/>
            </a:pPr>
            <a:endParaRPr lang="ru-RU" sz="1200" dirty="0"/>
          </a:p>
          <a:p>
            <a:r>
              <a:rPr lang="ru-RU" sz="1200" b="1" dirty="0"/>
              <a:t>Структура таблицы страниц</a:t>
            </a:r>
          </a:p>
          <a:p>
            <a:r>
              <a:rPr lang="ru-RU" sz="1200" dirty="0"/>
              <a:t>Организация таблицы страниц – один из ключевых элементов отображения адресов в страничной и сегментно-страничной схемах.</a:t>
            </a:r>
          </a:p>
          <a:p>
            <a:r>
              <a:rPr lang="ru-RU" sz="1200" b="1" dirty="0"/>
              <a:t>Виртуальный адрес </a:t>
            </a:r>
            <a:r>
              <a:rPr lang="ru-RU" sz="1200" dirty="0"/>
              <a:t>состоит из виртуального номера страницы и смещения. Номер записи в таблице страниц соответствует номеру виртуальной страницы. Размер записи колеблется от системы к системе, но чаще всего он составляет 32 бита. Из этой записи в таблице страниц находится номер кадра для данной виртуальной страницы, затем прибавляется смещение и формируется физический адрес. Помимо этого запись в таблице страниц содержит информацию об атрибутах страницы. Это биты присутствия и защиты (например, 0 – </a:t>
            </a:r>
            <a:r>
              <a:rPr lang="ru-RU" sz="1200" dirty="0" err="1"/>
              <a:t>read</a:t>
            </a:r>
            <a:r>
              <a:rPr lang="ru-RU" sz="1200" dirty="0"/>
              <a:t>/</a:t>
            </a:r>
            <a:r>
              <a:rPr lang="ru-RU" sz="1200" dirty="0" err="1"/>
              <a:t>write</a:t>
            </a:r>
            <a:r>
              <a:rPr lang="ru-RU" sz="1200" dirty="0"/>
              <a:t>, 1 – </a:t>
            </a:r>
            <a:r>
              <a:rPr lang="ru-RU" sz="1200" dirty="0" err="1"/>
              <a:t>read</a:t>
            </a:r>
            <a:r>
              <a:rPr lang="ru-RU" sz="1200" dirty="0"/>
              <a:t> </a:t>
            </a:r>
            <a:r>
              <a:rPr lang="ru-RU" sz="1200" dirty="0" err="1"/>
              <a:t>only</a:t>
            </a:r>
            <a:r>
              <a:rPr lang="ru-RU" sz="1200" dirty="0"/>
              <a:t>...). Также могут быть указаны: бит модификации, который устанавливается, если содержимое страницы модифицировано, и позволяет контролировать необходимость перезаписи страницы на диск; бит ссылки, который помогает выделить малоиспользуемые страницы; бит, разрешающий кэширование, и другие управляющие биты. Заметим, что адреса страниц на диске не являются частью таблицы страниц.</a:t>
            </a:r>
            <a:endParaRPr lang="ru-RU" sz="12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308F45-460B-3F32-4F8B-504F933F1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033" y="1448737"/>
            <a:ext cx="2934076" cy="30780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074840-B5FF-E978-9ACD-43186084D197}"/>
              </a:ext>
            </a:extLst>
          </p:cNvPr>
          <p:cNvSpPr txBox="1"/>
          <p:nvPr/>
        </p:nvSpPr>
        <p:spPr>
          <a:xfrm>
            <a:off x="5825206" y="4526775"/>
            <a:ext cx="33663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b="1" dirty="0"/>
              <a:t>Рис. 9.1. </a:t>
            </a:r>
            <a:r>
              <a:rPr lang="ru-RU" sz="1000" dirty="0"/>
              <a:t>Пример двухуровневой таблицы страниц</a:t>
            </a:r>
          </a:p>
        </p:txBody>
      </p:sp>
    </p:spTree>
    <p:extLst>
      <p:ext uri="{BB962C8B-B14F-4D97-AF65-F5344CB8AC3E}">
        <p14:creationId xmlns:p14="http://schemas.microsoft.com/office/powerpoint/2010/main" val="25695291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BF572-3E8F-C575-53AC-AF2638B0B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3A24B7CD-AE50-CD79-7968-D2B045ED5B0C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Виртуальная память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538902-C040-F5D0-0687-5A6944DC408B}"/>
              </a:ext>
            </a:extLst>
          </p:cNvPr>
          <p:cNvSpPr txBox="1"/>
          <p:nvPr/>
        </p:nvSpPr>
        <p:spPr>
          <a:xfrm>
            <a:off x="128692" y="1448737"/>
            <a:ext cx="616373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200" b="1" dirty="0"/>
              <a:t>Архитектурные средства поддержки виртуальной памяти</a:t>
            </a:r>
          </a:p>
          <a:p>
            <a:pPr>
              <a:buNone/>
            </a:pPr>
            <a:endParaRPr lang="ru-RU" sz="1200" dirty="0"/>
          </a:p>
          <a:p>
            <a:r>
              <a:rPr lang="ru-RU" sz="1200" b="1" dirty="0"/>
              <a:t>Ассоциативная память</a:t>
            </a:r>
          </a:p>
          <a:p>
            <a:r>
              <a:rPr lang="ru-RU" sz="1200" dirty="0"/>
              <a:t>Поиск номера кадра, соответствующего нужной странице, в многоуровневой таблице страниц требует нескольких обращений к основной памяти, поэтому занимает много времени. В некоторых случаях такая задержка недопустима. Проблема ускорения поиска решается на уровне архитектуры компьютера. </a:t>
            </a:r>
          </a:p>
          <a:p>
            <a:r>
              <a:rPr lang="ru-RU" sz="1200" dirty="0"/>
              <a:t>В соответствии со свойством локальности большинство программ в течение некоторого промежутка времени обращаются к небольшому количеству страниц, поэтому активно используется только небольшая часть таблицы страниц. </a:t>
            </a:r>
          </a:p>
          <a:p>
            <a:r>
              <a:rPr lang="ru-RU" sz="1200" dirty="0"/>
              <a:t>Естественное решение проблемы ускорения – снабдить компьютер аппаратным устройством для отображения виртуальных страниц в физические без обращения к таблице страниц, то есть иметь небольшую, быструю кэш-память, хранящую необходимую на данный момент часть таблицы страниц. Это устройство называется ассоциативной памятью, иногда также употребляют термин буфер поиска трансляции (</a:t>
            </a:r>
            <a:r>
              <a:rPr lang="ru-RU" sz="1200" dirty="0" err="1"/>
              <a:t>translation</a:t>
            </a:r>
            <a:r>
              <a:rPr lang="ru-RU" sz="1200" dirty="0"/>
              <a:t> </a:t>
            </a:r>
            <a:r>
              <a:rPr lang="ru-RU" sz="1200" dirty="0" err="1"/>
              <a:t>lookaside</a:t>
            </a:r>
            <a:r>
              <a:rPr lang="ru-RU" sz="1200" dirty="0"/>
              <a:t> </a:t>
            </a:r>
            <a:r>
              <a:rPr lang="ru-RU" sz="1200" dirty="0" err="1"/>
              <a:t>buffer</a:t>
            </a:r>
            <a:r>
              <a:rPr lang="ru-RU" sz="1200" dirty="0"/>
              <a:t> – TLB).</a:t>
            </a:r>
            <a:endParaRPr lang="ru-RU" sz="1200" b="1" dirty="0"/>
          </a:p>
        </p:txBody>
      </p:sp>
    </p:spTree>
    <p:extLst>
      <p:ext uri="{BB962C8B-B14F-4D97-AF65-F5344CB8AC3E}">
        <p14:creationId xmlns:p14="http://schemas.microsoft.com/office/powerpoint/2010/main" val="343066723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90CA1-4262-77E2-3047-79CB22F39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049C0938-6532-5A4F-1F25-3E4F66F152AF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Виртуальная память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568A9F-266C-34B8-8198-7E6C41848873}"/>
              </a:ext>
            </a:extLst>
          </p:cNvPr>
          <p:cNvSpPr txBox="1"/>
          <p:nvPr/>
        </p:nvSpPr>
        <p:spPr>
          <a:xfrm>
            <a:off x="128692" y="1448737"/>
            <a:ext cx="470069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200" b="1" dirty="0"/>
              <a:t>Архитектурные средства поддержки виртуальной памяти</a:t>
            </a:r>
          </a:p>
          <a:p>
            <a:pPr>
              <a:buNone/>
            </a:pPr>
            <a:endParaRPr lang="ru-RU" sz="1200" dirty="0"/>
          </a:p>
          <a:p>
            <a:r>
              <a:rPr lang="ru-RU" sz="1200" b="1" dirty="0"/>
              <a:t>Инвертированная таблица страниц</a:t>
            </a:r>
          </a:p>
          <a:p>
            <a:r>
              <a:rPr lang="ru-RU" sz="1200" dirty="0"/>
              <a:t>Несмотря на многоуровневую организацию, хранение нескольких таблиц страниц большого размера </a:t>
            </a:r>
            <a:r>
              <a:rPr lang="ru-RU" sz="1200" dirty="0" err="1"/>
              <a:t>попрежнему</a:t>
            </a:r>
            <a:r>
              <a:rPr lang="ru-RU" sz="1200" dirty="0"/>
              <a:t> представляют собой проблему. Ее значение особенно актуально для 64-разрядных архитектур, где число виртуальных страниц очень велико. Вариантом решения является применение инвертированной таблицы страниц (</a:t>
            </a:r>
            <a:r>
              <a:rPr lang="ru-RU" sz="1200" dirty="0" err="1"/>
              <a:t>inverted</a:t>
            </a:r>
            <a:r>
              <a:rPr lang="ru-RU" sz="1200" dirty="0"/>
              <a:t> </a:t>
            </a:r>
            <a:r>
              <a:rPr lang="ru-RU" sz="1200" dirty="0" err="1"/>
              <a:t>page</a:t>
            </a:r>
            <a:r>
              <a:rPr lang="ru-RU" sz="1200" dirty="0"/>
              <a:t> </a:t>
            </a:r>
            <a:r>
              <a:rPr lang="ru-RU" sz="1200" dirty="0" err="1"/>
              <a:t>table</a:t>
            </a:r>
            <a:r>
              <a:rPr lang="ru-RU" sz="1200" dirty="0"/>
              <a:t>). Этот подход применяется на машинах </a:t>
            </a:r>
            <a:r>
              <a:rPr lang="ru-RU" sz="1200" dirty="0" err="1"/>
              <a:t>PowerPC</a:t>
            </a:r>
            <a:r>
              <a:rPr lang="ru-RU" sz="1200" dirty="0"/>
              <a:t>, некоторых рабочих станциях Hewlett-Packard, IBM RT, IBM AS/400 и ряде других. </a:t>
            </a:r>
            <a:endParaRPr lang="ru-RU" sz="1200" b="1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FB61870-8ABA-8663-50B3-A9AE1877E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595" y="2512906"/>
            <a:ext cx="3633292" cy="221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11070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260CB-FC3E-802D-D020-1741BD876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8AF5FEA1-2BDA-A4C4-4ED3-9906F691A661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Виртуальная память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828A86-F795-BBB3-5C07-FFD7D2750436}"/>
              </a:ext>
            </a:extLst>
          </p:cNvPr>
          <p:cNvSpPr txBox="1"/>
          <p:nvPr/>
        </p:nvSpPr>
        <p:spPr>
          <a:xfrm>
            <a:off x="128692" y="1448737"/>
            <a:ext cx="470069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200" b="1" dirty="0"/>
              <a:t>Архитектурные средства поддержки виртуальной памяти</a:t>
            </a:r>
          </a:p>
          <a:p>
            <a:pPr>
              <a:buNone/>
            </a:pPr>
            <a:endParaRPr lang="ru-RU" sz="1200" dirty="0"/>
          </a:p>
          <a:p>
            <a:r>
              <a:rPr lang="ru-RU" sz="1200" b="1" dirty="0"/>
              <a:t>Размер страницы</a:t>
            </a:r>
          </a:p>
          <a:p>
            <a:r>
              <a:rPr lang="ru-RU" sz="1200" dirty="0"/>
              <a:t>Разработчики ОС для существующих машин редко имеют возможность влиять на размер страницы. Однако для вновь создаваемых компьютеров решение относительно оптимального размера страницы является актуальным. Как и следовало ожидать, нет одного наилучшего размера. Скорее есть набор факторов, влияющих на размер. Обычно размер страницы – это степень двойки от 29 до 214 байт. </a:t>
            </a:r>
          </a:p>
          <a:p>
            <a:endParaRPr lang="ru-RU" sz="1200" dirty="0"/>
          </a:p>
          <a:p>
            <a:r>
              <a:rPr lang="ru-RU" sz="1200" dirty="0"/>
              <a:t>Чем больше размер страницы, тем меньше будет размер структур данных, обслуживающих преобразование адресов, но тем больше будут потери, связанные с тем, что память можно выделять только постранично. Как правило, размер страниц задается </a:t>
            </a:r>
            <a:r>
              <a:rPr lang="ru-RU" sz="1200" dirty="0" err="1"/>
              <a:t>аппаратно</a:t>
            </a:r>
            <a:r>
              <a:rPr lang="ru-RU" sz="1200" dirty="0"/>
              <a:t>.</a:t>
            </a:r>
            <a:endParaRPr lang="ru-RU" sz="1200" b="1" dirty="0"/>
          </a:p>
        </p:txBody>
      </p:sp>
    </p:spTree>
    <p:extLst>
      <p:ext uri="{BB962C8B-B14F-4D97-AF65-F5344CB8AC3E}">
        <p14:creationId xmlns:p14="http://schemas.microsoft.com/office/powerpoint/2010/main" val="130478752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5AEA7-9C6C-DBCE-6D64-3C387DB36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8CD086CD-B1A1-2A38-A51F-E2E4D9402BCF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/>
              <a:t>Итоги лекции</a:t>
            </a:r>
            <a:endParaRPr lang="ru-RU" sz="1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7CCA0-C0D7-B917-F82F-C863354CABD4}"/>
              </a:ext>
            </a:extLst>
          </p:cNvPr>
          <p:cNvSpPr txBox="1"/>
          <p:nvPr/>
        </p:nvSpPr>
        <p:spPr>
          <a:xfrm>
            <a:off x="508000" y="1480397"/>
            <a:ext cx="584538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 данной лекции были рассмотрены аппаратные особенности поддержки виртуальной памяти. Разбиение адресного пространства процесса на части и динамическая трансляция адреса позволили выполнять процесс даже в отсутствие некоторых его компонентов в оперативной памяти. Подкачка недостающих компонентов с диска осуществляется операционной системой в тот момент, когда в них возникает необходимость. Следствием такой стратегии является возможность выполнения больших программ, размер которых может превышать размер оперативной памяти. Чтобы обеспечить данной схеме нужную производительность, отображение адресов осуществляется </a:t>
            </a:r>
            <a:r>
              <a:rPr lang="ru-RU" dirty="0" err="1"/>
              <a:t>аппаратно</a:t>
            </a:r>
            <a:r>
              <a:rPr lang="ru-RU" dirty="0"/>
              <a:t> при помощи многоуровневой таблицы страниц и ассоциативной памяти. </a:t>
            </a:r>
          </a:p>
        </p:txBody>
      </p:sp>
    </p:spTree>
    <p:extLst>
      <p:ext uri="{BB962C8B-B14F-4D97-AF65-F5344CB8AC3E}">
        <p14:creationId xmlns:p14="http://schemas.microsoft.com/office/powerpoint/2010/main" val="130355851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7632</TotalTime>
  <Words>1002</Words>
  <Application>Microsoft Office PowerPoint</Application>
  <PresentationFormat>Экран (16:9)</PresentationFormat>
  <Paragraphs>56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Comfortaa Medium</vt:lpstr>
      <vt:lpstr>Arial</vt:lpstr>
      <vt:lpstr>Simple Light</vt:lpstr>
      <vt:lpstr>Виртуальная память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Безопасность операционных систем, системное программирование</dc:title>
  <cp:lastModifiedBy>Pavel Shevelkov</cp:lastModifiedBy>
  <cp:revision>28</cp:revision>
  <dcterms:modified xsi:type="dcterms:W3CDTF">2026-03-24T12:33:07Z</dcterms:modified>
</cp:coreProperties>
</file>